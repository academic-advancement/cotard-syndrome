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Imagine waking up one morning convinced that you are dead. Not metaphorically—literally. You believe your heart isn't beating, your organs have rotted, and you might already be in some form of afterlife. But you can still see, walk, and talk. That contradiction is what defines Cotard's syndrome—also called the Walking Corpse Delusion. Today I'll cover its diagnostic criteria, history, who gets it, what's happening in the brain, and how it's treated. The quote on screen is from Mademoiselle X, the original case described by Jules Cotard in 1880.</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Cotard's is unusual because it is not its own DSM diagnosis. Clinicians code it under whatever the underlying disorder is—usually delusional disorder somatic type, major depression with psychotic features, or sometimes schizophrenia. The four core features are nihilistic delusions, severe depression, paradoxical immortality beliefs, and self-neglect. The paradox is what makes it striking: a patient might insist they are already dead and yet attempt suicide. Berrios and Luque in 1995 analyzed 100 cases and identified three clinical subtypes—psychotic depression, Cotard Type I, and Cotard Type II—which we'll see again on the next slide when we look at symptom frequencies.</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chart comes from Berrios and Luque's 1995 statistical analysis of 100 documented Cotard's cases—still the largest dataset on the syndrome. The headline finding: depression is present in 89% of cases, which is why most clinicians today treat Cotard's as a downstream symptom of severe psychotic depression. Body delusions and existence delusions are nearly universal—86 and 69 percent. But notice the paradox at the bottom: 55% of patients simultaneously believe they cannot die. They think they are already dead AND that they cannot die. That contradiction is the cognitive signature that distinguishes Cotard's from regular psychotic depression.</a:t>
            </a:r>
            <a:endParaRPr/>
          </a:p>
        </p:txBody>
      </p:sp>
      <p:sp>
        <p:nvSpPr>
          <p:cNvPr id="53" name="Google Shape;5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journal entry isn't a real patient—I wrote it as a composite based on documented symptoms from Berrios and Luque and from Sebastian Dieguez's 2018 review. I wanted to capture three things at once: the somatic delusion (no stomach), the certainty that overrides physical evidence (the EKG), and the paradox of immortality. Notice the line “I cannot die because there's nothing left to die”—that's the contradiction I just talked about. What I wanted to show with this entry is that Cotard's isn't “silly” or unbelievable from the inside. The patient's reasoning is internally consistent—it's the premise that's broken.</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Cotard's starts in 1880 with a single patient—Mademoiselle X—described by Jules Cotard, a French neurologist who had served in the Franco-Prussian War. She denied that her organs existed and refused food, eventually dying of starvation. Cotard didn't see this as a separate disorder at first—he called it agitated melancholia. After his death the syndrome was named after him in 1893 by Emil Régis. The biggest modern shift came in 1995 when Berrios and Luque reanalyzed 100 cases and proposed the three subtypes I showed earlier. But here's the controversy that's still alive today: despite 145 years of clinical writing, the DSM has never recognized Cotard's as its own diagnosis. Some researchers argue this reflects how heterogeneous it is—it shows up in depression, schizophrenia, brain injury, MS, and more. Others argue the DSM is just slow.</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numbers to remember. First: Cotard's is rare in the general population—about 0.57% in a Hong Kong psychogeriatric sample. But that number jumps to 3.2% when you narrow to severely depressed older adults—over a five-fold increase. Gender: roughly equal across men and women in the largest analysis we have. Two subgroup comparisons. By age: Cotard's is overwhelmingly an older-adult phenomenon. Pediatric cases are vanishingly rare—fewer than ten well-documented cases in the entire literature. By diagnostic category: about two-thirds of Cotard's cases happen inside psychiatric illness—depression, schizophrenia. The other third occur in patients with organic brain conditions like TBI, MS, brain tumors, epilepsy. That bridge between psychiatry and neurology is exactly why it's such an interesting case for understanding the brain basis of self-awareness.</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Biologically, Cotard's converges on a network—not a single brain region. Across SPECT, CT, and MRI studies, the pattern is reduced activity and structural abnormalities in the non-dominant hemisphere—frontal, parietal, and temporal lobes. The fusiform gyrus matters because it handles face recognition—including recognizing your own face. When fusiform input gets disconnected from emotional processing in the limbic system, you can recognize your face but not feel that it's yours. On the chemistry side, dopamine and serotonin both show up. De Risio in 2004 found reduced striatal D2 binding, and the strong depression link makes serotonin a natural target. This is why a typical Cotard's patient might be on an antidepressant plus an antipsychotic plus, in severe cases, ECT—multiple chemical and circuit-level interventions.</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two big psychological models. The first—and the most influential—is Young and Leafhead's mirror model from 1996. They noticed that Cotard's and Capgras delusions look like opposites but probably share a mechanism. In Capgras, you see a familiar face but feel no emotional response, so the brain confabulates: “she must be an impostor.” In Cotard's, you see your own face in the mirror but feel no emotional response to it, so the brain confabulates: “I must be dead.” The difference between the two delusions is which way the disconnection points—outward at others, or inward at the self. Young added a second factor in 1992: people prone to depression have an internalized attributional style—they blame themselves for everything by default. That cognitive bias is what tips a Cotard-shaped patient toward “I am dead” rather than “the world is fake.” The psychodynamic view from Enoch and Trethowan is older and less evidence-based but still cited: extreme guilt produces a symbolic death of the self.</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treatment approaches. The big idea is that you don't treat Cotard's directly—you treat what's underneath it. Pharmacotherapy is usually a combination—an antidepressant like an SSRI paired with an antipsychotic like olanzapine or clozapine. Lithium augmentation can help in the depressive subtype. But here's the catch: medication only works in roughly half of severe cases. When meds fail, ECT becomes first-line. ECT works the most consistently of any treatment, and we can actually see it working—follow-up SPECT scans show that the blood flow abnormalities I mentioned earlier resolve after a course of ECT. That's real biological evidence—not just symptom report. A typical course is 6 to 12 sessions over 2 to 4 weeks, and remission often happens within days of starting.</a:t>
            </a:r>
            <a:endParaRPr/>
          </a:p>
        </p:txBody>
      </p:sp>
      <p:sp>
        <p:nvSpPr>
          <p:cNvPr id="201" name="Google Shape;2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want to walk through one specific case to make this concrete—Petracca and colleagues, 1995. A 27-year-old man with schizophreniform disorder came in convinced his stomach had disappeared. He refused food and lost 12 kilograms in a single month—clearly life-threatening. Brain imaging showed left-sided hypoperfusion in frontal, parietal, and temporal regions—exactly the network we talked about earlier. Antipsychotics didn't work, so they did ECT. He went into full remission. But here's the key part: when they re-scanned him after ECT, the perfusion abnormalities were gone. That's hard biological evidence that ECT didn't just suppress the symptom—it actually fixed the underlying brain dysfunction. On the right: most patients first show up in an ER because they've stopped eating or are suicidal. The biggest health risks are malnutrition, suicide, and recurrence. But with early treatment, prognosis is genuinely good.</a:t>
            </a:r>
            <a:endParaRPr/>
          </a:p>
        </p:txBody>
      </p:sp>
      <p:sp>
        <p:nvSpPr>
          <p:cNvPr id="223" name="Google Shape;2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rubric asks how Cotard's is correctly and incorrectly portrayed in media, so I picked three concrete examples. First, NBC's Hannibal in 2013, episode "Buffet Froid." The character Georgia Madchen has Cotard's, and the show actually gets a lot right: low appetite from the belief of being dead, electroconvulsive therapy as the treatment, and even the disconnection from her own face. What it gets wrong is the bigger problem: it ties Cotard's to a violent killer, which links a rare delusion to dangerousness in viewers' minds. Second, Synecdoche, New York from Charlie Kaufman in 2008. The protagonist is literally named Caden Cotard. The film uses Cotard's metaphorically to capture existential despair and the dissolution of self, which is artistically powerful but doesn't read as clinical. Third, Scrubs season four episode fourteen mentions a patient who believes he died years earlier. It's a brief accurate reference, but used as a one-line gag. On stigma: because Cotard's is so rare, there isn't really a public stereotype the way there is for, say, schizophrenia. Popular neuroscience writers like David Eagleman and Oliver Sacks have helped frame it as fascinating rather than horrific. What's still needed is depictions of recovery, reducing ECT stigma, and teaching that a delusion is a symptom, not a character failing.</a:t>
            </a:r>
            <a:endParaRPr/>
          </a:p>
        </p:txBody>
      </p:sp>
      <p:sp>
        <p:nvSpPr>
          <p:cNvPr id="247" name="Google Shape;2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takeaways. One: Cotard's is a syndrome, not a DSM diagnosis. It always sits beneath something else. Two: the signature symptom isn't “thinking you're dead”—it's the paradox. “I am dead AND I cannot die.” Three: it lives at the intersection of psychiatry and neurology, which is why it's such a useful test case. Four: Young and Leafhead's mirror model—Cotard's is Capgras pointed inward. Five: ECT is the most reliable treatment, and we can see it work in the brain on follow-up imaging. Final thought: Cotard's reminds us that the feeling of being alive—the basic sense of “I exist”—isn't a given. Your brain is generating it every moment. When that process breaks down, you get Cotard's. Thank you—happy to take questions.</a:t>
            </a:r>
            <a:endParaRPr/>
          </a:p>
        </p:txBody>
      </p:sp>
      <p:sp>
        <p:nvSpPr>
          <p:cNvPr id="276" name="Google Shape;27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References in APA 7th edition. Primary sources include Berrios and Luque's foundational 1995 case analysis, Young and Leafhead's mirror-model chapter from 1996, Petracca's neuroimaging case study, and recent reviews from Dieguez (2018) and Debruyne (2009). All sources are peer-reviewed except the DSM-5-TR itself, which is the diagnostic standard.</a:t>
            </a:r>
            <a:endParaRPr/>
          </a:p>
        </p:txBody>
      </p:sp>
      <p:sp>
        <p:nvSpPr>
          <p:cNvPr id="300" name="Google Shape;30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15" name="Shape 15"/>
        <p:cNvGrpSpPr/>
        <p:nvPr/>
      </p:nvGrpSpPr>
      <p:grpSpPr>
        <a:xfrm>
          <a:off x="0" y="0"/>
          <a:ext cx="0" cy="0"/>
          <a:chOff x="0" y="0"/>
          <a:chExt cx="0" cy="0"/>
        </a:xfrm>
      </p:grpSpPr>
      <p:sp>
        <p:nvSpPr>
          <p:cNvPr id="16" name="Google Shape;16;p3"/>
          <p:cNvSpPr/>
          <p:nvPr/>
        </p:nvSpPr>
        <p:spPr>
          <a:xfrm>
            <a:off x="640080" y="1463040"/>
            <a:ext cx="45720" cy="393192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68680" y="14630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1" i="0" lang="en-US" sz="1100" u="none" cap="none" strike="noStrike">
                <a:solidFill>
                  <a:srgbClr val="B0B6C0"/>
                </a:solidFill>
                <a:latin typeface="Calibri"/>
                <a:ea typeface="Calibri"/>
                <a:cs typeface="Calibri"/>
                <a:sym typeface="Calibri"/>
              </a:rPr>
              <a:t>PSYCHOLOGY  |  DISORDER PRESENTATION</a:t>
            </a:r>
            <a:endParaRPr b="0" i="0" sz="1100" u="none" cap="none" strike="noStrike">
              <a:solidFill>
                <a:schemeClr val="dk1"/>
              </a:solidFill>
              <a:latin typeface="Calibri"/>
              <a:ea typeface="Calibri"/>
              <a:cs typeface="Calibri"/>
              <a:sym typeface="Calibri"/>
            </a:endParaRPr>
          </a:p>
        </p:txBody>
      </p:sp>
      <p:sp>
        <p:nvSpPr>
          <p:cNvPr id="18" name="Google Shape;18;p3"/>
          <p:cNvSpPr/>
          <p:nvPr/>
        </p:nvSpPr>
        <p:spPr>
          <a:xfrm>
            <a:off x="868680" y="1920240"/>
            <a:ext cx="105156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Georgia"/>
              <a:buNone/>
            </a:pPr>
            <a:r>
              <a:rPr b="1" i="0" lang="en-US" sz="6400" u="none" cap="none" strike="noStrike">
                <a:solidFill>
                  <a:srgbClr val="FFFFFF"/>
                </a:solidFill>
                <a:latin typeface="Georgia"/>
                <a:ea typeface="Georgia"/>
                <a:cs typeface="Georgia"/>
                <a:sym typeface="Georgia"/>
              </a:rPr>
              <a:t>Cotard's Syndrome</a:t>
            </a:r>
            <a:endParaRPr b="0" i="0" sz="6400" u="none" cap="none" strike="noStrike">
              <a:solidFill>
                <a:schemeClr val="dk1"/>
              </a:solidFill>
              <a:latin typeface="Calibri"/>
              <a:ea typeface="Calibri"/>
              <a:cs typeface="Calibri"/>
              <a:sym typeface="Calibri"/>
            </a:endParaRPr>
          </a:p>
        </p:txBody>
      </p:sp>
      <p:sp>
        <p:nvSpPr>
          <p:cNvPr id="19" name="Google Shape;19;p3"/>
          <p:cNvSpPr/>
          <p:nvPr/>
        </p:nvSpPr>
        <p:spPr>
          <a:xfrm>
            <a:off x="868680" y="324612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CD9"/>
              </a:buClr>
              <a:buSzPts val="2200"/>
              <a:buFont typeface="Georgia"/>
              <a:buNone/>
            </a:pPr>
            <a:r>
              <a:rPr b="0" i="1" lang="en-US" sz="2200" u="none" cap="none" strike="noStrike">
                <a:solidFill>
                  <a:srgbClr val="E8DCD9"/>
                </a:solidFill>
                <a:latin typeface="Georgia"/>
                <a:ea typeface="Georgia"/>
                <a:cs typeface="Georgia"/>
                <a:sym typeface="Georgia"/>
              </a:rPr>
              <a:t>Le Délire des Négations</a:t>
            </a:r>
            <a:r>
              <a:rPr b="0" i="0" lang="en-US" sz="2200" u="none" cap="none" strike="noStrike">
                <a:solidFill>
                  <a:srgbClr val="8A8F9A"/>
                </a:solidFill>
                <a:latin typeface="Georgia"/>
                <a:ea typeface="Georgia"/>
                <a:cs typeface="Georgia"/>
                <a:sym typeface="Georgia"/>
              </a:rPr>
              <a:t>  ·  </a:t>
            </a:r>
            <a:r>
              <a:rPr b="0" i="0" lang="en-US" sz="2200" u="none" cap="none" strike="noStrike">
                <a:solidFill>
                  <a:srgbClr val="E8DCD9"/>
                </a:solidFill>
                <a:latin typeface="Georgia"/>
                <a:ea typeface="Georgia"/>
                <a:cs typeface="Georgia"/>
                <a:sym typeface="Georgia"/>
              </a:rPr>
              <a:t>The Walking Corpse Delusion</a:t>
            </a:r>
            <a:endParaRPr b="0" i="0" sz="2200" u="none" cap="none" strike="noStrike">
              <a:solidFill>
                <a:schemeClr val="dk1"/>
              </a:solidFill>
              <a:latin typeface="Calibri"/>
              <a:ea typeface="Calibri"/>
              <a:cs typeface="Calibri"/>
              <a:sym typeface="Calibri"/>
            </a:endParaRPr>
          </a:p>
        </p:txBody>
      </p:sp>
      <p:sp>
        <p:nvSpPr>
          <p:cNvPr id="20" name="Google Shape;20;p3"/>
          <p:cNvSpPr/>
          <p:nvPr/>
        </p:nvSpPr>
        <p:spPr>
          <a:xfrm>
            <a:off x="868680" y="4206240"/>
            <a:ext cx="86868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5600"/>
              <a:buFont typeface="Georgia"/>
              <a:buNone/>
            </a:pPr>
            <a:r>
              <a:rPr b="0" i="0" lang="en-US" sz="5600" u="none" cap="none" strike="noStrike">
                <a:solidFill>
                  <a:srgbClr val="8B2635"/>
                </a:solidFill>
                <a:latin typeface="Georgia"/>
                <a:ea typeface="Georgia"/>
                <a:cs typeface="Georgia"/>
                <a:sym typeface="Georgia"/>
              </a:rPr>
              <a:t>“</a:t>
            </a:r>
            <a:r>
              <a:rPr b="0" i="1" lang="en-US" sz="1400" u="none" cap="none" strike="noStrike">
                <a:solidFill>
                  <a:srgbClr val="CFD4DC"/>
                </a:solidFill>
                <a:latin typeface="Georgia"/>
                <a:ea typeface="Georgia"/>
                <a:cs typeface="Georgia"/>
                <a:sym typeface="Georgia"/>
              </a:rPr>
              <a:t>I have no brain, no nerves, no chest, no stomach, no intestines… all that is left is the rotten skin and the disorganized bones of a decomposing body.”</a:t>
            </a:r>
            <a:endParaRPr b="0" i="0" sz="5600" u="none" cap="none" strike="noStrike">
              <a:solidFill>
                <a:schemeClr val="dk1"/>
              </a:solidFill>
              <a:latin typeface="Calibri"/>
              <a:ea typeface="Calibri"/>
              <a:cs typeface="Calibri"/>
              <a:sym typeface="Calibri"/>
            </a:endParaRPr>
          </a:p>
        </p:txBody>
      </p:sp>
      <p:sp>
        <p:nvSpPr>
          <p:cNvPr id="21" name="Google Shape;21;p3"/>
          <p:cNvSpPr/>
          <p:nvPr/>
        </p:nvSpPr>
        <p:spPr>
          <a:xfrm>
            <a:off x="868680" y="5440680"/>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100"/>
              <a:buFont typeface="Calibri"/>
              <a:buNone/>
            </a:pPr>
            <a:r>
              <a:rPr b="0" i="1" lang="en-US" sz="1100" u="none" cap="none" strike="noStrike">
                <a:solidFill>
                  <a:srgbClr val="8A8F9A"/>
                </a:solidFill>
                <a:latin typeface="Calibri"/>
                <a:ea typeface="Calibri"/>
                <a:cs typeface="Calibri"/>
                <a:sym typeface="Calibri"/>
              </a:rPr>
              <a:t>— Patient described by Jules Cotard, 1880</a:t>
            </a:r>
            <a:endParaRPr b="0" i="0" sz="1100" u="none" cap="none" strike="noStrike">
              <a:solidFill>
                <a:schemeClr val="dk1"/>
              </a:solidFill>
              <a:latin typeface="Calibri"/>
              <a:ea typeface="Calibri"/>
              <a:cs typeface="Calibri"/>
              <a:sym typeface="Calibri"/>
            </a:endParaRPr>
          </a:p>
        </p:txBody>
      </p:sp>
      <p:sp>
        <p:nvSpPr>
          <p:cNvPr id="22" name="Google Shape;22;p3"/>
          <p:cNvSpPr/>
          <p:nvPr/>
        </p:nvSpPr>
        <p:spPr>
          <a:xfrm>
            <a:off x="868680" y="598932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Larry Zhong</a:t>
            </a:r>
            <a:endParaRPr b="0" i="0" sz="1300" u="none" cap="none" strike="noStrike">
              <a:solidFill>
                <a:schemeClr val="dk1"/>
              </a:solidFill>
              <a:latin typeface="Calibri"/>
              <a:ea typeface="Calibri"/>
              <a:cs typeface="Calibri"/>
              <a:sym typeface="Calibri"/>
            </a:endParaRPr>
          </a:p>
        </p:txBody>
      </p:sp>
      <p:sp>
        <p:nvSpPr>
          <p:cNvPr id="23" name="Google Shape;23;p3"/>
          <p:cNvSpPr/>
          <p:nvPr/>
        </p:nvSpPr>
        <p:spPr>
          <a:xfrm>
            <a:off x="868680" y="6263640"/>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Calibri"/>
              <a:buNone/>
            </a:pPr>
            <a:r>
              <a:rPr b="0" i="0" lang="en-US" sz="1000" u="none" cap="none" strike="noStrike">
                <a:solidFill>
                  <a:srgbClr val="8A8F9A"/>
                </a:solidFill>
                <a:latin typeface="Calibri"/>
                <a:ea typeface="Calibri"/>
                <a:cs typeface="Calibri"/>
                <a:sym typeface="Calibri"/>
              </a:rPr>
              <a:t>Shady Side Academy  ·  Ms. Fani  ·  Spring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4"/>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77724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Diagnostic Criteria</a:t>
            </a:r>
            <a:endParaRPr b="0" i="0" sz="3600" u="none" cap="none" strike="noStrike">
              <a:solidFill>
                <a:schemeClr val="dk1"/>
              </a:solidFill>
              <a:latin typeface="Calibri"/>
              <a:ea typeface="Calibri"/>
              <a:cs typeface="Calibri"/>
              <a:sym typeface="Calibri"/>
            </a:endParaRPr>
          </a:p>
        </p:txBody>
      </p:sp>
      <p:sp>
        <p:nvSpPr>
          <p:cNvPr id="31" name="Google Shape;31;p4"/>
          <p:cNvSpPr/>
          <p:nvPr/>
        </p:nvSpPr>
        <p:spPr>
          <a:xfrm>
            <a:off x="777240" y="1783080"/>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DSM-5-TR &amp; ICD-11 STATUS</a:t>
            </a:r>
            <a:endParaRPr b="0" i="0" sz="1000" u="none" cap="none" strike="noStrike">
              <a:solidFill>
                <a:schemeClr val="dk1"/>
              </a:solidFill>
              <a:latin typeface="Calibri"/>
              <a:ea typeface="Calibri"/>
              <a:cs typeface="Calibri"/>
              <a:sym typeface="Calibri"/>
            </a:endParaRPr>
          </a:p>
        </p:txBody>
      </p:sp>
      <p:sp>
        <p:nvSpPr>
          <p:cNvPr id="32" name="Google Shape;32;p4"/>
          <p:cNvSpPr/>
          <p:nvPr/>
        </p:nvSpPr>
        <p:spPr>
          <a:xfrm>
            <a:off x="777240" y="2057400"/>
            <a:ext cx="5303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300"/>
              <a:buFont typeface="Calibri"/>
              <a:buNone/>
            </a:pPr>
            <a:r>
              <a:rPr b="0" i="0" lang="en-US" sz="1300" u="none" cap="none" strike="noStrike">
                <a:solidFill>
                  <a:srgbClr val="1A2332"/>
                </a:solidFill>
                <a:latin typeface="Calibri"/>
                <a:ea typeface="Calibri"/>
                <a:cs typeface="Calibri"/>
                <a:sym typeface="Calibri"/>
              </a:rPr>
              <a:t>Cotard's is </a:t>
            </a:r>
            <a:r>
              <a:rPr b="1" i="1" lang="en-US" sz="1300" u="none" cap="none" strike="noStrike">
                <a:solidFill>
                  <a:srgbClr val="1A2332"/>
                </a:solidFill>
                <a:latin typeface="Calibri"/>
                <a:ea typeface="Calibri"/>
                <a:cs typeface="Calibri"/>
                <a:sym typeface="Calibri"/>
              </a:rPr>
              <a:t>not</a:t>
            </a:r>
            <a:r>
              <a:rPr b="0" i="0" lang="en-US" sz="1300" u="none" cap="none" strike="noStrike">
                <a:solidFill>
                  <a:srgbClr val="1A2332"/>
                </a:solidFill>
                <a:latin typeface="Calibri"/>
                <a:ea typeface="Calibri"/>
                <a:cs typeface="Calibri"/>
                <a:sym typeface="Calibri"/>
              </a:rPr>
              <a:t> a standalone diagnosis in the DSM-5-TR or ICD-11. It is coded under:</a:t>
            </a:r>
            <a:endParaRPr b="0" i="0" sz="1300" u="none" cap="none" strike="noStrike">
              <a:solidFill>
                <a:schemeClr val="dk1"/>
              </a:solidFill>
              <a:latin typeface="Calibri"/>
              <a:ea typeface="Calibri"/>
              <a:cs typeface="Calibri"/>
              <a:sym typeface="Calibri"/>
            </a:endParaRPr>
          </a:p>
        </p:txBody>
      </p:sp>
      <p:sp>
        <p:nvSpPr>
          <p:cNvPr id="33" name="Google Shape;33;p4"/>
          <p:cNvSpPr/>
          <p:nvPr/>
        </p:nvSpPr>
        <p:spPr>
          <a:xfrm>
            <a:off x="777240" y="2743200"/>
            <a:ext cx="53035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Delusional Disorder, somatic type</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8A8F9A"/>
              </a:buClr>
              <a:buSzPts val="1100"/>
              <a:buFont typeface="Calibri"/>
              <a:buNone/>
            </a:pPr>
            <a:r>
              <a:rPr b="0" i="0" lang="en-US" sz="1100" u="none" cap="none" strike="noStrike">
                <a:solidFill>
                  <a:srgbClr val="8A8F9A"/>
                </a:solidFill>
                <a:latin typeface="Calibri"/>
                <a:ea typeface="Calibri"/>
                <a:cs typeface="Calibri"/>
                <a:sym typeface="Calibri"/>
              </a:rPr>
              <a:t>      DSM-5-TR 297.1  /  ICD-11 6A24</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Major Depressive Disorder with psychotic features</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8A8F9A"/>
              </a:buClr>
              <a:buSzPts val="1100"/>
              <a:buFont typeface="Calibri"/>
              <a:buNone/>
            </a:pPr>
            <a:r>
              <a:rPr b="0" i="0" lang="en-US" sz="1100" u="none" cap="none" strike="noStrike">
                <a:solidFill>
                  <a:srgbClr val="8A8F9A"/>
                </a:solidFill>
                <a:latin typeface="Calibri"/>
                <a:ea typeface="Calibri"/>
                <a:cs typeface="Calibri"/>
                <a:sym typeface="Calibri"/>
              </a:rPr>
              <a:t>      When mood symptoms dominate</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Schizophrenia spectrum or organic psychosis</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6537960" y="1783080"/>
            <a:ext cx="5120640" cy="420624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6766560" y="1920240"/>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CORE CLINICAL FEATURES</a:t>
            </a:r>
            <a:endParaRPr b="0" i="0" sz="1000" u="none" cap="none" strike="noStrike">
              <a:solidFill>
                <a:schemeClr val="dk1"/>
              </a:solidFill>
              <a:latin typeface="Calibri"/>
              <a:ea typeface="Calibri"/>
              <a:cs typeface="Calibri"/>
              <a:sym typeface="Calibri"/>
            </a:endParaRPr>
          </a:p>
        </p:txBody>
      </p:sp>
      <p:sp>
        <p:nvSpPr>
          <p:cNvPr id="36" name="Google Shape;36;p4"/>
          <p:cNvSpPr/>
          <p:nvPr/>
        </p:nvSpPr>
        <p:spPr>
          <a:xfrm>
            <a:off x="6766560" y="2240280"/>
            <a:ext cx="4754880" cy="365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Nihilistic delusions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About the body (no organs, no blood) or existence ("I am dead")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600"/>
              <a:buFont typeface="Calibri"/>
              <a:buNone/>
            </a:pPr>
            <a:r>
              <a:rPr b="0" i="0" lang="en-US" sz="600" u="none" cap="none" strike="noStrike">
                <a:solidFill>
                  <a:srgbClr val="1A2332"/>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Severe depressive mood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Often with psychomotor retardation, mutism, or stupor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600"/>
              <a:buFont typeface="Calibri"/>
              <a:buNone/>
            </a:pPr>
            <a:r>
              <a:rPr b="0" i="0" lang="en-US" sz="600" u="none" cap="none" strike="noStrike">
                <a:solidFill>
                  <a:srgbClr val="1A2332"/>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Paradoxical immortality beliefs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Patient believes they cannot die—yet may attempt suicide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600"/>
              <a:buFont typeface="Calibri"/>
              <a:buNone/>
            </a:pPr>
            <a:r>
              <a:rPr b="0" i="0" lang="en-US" sz="600" u="none" cap="none" strike="noStrike">
                <a:solidFill>
                  <a:srgbClr val="1A2332"/>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Self-neglect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Refusing food ("the dead don't eat") or medical care</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777240" y="49377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Three Clinical Subtypes (Berrios &amp; Luque, 1995)</a:t>
            </a:r>
            <a:endParaRPr b="0" i="0" sz="1000" u="none" cap="none" strike="noStrike">
              <a:solidFill>
                <a:schemeClr val="dk1"/>
              </a:solidFill>
              <a:latin typeface="Calibri"/>
              <a:ea typeface="Calibri"/>
              <a:cs typeface="Calibri"/>
              <a:sym typeface="Calibri"/>
            </a:endParaRPr>
          </a:p>
        </p:txBody>
      </p:sp>
      <p:sp>
        <p:nvSpPr>
          <p:cNvPr id="38" name="Google Shape;38;p4"/>
          <p:cNvSpPr/>
          <p:nvPr/>
        </p:nvSpPr>
        <p:spPr>
          <a:xfrm>
            <a:off x="777240" y="5257800"/>
            <a:ext cx="36576" cy="640080"/>
          </a:xfrm>
          <a:prstGeom prst="rect">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86968" y="5230368"/>
            <a:ext cx="1691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Psychotic Depression</a:t>
            </a:r>
            <a:endParaRPr b="0" i="0" sz="1100" u="none" cap="none" strike="noStrike">
              <a:solidFill>
                <a:schemeClr val="dk1"/>
              </a:solidFill>
              <a:latin typeface="Calibri"/>
              <a:ea typeface="Calibri"/>
              <a:cs typeface="Calibri"/>
              <a:sym typeface="Calibri"/>
            </a:endParaRPr>
          </a:p>
        </p:txBody>
      </p:sp>
      <p:sp>
        <p:nvSpPr>
          <p:cNvPr id="40" name="Google Shape;40;p4"/>
          <p:cNvSpPr/>
          <p:nvPr/>
        </p:nvSpPr>
        <p:spPr>
          <a:xfrm>
            <a:off x="886968" y="5522976"/>
            <a:ext cx="1691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900"/>
              <a:buFont typeface="Calibri"/>
              <a:buNone/>
            </a:pPr>
            <a:r>
              <a:rPr b="0" i="0" lang="en-US" sz="900" u="none" cap="none" strike="noStrike">
                <a:solidFill>
                  <a:srgbClr val="4A5563"/>
                </a:solidFill>
                <a:latin typeface="Calibri"/>
                <a:ea typeface="Calibri"/>
                <a:cs typeface="Calibri"/>
                <a:sym typeface="Calibri"/>
              </a:rPr>
              <a:t>Nihilistic mood, mild delusions</a:t>
            </a:r>
            <a:endParaRPr b="0" i="0" sz="900" u="none" cap="none" strike="noStrike">
              <a:solidFill>
                <a:schemeClr val="dk1"/>
              </a:solidFill>
              <a:latin typeface="Calibri"/>
              <a:ea typeface="Calibri"/>
              <a:cs typeface="Calibri"/>
              <a:sym typeface="Calibri"/>
            </a:endParaRPr>
          </a:p>
        </p:txBody>
      </p:sp>
      <p:sp>
        <p:nvSpPr>
          <p:cNvPr id="41" name="Google Shape;41;p4"/>
          <p:cNvSpPr/>
          <p:nvPr/>
        </p:nvSpPr>
        <p:spPr>
          <a:xfrm>
            <a:off x="2606040" y="5257800"/>
            <a:ext cx="36576" cy="640080"/>
          </a:xfrm>
          <a:prstGeom prst="rect">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2715768" y="5230368"/>
            <a:ext cx="1691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Cotard Type I</a:t>
            </a:r>
            <a:endParaRPr b="0" i="0" sz="1100" u="none" cap="none" strike="noStrike">
              <a:solidFill>
                <a:schemeClr val="dk1"/>
              </a:solidFill>
              <a:latin typeface="Calibri"/>
              <a:ea typeface="Calibri"/>
              <a:cs typeface="Calibri"/>
              <a:sym typeface="Calibri"/>
            </a:endParaRPr>
          </a:p>
        </p:txBody>
      </p:sp>
      <p:sp>
        <p:nvSpPr>
          <p:cNvPr id="43" name="Google Shape;43;p4"/>
          <p:cNvSpPr/>
          <p:nvPr/>
        </p:nvSpPr>
        <p:spPr>
          <a:xfrm>
            <a:off x="2715768" y="5522976"/>
            <a:ext cx="1691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900"/>
              <a:buFont typeface="Calibri"/>
              <a:buNone/>
            </a:pPr>
            <a:r>
              <a:rPr b="0" i="0" lang="en-US" sz="900" u="none" cap="none" strike="noStrike">
                <a:solidFill>
                  <a:srgbClr val="4A5563"/>
                </a:solidFill>
                <a:latin typeface="Calibri"/>
                <a:ea typeface="Calibri"/>
                <a:cs typeface="Calibri"/>
                <a:sym typeface="Calibri"/>
              </a:rPr>
              <a:t>"Pure" delusional, less depressive</a:t>
            </a:r>
            <a:endParaRPr b="0" i="0" sz="900" u="none" cap="none" strike="noStrike">
              <a:solidFill>
                <a:schemeClr val="dk1"/>
              </a:solidFill>
              <a:latin typeface="Calibri"/>
              <a:ea typeface="Calibri"/>
              <a:cs typeface="Calibri"/>
              <a:sym typeface="Calibri"/>
            </a:endParaRPr>
          </a:p>
        </p:txBody>
      </p:sp>
      <p:sp>
        <p:nvSpPr>
          <p:cNvPr id="44" name="Google Shape;44;p4"/>
          <p:cNvSpPr/>
          <p:nvPr/>
        </p:nvSpPr>
        <p:spPr>
          <a:xfrm>
            <a:off x="4434840" y="5257800"/>
            <a:ext cx="36576" cy="640080"/>
          </a:xfrm>
          <a:prstGeom prst="rect">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544568" y="5230368"/>
            <a:ext cx="1691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Cotard Type II</a:t>
            </a:r>
            <a:endParaRPr b="0" i="0" sz="1100" u="none" cap="none" strike="noStrike">
              <a:solidFill>
                <a:schemeClr val="dk1"/>
              </a:solidFill>
              <a:latin typeface="Calibri"/>
              <a:ea typeface="Calibri"/>
              <a:cs typeface="Calibri"/>
              <a:sym typeface="Calibri"/>
            </a:endParaRPr>
          </a:p>
        </p:txBody>
      </p:sp>
      <p:sp>
        <p:nvSpPr>
          <p:cNvPr id="46" name="Google Shape;46;p4"/>
          <p:cNvSpPr/>
          <p:nvPr/>
        </p:nvSpPr>
        <p:spPr>
          <a:xfrm>
            <a:off x="4544568" y="5522976"/>
            <a:ext cx="16916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900"/>
              <a:buFont typeface="Calibri"/>
              <a:buNone/>
            </a:pPr>
            <a:r>
              <a:rPr b="0" i="0" lang="en-US" sz="900" u="none" cap="none" strike="noStrike">
                <a:solidFill>
                  <a:srgbClr val="4A5563"/>
                </a:solidFill>
                <a:latin typeface="Calibri"/>
                <a:ea typeface="Calibri"/>
                <a:cs typeface="Calibri"/>
                <a:sym typeface="Calibri"/>
              </a:rPr>
              <a:t>Mixed: anxiety, immortality, suicidality</a:t>
            </a:r>
            <a:endParaRPr b="0" i="0" sz="900" u="none" cap="none" strike="noStrike">
              <a:solidFill>
                <a:schemeClr val="dk1"/>
              </a:solidFill>
              <a:latin typeface="Calibri"/>
              <a:ea typeface="Calibri"/>
              <a:cs typeface="Calibri"/>
              <a:sym typeface="Calibri"/>
            </a:endParaRPr>
          </a:p>
        </p:txBody>
      </p:sp>
      <p:sp>
        <p:nvSpPr>
          <p:cNvPr id="47" name="Google Shape;47;p4"/>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A  ·  DIAGNOSTIC CRITERIA</a:t>
            </a:r>
            <a:endParaRPr b="0" i="0" sz="900" u="none" cap="none" strike="noStrike">
              <a:solidFill>
                <a:schemeClr val="dk1"/>
              </a:solidFill>
              <a:latin typeface="Calibri"/>
              <a:ea typeface="Calibri"/>
              <a:cs typeface="Calibri"/>
              <a:sym typeface="Calibri"/>
            </a:endParaRPr>
          </a:p>
        </p:txBody>
      </p:sp>
      <p:sp>
        <p:nvSpPr>
          <p:cNvPr id="48" name="Google Shape;48;p4"/>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2 / 13</a:t>
            </a:r>
            <a:endParaRPr b="0" i="0" sz="900" u="none" cap="none" strike="noStrike">
              <a:solidFill>
                <a:schemeClr val="dk1"/>
              </a:solidFill>
              <a:latin typeface="Calibri"/>
              <a:ea typeface="Calibri"/>
              <a:cs typeface="Calibri"/>
              <a:sym typeface="Calibri"/>
            </a:endParaRPr>
          </a:p>
        </p:txBody>
      </p:sp>
      <p:sp>
        <p:nvSpPr>
          <p:cNvPr id="49" name="Google Shape;49;p4"/>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 name="Shape 54"/>
        <p:cNvGrpSpPr/>
        <p:nvPr/>
      </p:nvGrpSpPr>
      <p:grpSpPr>
        <a:xfrm>
          <a:off x="0" y="0"/>
          <a:ext cx="0" cy="0"/>
          <a:chOff x="0" y="0"/>
          <a:chExt cx="0" cy="0"/>
        </a:xfrm>
      </p:grpSpPr>
      <p:sp>
        <p:nvSpPr>
          <p:cNvPr id="55" name="Google Shape;55;p5"/>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77724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Symptom Profile</a:t>
            </a:r>
            <a:endParaRPr b="0" i="0" sz="3600" u="none" cap="none" strike="noStrike">
              <a:solidFill>
                <a:schemeClr val="dk1"/>
              </a:solidFill>
              <a:latin typeface="Calibri"/>
              <a:ea typeface="Calibri"/>
              <a:cs typeface="Calibri"/>
              <a:sym typeface="Calibri"/>
            </a:endParaRPr>
          </a:p>
        </p:txBody>
      </p:sp>
      <p:sp>
        <p:nvSpPr>
          <p:cNvPr id="57" name="Google Shape;57;p5"/>
          <p:cNvSpPr/>
          <p:nvPr/>
        </p:nvSpPr>
        <p:spPr>
          <a:xfrm>
            <a:off x="777240" y="114300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1400"/>
              <a:buFont typeface="Calibri"/>
              <a:buNone/>
            </a:pPr>
            <a:r>
              <a:rPr b="0" i="1" lang="en-US" sz="1400" u="none" cap="none" strike="noStrike">
                <a:solidFill>
                  <a:srgbClr val="4A5563"/>
                </a:solidFill>
                <a:latin typeface="Calibri"/>
                <a:ea typeface="Calibri"/>
                <a:cs typeface="Calibri"/>
                <a:sym typeface="Calibri"/>
              </a:rPr>
              <a:t>Frequencies from a 100-case statistical analysis (Berrios &amp; Luque, 1995)</a:t>
            </a:r>
            <a:endParaRPr b="0" i="0" sz="1400" u="none" cap="none" strike="noStrike">
              <a:solidFill>
                <a:schemeClr val="dk1"/>
              </a:solidFill>
              <a:latin typeface="Calibri"/>
              <a:ea typeface="Calibri"/>
              <a:cs typeface="Calibri"/>
              <a:sym typeface="Calibri"/>
            </a:endParaRPr>
          </a:p>
        </p:txBody>
      </p:sp>
      <p:pic>
        <p:nvPicPr>
          <p:cNvPr id="58" name="Google Shape;58;p5"/>
          <p:cNvPicPr preferRelativeResize="0"/>
          <p:nvPr/>
        </p:nvPicPr>
        <p:blipFill rotWithShape="1">
          <a:blip r:embed="rId3">
            <a:alphaModFix/>
          </a:blip>
          <a:srcRect b="0" l="0" r="0" t="0"/>
          <a:stretch/>
        </p:blipFill>
        <p:spPr>
          <a:xfrm>
            <a:off x="777240" y="1691640"/>
            <a:ext cx="6858000" cy="4480560"/>
          </a:xfrm>
          <a:prstGeom prst="rect">
            <a:avLst/>
          </a:prstGeom>
          <a:noFill/>
          <a:ln>
            <a:noFill/>
          </a:ln>
        </p:spPr>
      </p:pic>
      <p:sp>
        <p:nvSpPr>
          <p:cNvPr id="59" name="Google Shape;59;p5"/>
          <p:cNvSpPr/>
          <p:nvPr/>
        </p:nvSpPr>
        <p:spPr>
          <a:xfrm>
            <a:off x="8092440" y="1783080"/>
            <a:ext cx="3611880" cy="429768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8321040" y="1920240"/>
            <a:ext cx="3291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KEY INSIGHTS</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8321040" y="2286000"/>
            <a:ext cx="3291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4400"/>
              <a:buFont typeface="Georgia"/>
              <a:buNone/>
            </a:pPr>
            <a:r>
              <a:rPr b="1" i="0" lang="en-US" sz="4400" u="none" cap="none" strike="noStrike">
                <a:solidFill>
                  <a:srgbClr val="8B2635"/>
                </a:solidFill>
                <a:latin typeface="Georgia"/>
                <a:ea typeface="Georgia"/>
                <a:cs typeface="Georgia"/>
                <a:sym typeface="Georgia"/>
              </a:rPr>
              <a:t>89%</a:t>
            </a:r>
            <a:endParaRPr b="0" i="0" sz="4400" u="none" cap="none" strike="noStrike">
              <a:solidFill>
                <a:schemeClr val="dk1"/>
              </a:solidFill>
              <a:latin typeface="Calibri"/>
              <a:ea typeface="Calibri"/>
              <a:cs typeface="Calibri"/>
              <a:sym typeface="Calibri"/>
            </a:endParaRPr>
          </a:p>
        </p:txBody>
      </p:sp>
      <p:sp>
        <p:nvSpPr>
          <p:cNvPr id="62" name="Google Shape;62;p5"/>
          <p:cNvSpPr/>
          <p:nvPr/>
        </p:nvSpPr>
        <p:spPr>
          <a:xfrm>
            <a:off x="8321040" y="292608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0" i="0" lang="en-US" sz="1100" u="none" cap="none" strike="noStrike">
                <a:solidFill>
                  <a:srgbClr val="1A2332"/>
                </a:solidFill>
                <a:latin typeface="Calibri"/>
                <a:ea typeface="Calibri"/>
                <a:cs typeface="Calibri"/>
                <a:sym typeface="Calibri"/>
              </a:rPr>
              <a:t>of cases present with depressive mood—the strongest psychiatric link.</a:t>
            </a:r>
            <a:endParaRPr b="0" i="0" sz="1100" u="none" cap="none" strike="noStrike">
              <a:solidFill>
                <a:schemeClr val="dk1"/>
              </a:solidFill>
              <a:latin typeface="Calibri"/>
              <a:ea typeface="Calibri"/>
              <a:cs typeface="Calibri"/>
              <a:sym typeface="Calibri"/>
            </a:endParaRPr>
          </a:p>
        </p:txBody>
      </p:sp>
      <p:sp>
        <p:nvSpPr>
          <p:cNvPr id="63" name="Google Shape;63;p5"/>
          <p:cNvSpPr/>
          <p:nvPr/>
        </p:nvSpPr>
        <p:spPr>
          <a:xfrm>
            <a:off x="8321040" y="365760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2800"/>
              <a:buFont typeface="Georgia"/>
              <a:buNone/>
            </a:pPr>
            <a:r>
              <a:rPr b="1" i="0" lang="en-US" sz="2800" u="none" cap="none" strike="noStrike">
                <a:solidFill>
                  <a:srgbClr val="1A2332"/>
                </a:solidFill>
                <a:latin typeface="Georgia"/>
                <a:ea typeface="Georgia"/>
                <a:cs typeface="Georgia"/>
                <a:sym typeface="Georgia"/>
              </a:rPr>
              <a:t>86% / 69%</a:t>
            </a:r>
            <a:endParaRPr b="0" i="0" sz="2800" u="none" cap="none" strike="noStrike">
              <a:solidFill>
                <a:schemeClr val="dk1"/>
              </a:solidFill>
              <a:latin typeface="Calibri"/>
              <a:ea typeface="Calibri"/>
              <a:cs typeface="Calibri"/>
              <a:sym typeface="Calibri"/>
            </a:endParaRPr>
          </a:p>
        </p:txBody>
      </p:sp>
      <p:sp>
        <p:nvSpPr>
          <p:cNvPr id="64" name="Google Shape;64;p5"/>
          <p:cNvSpPr/>
          <p:nvPr/>
        </p:nvSpPr>
        <p:spPr>
          <a:xfrm>
            <a:off x="8321040" y="420624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0" i="0" lang="en-US" sz="1100" u="none" cap="none" strike="noStrike">
                <a:solidFill>
                  <a:srgbClr val="1A2332"/>
                </a:solidFill>
                <a:latin typeface="Calibri"/>
                <a:ea typeface="Calibri"/>
                <a:cs typeface="Calibri"/>
                <a:sym typeface="Calibri"/>
              </a:rPr>
              <a:t>believe parts of their body are absent or that they don't exist at all.</a:t>
            </a:r>
            <a:endParaRPr b="0" i="0" sz="1100" u="none" cap="none" strike="noStrike">
              <a:solidFill>
                <a:schemeClr val="dk1"/>
              </a:solidFill>
              <a:latin typeface="Calibri"/>
              <a:ea typeface="Calibri"/>
              <a:cs typeface="Calibri"/>
              <a:sym typeface="Calibri"/>
            </a:endParaRPr>
          </a:p>
        </p:txBody>
      </p:sp>
      <p:sp>
        <p:nvSpPr>
          <p:cNvPr id="65" name="Google Shape;65;p5"/>
          <p:cNvSpPr/>
          <p:nvPr/>
        </p:nvSpPr>
        <p:spPr>
          <a:xfrm>
            <a:off x="8321040" y="493776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670"/>
              </a:buClr>
              <a:buSzPts val="2800"/>
              <a:buFont typeface="Georgia"/>
              <a:buNone/>
            </a:pPr>
            <a:r>
              <a:rPr b="1" i="0" lang="en-US" sz="2800" u="none" cap="none" strike="noStrike">
                <a:solidFill>
                  <a:srgbClr val="4A6670"/>
                </a:solidFill>
                <a:latin typeface="Georgia"/>
                <a:ea typeface="Georgia"/>
                <a:cs typeface="Georgia"/>
                <a:sym typeface="Georgia"/>
              </a:rPr>
              <a:t>55%</a:t>
            </a:r>
            <a:endParaRPr b="0" i="0" sz="2800" u="none" cap="none" strike="noStrike">
              <a:solidFill>
                <a:schemeClr val="dk1"/>
              </a:solidFill>
              <a:latin typeface="Calibri"/>
              <a:ea typeface="Calibri"/>
              <a:cs typeface="Calibri"/>
              <a:sym typeface="Calibri"/>
            </a:endParaRPr>
          </a:p>
        </p:txBody>
      </p:sp>
      <p:sp>
        <p:nvSpPr>
          <p:cNvPr id="66" name="Google Shape;66;p5"/>
          <p:cNvSpPr/>
          <p:nvPr/>
        </p:nvSpPr>
        <p:spPr>
          <a:xfrm>
            <a:off x="8321040" y="544068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0" i="0" lang="en-US" sz="1100" u="none" cap="none" strike="noStrike">
                <a:solidFill>
                  <a:srgbClr val="1A2332"/>
                </a:solidFill>
                <a:latin typeface="Calibri"/>
                <a:ea typeface="Calibri"/>
                <a:cs typeface="Calibri"/>
                <a:sym typeface="Calibri"/>
              </a:rPr>
              <a:t>hold paradoxical delusions of immortality—the central contradiction.</a:t>
            </a:r>
            <a:endParaRPr b="0" i="0" sz="1100" u="none" cap="none" strike="noStrike">
              <a:solidFill>
                <a:schemeClr val="dk1"/>
              </a:solidFill>
              <a:latin typeface="Calibri"/>
              <a:ea typeface="Calibri"/>
              <a:cs typeface="Calibri"/>
              <a:sym typeface="Calibri"/>
            </a:endParaRPr>
          </a:p>
        </p:txBody>
      </p:sp>
      <p:sp>
        <p:nvSpPr>
          <p:cNvPr id="67" name="Google Shape;67;p5"/>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A  ·  DIAGNOSTIC CRITERIA</a:t>
            </a:r>
            <a:endParaRPr b="0" i="0" sz="900" u="none" cap="none" strike="noStrike">
              <a:solidFill>
                <a:schemeClr val="dk1"/>
              </a:solidFill>
              <a:latin typeface="Calibri"/>
              <a:ea typeface="Calibri"/>
              <a:cs typeface="Calibri"/>
              <a:sym typeface="Calibri"/>
            </a:endParaRPr>
          </a:p>
        </p:txBody>
      </p:sp>
      <p:sp>
        <p:nvSpPr>
          <p:cNvPr id="68" name="Google Shape;68;p5"/>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3 / 13</a:t>
            </a:r>
            <a:endParaRPr b="0" i="0" sz="900" u="none" cap="none" strike="noStrike">
              <a:solidFill>
                <a:schemeClr val="dk1"/>
              </a:solidFill>
              <a:latin typeface="Calibri"/>
              <a:ea typeface="Calibri"/>
              <a:cs typeface="Calibri"/>
              <a:sym typeface="Calibri"/>
            </a:endParaRPr>
          </a:p>
        </p:txBody>
      </p:sp>
      <p:sp>
        <p:nvSpPr>
          <p:cNvPr id="69" name="Google Shape;69;p5"/>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74" name="Shape 74"/>
        <p:cNvGrpSpPr/>
        <p:nvPr/>
      </p:nvGrpSpPr>
      <p:grpSpPr>
        <a:xfrm>
          <a:off x="0" y="0"/>
          <a:ext cx="0" cy="0"/>
          <a:chOff x="0" y="0"/>
          <a:chExt cx="0" cy="0"/>
        </a:xfrm>
      </p:grpSpPr>
      <p:sp>
        <p:nvSpPr>
          <p:cNvPr id="75" name="Google Shape;75;p6"/>
          <p:cNvSpPr/>
          <p:nvPr/>
        </p:nvSpPr>
        <p:spPr>
          <a:xfrm>
            <a:off x="77724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Creative Section</a:t>
            </a:r>
            <a:endParaRPr b="0" i="0" sz="3600" u="none" cap="none" strike="noStrike">
              <a:solidFill>
                <a:schemeClr val="dk1"/>
              </a:solidFill>
              <a:latin typeface="Calibri"/>
              <a:ea typeface="Calibri"/>
              <a:cs typeface="Calibri"/>
              <a:sym typeface="Calibri"/>
            </a:endParaRPr>
          </a:p>
        </p:txBody>
      </p:sp>
      <p:sp>
        <p:nvSpPr>
          <p:cNvPr id="76" name="Google Shape;76;p6"/>
          <p:cNvSpPr/>
          <p:nvPr/>
        </p:nvSpPr>
        <p:spPr>
          <a:xfrm>
            <a:off x="777240" y="114300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1400"/>
              <a:buFont typeface="Calibri"/>
              <a:buNone/>
            </a:pPr>
            <a:r>
              <a:rPr b="0" i="1" lang="en-US" sz="1400" u="none" cap="none" strike="noStrike">
                <a:solidFill>
                  <a:srgbClr val="4A5563"/>
                </a:solidFill>
                <a:latin typeface="Calibri"/>
                <a:ea typeface="Calibri"/>
                <a:cs typeface="Calibri"/>
                <a:sym typeface="Calibri"/>
              </a:rPr>
              <a:t>A simulated journal entry: what Cotard's might sound like from the inside</a:t>
            </a:r>
            <a:endParaRPr b="0" i="0" sz="1400" u="none" cap="none" strike="noStrike">
              <a:solidFill>
                <a:schemeClr val="dk1"/>
              </a:solidFill>
              <a:latin typeface="Calibri"/>
              <a:ea typeface="Calibri"/>
              <a:cs typeface="Calibri"/>
              <a:sym typeface="Calibri"/>
            </a:endParaRPr>
          </a:p>
        </p:txBody>
      </p:sp>
      <p:sp>
        <p:nvSpPr>
          <p:cNvPr id="77" name="Google Shape;77;p6"/>
          <p:cNvSpPr/>
          <p:nvPr/>
        </p:nvSpPr>
        <p:spPr>
          <a:xfrm>
            <a:off x="777240" y="1737360"/>
            <a:ext cx="10607040" cy="4434840"/>
          </a:xfrm>
          <a:prstGeom prst="rect">
            <a:avLst/>
          </a:prstGeom>
          <a:solidFill>
            <a:srgbClr val="FFFFFF"/>
          </a:solidFill>
          <a:ln cap="flat" cmpd="sng" w="12700">
            <a:solidFill>
              <a:srgbClr val="D8D4CB"/>
            </a:solidFill>
            <a:prstDash val="solid"/>
            <a:round/>
            <a:headEnd len="sm" w="sm" type="none"/>
            <a:tailEnd len="sm" w="sm" type="none"/>
          </a:ln>
          <a:effectLst>
            <a:outerShdw blurRad="152400" rotWithShape="0" algn="bl" dir="5400000" dist="381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1463040" y="1828800"/>
            <a:ext cx="13716" cy="425196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1691640" y="1920240"/>
            <a:ext cx="9601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800"/>
              <a:buFont typeface="Georgia"/>
              <a:buNone/>
            </a:pPr>
            <a:r>
              <a:rPr b="1" i="1" lang="en-US" sz="1800" u="none" cap="none" strike="noStrike">
                <a:solidFill>
                  <a:srgbClr val="1A2332"/>
                </a:solidFill>
                <a:latin typeface="Georgia"/>
                <a:ea typeface="Georgia"/>
                <a:cs typeface="Georgia"/>
                <a:sym typeface="Georgia"/>
              </a:rPr>
              <a:t>Tuesday—I think.</a:t>
            </a:r>
            <a:endParaRPr b="0" i="0" sz="1800" u="none" cap="none" strike="noStrike">
              <a:solidFill>
                <a:schemeClr val="dk1"/>
              </a:solidFill>
              <a:latin typeface="Calibri"/>
              <a:ea typeface="Calibri"/>
              <a:cs typeface="Calibri"/>
              <a:sym typeface="Calibri"/>
            </a:endParaRPr>
          </a:p>
        </p:txBody>
      </p:sp>
      <p:sp>
        <p:nvSpPr>
          <p:cNvPr id="80" name="Google Shape;80;p6"/>
          <p:cNvSpPr/>
          <p:nvPr/>
        </p:nvSpPr>
        <p:spPr>
          <a:xfrm>
            <a:off x="1691640" y="2423160"/>
            <a:ext cx="9601200" cy="365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Mom keeps telling me to eat. I keep telling her there's no reason to. The food just sits in the bowl. I know this sounds wrong, but I don't have a stomach anymore. I haven't for a few weeks now. </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800"/>
              <a:buFont typeface="Georgia"/>
              <a:buNone/>
            </a:pPr>
            <a:r>
              <a:rPr b="0" i="1" lang="en-US" sz="800" u="none" cap="none" strike="noStrike">
                <a:solidFill>
                  <a:srgbClr val="1A2332"/>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I look in the mirror and the face is mine but the eyes belong to someone who isn't there. The doctor showed me the EKG—said “your heart is fine”—but the line on the paper isn't proof of anything. Paper can lie. Machines can lie. I can feel that I am not feeling anything, and that is the only thing I trust.</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800"/>
              <a:buFont typeface="Georgia"/>
              <a:buNone/>
            </a:pPr>
            <a:r>
              <a:rPr b="0" i="1" lang="en-US" sz="800" u="none" cap="none" strike="noStrike">
                <a:solidFill>
                  <a:srgbClr val="1A2332"/>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The strangest part is the certainty. People keep asking me “don't you think it's strange that you can walk around if you're dead?” and I want to tell them: yes, of course it's strange. But being dead doesn't mean what you think it means. It means the inside is gone. It means I will be like this forever—that's the worst part. I cannot die because there's nothing left to die.</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800"/>
              <a:buFont typeface="Georgia"/>
              <a:buNone/>
            </a:pPr>
            <a:r>
              <a:rPr b="0" i="1" lang="en-US" sz="800" u="none" cap="none" strike="noStrike">
                <a:solidFill>
                  <a:srgbClr val="1A2332"/>
                </a:solidFill>
                <a:latin typeface="Georgia"/>
                <a:ea typeface="Georgia"/>
                <a:cs typeface="Georgia"/>
                <a:sym typeface="Georgia"/>
              </a:rPr>
              <a:t> </a:t>
            </a:r>
            <a:endParaRPr b="0" i="0" sz="13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Tomorrow Mom is taking me to a new psychiatrist. I'll go. I don't think it will help. But I will go.</a:t>
            </a:r>
            <a:endParaRPr b="0" i="0" sz="1300" u="none" cap="none" strike="noStrike">
              <a:solidFill>
                <a:schemeClr val="dk1"/>
              </a:solidFill>
              <a:latin typeface="Calibri"/>
              <a:ea typeface="Calibri"/>
              <a:cs typeface="Calibri"/>
              <a:sym typeface="Calibri"/>
            </a:endParaRPr>
          </a:p>
        </p:txBody>
      </p:sp>
      <p:sp>
        <p:nvSpPr>
          <p:cNvPr id="81" name="Google Shape;81;p6"/>
          <p:cNvSpPr/>
          <p:nvPr/>
        </p:nvSpPr>
        <p:spPr>
          <a:xfrm>
            <a:off x="777240" y="6263640"/>
            <a:ext cx="106070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8F9A"/>
              </a:buClr>
              <a:buSzPts val="900"/>
              <a:buFont typeface="Calibri"/>
              <a:buNone/>
            </a:pPr>
            <a:r>
              <a:rPr b="0" i="1" lang="en-US" sz="900" u="none" cap="none" strike="noStrike">
                <a:solidFill>
                  <a:srgbClr val="8A8F9A"/>
                </a:solidFill>
                <a:latin typeface="Calibri"/>
                <a:ea typeface="Calibri"/>
                <a:cs typeface="Calibri"/>
                <a:sym typeface="Calibri"/>
              </a:rPr>
              <a:t>Fictional composite drawing on documented features (Berrios &amp; Luque, 1995; Dieguez, 2018).</a:t>
            </a:r>
            <a:endParaRPr b="0" i="0" sz="900" u="none" cap="none" strike="noStrike">
              <a:solidFill>
                <a:schemeClr val="dk1"/>
              </a:solidFill>
              <a:latin typeface="Calibri"/>
              <a:ea typeface="Calibri"/>
              <a:cs typeface="Calibri"/>
              <a:sym typeface="Calibri"/>
            </a:endParaRPr>
          </a:p>
        </p:txBody>
      </p:sp>
      <p:sp>
        <p:nvSpPr>
          <p:cNvPr id="82" name="Google Shape;82;p6"/>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A  ·  DIAGNOSTIC CRITERIA</a:t>
            </a:r>
            <a:endParaRPr b="0" i="0" sz="900" u="none" cap="none" strike="noStrike">
              <a:solidFill>
                <a:schemeClr val="dk1"/>
              </a:solidFill>
              <a:latin typeface="Calibri"/>
              <a:ea typeface="Calibri"/>
              <a:cs typeface="Calibri"/>
              <a:sym typeface="Calibri"/>
            </a:endParaRPr>
          </a:p>
        </p:txBody>
      </p:sp>
      <p:sp>
        <p:nvSpPr>
          <p:cNvPr id="83" name="Google Shape;83;p6"/>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4 / 13</a:t>
            </a:r>
            <a:endParaRPr b="0" i="0" sz="900" u="none" cap="none" strike="noStrike">
              <a:solidFill>
                <a:schemeClr val="dk1"/>
              </a:solidFill>
              <a:latin typeface="Calibri"/>
              <a:ea typeface="Calibri"/>
              <a:cs typeface="Calibri"/>
              <a:sym typeface="Calibri"/>
            </a:endParaRPr>
          </a:p>
        </p:txBody>
      </p:sp>
      <p:sp>
        <p:nvSpPr>
          <p:cNvPr id="84" name="Google Shape;84;p6"/>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7"/>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777240" y="5029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History &amp; Background</a:t>
            </a:r>
            <a:endParaRPr b="0" i="0" sz="3600" u="none" cap="none" strike="noStrike">
              <a:solidFill>
                <a:schemeClr val="dk1"/>
              </a:solidFill>
              <a:latin typeface="Calibri"/>
              <a:ea typeface="Calibri"/>
              <a:cs typeface="Calibri"/>
              <a:sym typeface="Calibri"/>
            </a:endParaRPr>
          </a:p>
        </p:txBody>
      </p:sp>
      <p:sp>
        <p:nvSpPr>
          <p:cNvPr id="92" name="Google Shape;92;p7"/>
          <p:cNvSpPr/>
          <p:nvPr/>
        </p:nvSpPr>
        <p:spPr>
          <a:xfrm>
            <a:off x="1737360" y="2084832"/>
            <a:ext cx="22860" cy="3749040"/>
          </a:xfrm>
          <a:prstGeom prst="rect">
            <a:avLst/>
          </a:prstGeom>
          <a:solidFill>
            <a:srgbClr val="D8D4CB"/>
          </a:solidFill>
          <a:ln cap="flat" cmpd="sng" w="12700">
            <a:solidFill>
              <a:srgbClr val="D8D4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777240" y="1920240"/>
            <a:ext cx="91440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2635"/>
              </a:buClr>
              <a:buSzPts val="1800"/>
              <a:buFont typeface="Georgia"/>
              <a:buNone/>
            </a:pPr>
            <a:r>
              <a:rPr b="1" i="0" lang="en-US" sz="1800" u="none" cap="none" strike="noStrike">
                <a:solidFill>
                  <a:srgbClr val="8B2635"/>
                </a:solidFill>
                <a:latin typeface="Georgia"/>
                <a:ea typeface="Georgia"/>
                <a:cs typeface="Georgia"/>
                <a:sym typeface="Georgia"/>
              </a:rPr>
              <a:t>1880</a:t>
            </a:r>
            <a:endParaRPr b="0" i="0" sz="1800" u="none" cap="none" strike="noStrike">
              <a:solidFill>
                <a:schemeClr val="dk1"/>
              </a:solidFill>
              <a:latin typeface="Calibri"/>
              <a:ea typeface="Calibri"/>
              <a:cs typeface="Calibri"/>
              <a:sym typeface="Calibri"/>
            </a:endParaRPr>
          </a:p>
        </p:txBody>
      </p:sp>
      <p:sp>
        <p:nvSpPr>
          <p:cNvPr id="94" name="Google Shape;94;p7"/>
          <p:cNvSpPr/>
          <p:nvPr/>
        </p:nvSpPr>
        <p:spPr>
          <a:xfrm>
            <a:off x="1682496" y="2084832"/>
            <a:ext cx="164592" cy="164592"/>
          </a:xfrm>
          <a:prstGeom prst="ellipse">
            <a:avLst/>
          </a:prstGeom>
          <a:solidFill>
            <a:srgbClr val="8B263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2057400" y="1920240"/>
            <a:ext cx="9601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Jules Cotard describes "Mademoiselle X"</a:t>
            </a:r>
            <a:endParaRPr b="0" i="0" sz="1400" u="none" cap="none" strike="noStrike">
              <a:solidFill>
                <a:schemeClr val="dk1"/>
              </a:solidFill>
              <a:latin typeface="Calibri"/>
              <a:ea typeface="Calibri"/>
              <a:cs typeface="Calibri"/>
              <a:sym typeface="Calibri"/>
            </a:endParaRPr>
          </a:p>
        </p:txBody>
      </p:sp>
      <p:sp>
        <p:nvSpPr>
          <p:cNvPr id="96" name="Google Shape;96;p7"/>
          <p:cNvSpPr/>
          <p:nvPr/>
        </p:nvSpPr>
        <p:spPr>
          <a:xfrm>
            <a:off x="2057400" y="2212848"/>
            <a:ext cx="9601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French neurologist presents a 43-year-old woman who denies the existence of God, the devil, and several parts of her body, and refuses food. He calls it le délire des négations (Berrios &amp; Luque, 1995).</a:t>
            </a:r>
            <a:endParaRPr b="0" i="0" sz="1100" u="none" cap="none" strike="noStrike">
              <a:solidFill>
                <a:schemeClr val="dk1"/>
              </a:solidFill>
              <a:latin typeface="Calibri"/>
              <a:ea typeface="Calibri"/>
              <a:cs typeface="Calibri"/>
              <a:sym typeface="Calibri"/>
            </a:endParaRPr>
          </a:p>
        </p:txBody>
      </p:sp>
      <p:sp>
        <p:nvSpPr>
          <p:cNvPr id="97" name="Google Shape;97;p7"/>
          <p:cNvSpPr/>
          <p:nvPr/>
        </p:nvSpPr>
        <p:spPr>
          <a:xfrm>
            <a:off x="777240" y="2788920"/>
            <a:ext cx="91440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2635"/>
              </a:buClr>
              <a:buSzPts val="1800"/>
              <a:buFont typeface="Georgia"/>
              <a:buNone/>
            </a:pPr>
            <a:r>
              <a:rPr b="1" i="0" lang="en-US" sz="1800" u="none" cap="none" strike="noStrike">
                <a:solidFill>
                  <a:srgbClr val="8B2635"/>
                </a:solidFill>
                <a:latin typeface="Georgia"/>
                <a:ea typeface="Georgia"/>
                <a:cs typeface="Georgia"/>
                <a:sym typeface="Georgia"/>
              </a:rPr>
              <a:t>1882</a:t>
            </a:r>
            <a:endParaRPr b="0" i="0" sz="1800" u="none" cap="none" strike="noStrike">
              <a:solidFill>
                <a:schemeClr val="dk1"/>
              </a:solidFill>
              <a:latin typeface="Calibri"/>
              <a:ea typeface="Calibri"/>
              <a:cs typeface="Calibri"/>
              <a:sym typeface="Calibri"/>
            </a:endParaRPr>
          </a:p>
        </p:txBody>
      </p:sp>
      <p:sp>
        <p:nvSpPr>
          <p:cNvPr id="98" name="Google Shape;98;p7"/>
          <p:cNvSpPr/>
          <p:nvPr/>
        </p:nvSpPr>
        <p:spPr>
          <a:xfrm>
            <a:off x="1682496" y="2953512"/>
            <a:ext cx="164592" cy="164592"/>
          </a:xfrm>
          <a:prstGeom prst="ellipse">
            <a:avLst/>
          </a:prstGeom>
          <a:solidFill>
            <a:srgbClr val="8B263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2057400" y="2788920"/>
            <a:ext cx="9601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Coined as a syndrome</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2057400" y="3081528"/>
            <a:ext cx="9601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Cotard formally separates the condition from melancholia, framing it as a form of agitated, anxious depression rather than a discrete disorder (Debruyne et al., 2009).</a:t>
            </a:r>
            <a:endParaRPr b="0" i="0" sz="1100" u="none" cap="none" strike="noStrike">
              <a:solidFill>
                <a:schemeClr val="dk1"/>
              </a:solidFill>
              <a:latin typeface="Calibri"/>
              <a:ea typeface="Calibri"/>
              <a:cs typeface="Calibri"/>
              <a:sym typeface="Calibri"/>
            </a:endParaRPr>
          </a:p>
        </p:txBody>
      </p:sp>
      <p:sp>
        <p:nvSpPr>
          <p:cNvPr id="101" name="Google Shape;101;p7"/>
          <p:cNvSpPr/>
          <p:nvPr/>
        </p:nvSpPr>
        <p:spPr>
          <a:xfrm>
            <a:off x="777240" y="3657600"/>
            <a:ext cx="91440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2635"/>
              </a:buClr>
              <a:buSzPts val="1800"/>
              <a:buFont typeface="Georgia"/>
              <a:buNone/>
            </a:pPr>
            <a:r>
              <a:rPr b="1" i="0" lang="en-US" sz="1800" u="none" cap="none" strike="noStrike">
                <a:solidFill>
                  <a:srgbClr val="8B2635"/>
                </a:solidFill>
                <a:latin typeface="Georgia"/>
                <a:ea typeface="Georgia"/>
                <a:cs typeface="Georgia"/>
                <a:sym typeface="Georgia"/>
              </a:rPr>
              <a:t>1893</a:t>
            </a:r>
            <a:endParaRPr b="0" i="0" sz="1800" u="none" cap="none" strike="noStrike">
              <a:solidFill>
                <a:schemeClr val="dk1"/>
              </a:solidFill>
              <a:latin typeface="Calibri"/>
              <a:ea typeface="Calibri"/>
              <a:cs typeface="Calibri"/>
              <a:sym typeface="Calibri"/>
            </a:endParaRPr>
          </a:p>
        </p:txBody>
      </p:sp>
      <p:sp>
        <p:nvSpPr>
          <p:cNvPr id="102" name="Google Shape;102;p7"/>
          <p:cNvSpPr/>
          <p:nvPr/>
        </p:nvSpPr>
        <p:spPr>
          <a:xfrm>
            <a:off x="1682496" y="3822192"/>
            <a:ext cx="164592" cy="164592"/>
          </a:xfrm>
          <a:prstGeom prst="ellipse">
            <a:avLst/>
          </a:prstGeom>
          <a:solidFill>
            <a:srgbClr val="8B263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2057400" y="3657600"/>
            <a:ext cx="9601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Renamed Cotard's Syndrome</a:t>
            </a:r>
            <a:endParaRPr b="0" i="0" sz="1400" u="none" cap="none" strike="noStrike">
              <a:solidFill>
                <a:schemeClr val="dk1"/>
              </a:solidFill>
              <a:latin typeface="Calibri"/>
              <a:ea typeface="Calibri"/>
              <a:cs typeface="Calibri"/>
              <a:sym typeface="Calibri"/>
            </a:endParaRPr>
          </a:p>
        </p:txBody>
      </p:sp>
      <p:sp>
        <p:nvSpPr>
          <p:cNvPr id="104" name="Google Shape;104;p7"/>
          <p:cNvSpPr/>
          <p:nvPr/>
        </p:nvSpPr>
        <p:spPr>
          <a:xfrm>
            <a:off x="2057400" y="3950208"/>
            <a:ext cx="9601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After Cotard's death (1889), Emil Régis names the condition in his honor; adoption spreads through European psychiatry (Berrios &amp; Luque, 1995).</a:t>
            </a:r>
            <a:endParaRPr b="0" i="0" sz="1100" u="none" cap="none" strike="noStrike">
              <a:solidFill>
                <a:schemeClr val="dk1"/>
              </a:solidFill>
              <a:latin typeface="Calibri"/>
              <a:ea typeface="Calibri"/>
              <a:cs typeface="Calibri"/>
              <a:sym typeface="Calibri"/>
            </a:endParaRPr>
          </a:p>
        </p:txBody>
      </p:sp>
      <p:sp>
        <p:nvSpPr>
          <p:cNvPr id="105" name="Google Shape;105;p7"/>
          <p:cNvSpPr/>
          <p:nvPr/>
        </p:nvSpPr>
        <p:spPr>
          <a:xfrm>
            <a:off x="777240" y="4526280"/>
            <a:ext cx="91440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2635"/>
              </a:buClr>
              <a:buSzPts val="1800"/>
              <a:buFont typeface="Georgia"/>
              <a:buNone/>
            </a:pPr>
            <a:r>
              <a:rPr b="1" i="0" lang="en-US" sz="1800" u="none" cap="none" strike="noStrike">
                <a:solidFill>
                  <a:srgbClr val="8B2635"/>
                </a:solidFill>
                <a:latin typeface="Georgia"/>
                <a:ea typeface="Georgia"/>
                <a:cs typeface="Georgia"/>
                <a:sym typeface="Georgia"/>
              </a:rPr>
              <a:t>1995</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1682496" y="4690872"/>
            <a:ext cx="164592" cy="164592"/>
          </a:xfrm>
          <a:prstGeom prst="ellipse">
            <a:avLst/>
          </a:prstGeom>
          <a:solidFill>
            <a:srgbClr val="8B263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2057400" y="4526280"/>
            <a:ext cx="9601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Berrios &amp; Luque reframe it</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2057400" y="4818888"/>
            <a:ext cx="9601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A 100-case statistical analysis in Acta Psychiatrica Scandinavica identifies three subtypes and treats Cotard's as a syndrome cluster rather than a single disorder.</a:t>
            </a:r>
            <a:endParaRPr b="0" i="0" sz="1100" u="none" cap="none" strike="noStrike">
              <a:solidFill>
                <a:schemeClr val="dk1"/>
              </a:solidFill>
              <a:latin typeface="Calibri"/>
              <a:ea typeface="Calibri"/>
              <a:cs typeface="Calibri"/>
              <a:sym typeface="Calibri"/>
            </a:endParaRPr>
          </a:p>
        </p:txBody>
      </p:sp>
      <p:sp>
        <p:nvSpPr>
          <p:cNvPr id="109" name="Google Shape;109;p7"/>
          <p:cNvSpPr/>
          <p:nvPr/>
        </p:nvSpPr>
        <p:spPr>
          <a:xfrm>
            <a:off x="777240" y="5394960"/>
            <a:ext cx="914400" cy="36576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B2635"/>
              </a:buClr>
              <a:buSzPts val="1800"/>
              <a:buFont typeface="Georgia"/>
              <a:buNone/>
            </a:pPr>
            <a:r>
              <a:rPr b="1" i="0" lang="en-US" sz="1800" u="none" cap="none" strike="noStrike">
                <a:solidFill>
                  <a:srgbClr val="8B2635"/>
                </a:solidFill>
                <a:latin typeface="Georgia"/>
                <a:ea typeface="Georgia"/>
                <a:cs typeface="Georgia"/>
                <a:sym typeface="Georgia"/>
              </a:rPr>
              <a:t>2026</a:t>
            </a:r>
            <a:endParaRPr b="0" i="0" sz="1800" u="none" cap="none" strike="noStrike">
              <a:solidFill>
                <a:schemeClr val="dk1"/>
              </a:solidFill>
              <a:latin typeface="Calibri"/>
              <a:ea typeface="Calibri"/>
              <a:cs typeface="Calibri"/>
              <a:sym typeface="Calibri"/>
            </a:endParaRPr>
          </a:p>
        </p:txBody>
      </p:sp>
      <p:sp>
        <p:nvSpPr>
          <p:cNvPr id="110" name="Google Shape;110;p7"/>
          <p:cNvSpPr/>
          <p:nvPr/>
        </p:nvSpPr>
        <p:spPr>
          <a:xfrm>
            <a:off x="1682496" y="5559552"/>
            <a:ext cx="164592" cy="164592"/>
          </a:xfrm>
          <a:prstGeom prst="ellipse">
            <a:avLst/>
          </a:prstGeom>
          <a:solidFill>
            <a:srgbClr val="8B263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2057400" y="5394960"/>
            <a:ext cx="9601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400"/>
              <a:buFont typeface="Calibri"/>
              <a:buNone/>
            </a:pPr>
            <a:r>
              <a:rPr b="1" i="0" lang="en-US" sz="1400" u="none" cap="none" strike="noStrike">
                <a:solidFill>
                  <a:srgbClr val="1A2332"/>
                </a:solidFill>
                <a:latin typeface="Calibri"/>
                <a:ea typeface="Calibri"/>
                <a:cs typeface="Calibri"/>
                <a:sym typeface="Calibri"/>
              </a:rPr>
              <a:t>Still not a DSM diagnosis</a:t>
            </a:r>
            <a:endParaRPr b="0" i="0" sz="1400" u="none" cap="none" strike="noStrike">
              <a:solidFill>
                <a:schemeClr val="dk1"/>
              </a:solidFill>
              <a:latin typeface="Calibri"/>
              <a:ea typeface="Calibri"/>
              <a:cs typeface="Calibri"/>
              <a:sym typeface="Calibri"/>
            </a:endParaRPr>
          </a:p>
        </p:txBody>
      </p:sp>
      <p:sp>
        <p:nvSpPr>
          <p:cNvPr id="112" name="Google Shape;112;p7"/>
          <p:cNvSpPr/>
          <p:nvPr/>
        </p:nvSpPr>
        <p:spPr>
          <a:xfrm>
            <a:off x="2057400" y="5687568"/>
            <a:ext cx="9601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DSM-5-TR and ICD-11 continue to subsume Cotard's under delusional disorder or psychotic depression; debate over standalone status continues (American Psychiatric Association, 2022).</a:t>
            </a:r>
            <a:endParaRPr b="0" i="0" sz="1100" u="none" cap="none" strike="noStrike">
              <a:solidFill>
                <a:schemeClr val="dk1"/>
              </a:solidFill>
              <a:latin typeface="Calibri"/>
              <a:ea typeface="Calibri"/>
              <a:cs typeface="Calibri"/>
              <a:sym typeface="Calibri"/>
            </a:endParaRPr>
          </a:p>
        </p:txBody>
      </p:sp>
      <p:sp>
        <p:nvSpPr>
          <p:cNvPr id="113" name="Google Shape;113;p7"/>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B  ·  HISTORY</a:t>
            </a:r>
            <a:endParaRPr b="0" i="0" sz="900" u="none" cap="none" strike="noStrike">
              <a:solidFill>
                <a:schemeClr val="dk1"/>
              </a:solidFill>
              <a:latin typeface="Calibri"/>
              <a:ea typeface="Calibri"/>
              <a:cs typeface="Calibri"/>
              <a:sym typeface="Calibri"/>
            </a:endParaRPr>
          </a:p>
        </p:txBody>
      </p:sp>
      <p:sp>
        <p:nvSpPr>
          <p:cNvPr id="114" name="Google Shape;114;p7"/>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5 / 13</a:t>
            </a:r>
            <a:endParaRPr b="0" i="0" sz="900" u="none" cap="none" strike="noStrike">
              <a:solidFill>
                <a:schemeClr val="dk1"/>
              </a:solidFill>
              <a:latin typeface="Calibri"/>
              <a:ea typeface="Calibri"/>
              <a:cs typeface="Calibri"/>
              <a:sym typeface="Calibri"/>
            </a:endParaRPr>
          </a:p>
        </p:txBody>
      </p:sp>
      <p:sp>
        <p:nvSpPr>
          <p:cNvPr id="115" name="Google Shape;115;p7"/>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8"/>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77724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Epidemiology</a:t>
            </a:r>
            <a:endParaRPr b="0" i="0" sz="3600" u="none" cap="none" strike="noStrike">
              <a:solidFill>
                <a:schemeClr val="dk1"/>
              </a:solidFill>
              <a:latin typeface="Calibri"/>
              <a:ea typeface="Calibri"/>
              <a:cs typeface="Calibri"/>
              <a:sym typeface="Calibri"/>
            </a:endParaRPr>
          </a:p>
        </p:txBody>
      </p:sp>
      <p:sp>
        <p:nvSpPr>
          <p:cNvPr id="123" name="Google Shape;123;p8"/>
          <p:cNvSpPr/>
          <p:nvPr/>
        </p:nvSpPr>
        <p:spPr>
          <a:xfrm>
            <a:off x="777240" y="1783080"/>
            <a:ext cx="3520440" cy="21945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777240" y="1783080"/>
            <a:ext cx="3520440" cy="4572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1005840" y="1920240"/>
            <a:ext cx="3108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4200"/>
              <a:buFont typeface="Georgia"/>
              <a:buNone/>
            </a:pPr>
            <a:r>
              <a:rPr b="1" i="0" lang="en-US" sz="4200" u="none" cap="none" strike="noStrike">
                <a:solidFill>
                  <a:srgbClr val="8B2635"/>
                </a:solidFill>
                <a:latin typeface="Georgia"/>
                <a:ea typeface="Georgia"/>
                <a:cs typeface="Georgia"/>
                <a:sym typeface="Georgia"/>
              </a:rPr>
              <a:t>0.57%</a:t>
            </a:r>
            <a:endParaRPr b="0" i="0" sz="4200" u="none" cap="none" strike="noStrike">
              <a:solidFill>
                <a:schemeClr val="dk1"/>
              </a:solidFill>
              <a:latin typeface="Calibri"/>
              <a:ea typeface="Calibri"/>
              <a:cs typeface="Calibri"/>
              <a:sym typeface="Calibri"/>
            </a:endParaRPr>
          </a:p>
        </p:txBody>
      </p:sp>
      <p:sp>
        <p:nvSpPr>
          <p:cNvPr id="126" name="Google Shape;126;p8"/>
          <p:cNvSpPr/>
          <p:nvPr/>
        </p:nvSpPr>
        <p:spPr>
          <a:xfrm>
            <a:off x="1005840" y="269748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Overall prevalence</a:t>
            </a:r>
            <a:endParaRPr b="0" i="0" sz="1300" u="none" cap="none" strike="noStrike">
              <a:solidFill>
                <a:schemeClr val="dk1"/>
              </a:solidFill>
              <a:latin typeface="Calibri"/>
              <a:ea typeface="Calibri"/>
              <a:cs typeface="Calibri"/>
              <a:sym typeface="Calibri"/>
            </a:endParaRPr>
          </a:p>
        </p:txBody>
      </p:sp>
      <p:sp>
        <p:nvSpPr>
          <p:cNvPr id="127" name="Google Shape;127;p8"/>
          <p:cNvSpPr/>
          <p:nvPr/>
        </p:nvSpPr>
        <p:spPr>
          <a:xfrm>
            <a:off x="1005840" y="301752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000"/>
              <a:buFont typeface="Calibri"/>
              <a:buNone/>
            </a:pPr>
            <a:r>
              <a:rPr b="0" i="0" lang="en-US" sz="1000" u="none" cap="none" strike="noStrike">
                <a:solidFill>
                  <a:srgbClr val="4A5563"/>
                </a:solidFill>
                <a:latin typeface="Calibri"/>
                <a:ea typeface="Calibri"/>
                <a:cs typeface="Calibri"/>
                <a:sym typeface="Calibri"/>
              </a:rPr>
              <a:t>of psychogeriatric inpatients in Hong Kong (n = 349)</a:t>
            </a:r>
            <a:endParaRPr b="0" i="0" sz="1000" u="none" cap="none" strike="noStrike">
              <a:solidFill>
                <a:schemeClr val="dk1"/>
              </a:solidFill>
              <a:latin typeface="Calibri"/>
              <a:ea typeface="Calibri"/>
              <a:cs typeface="Calibri"/>
              <a:sym typeface="Calibri"/>
            </a:endParaRPr>
          </a:p>
        </p:txBody>
      </p:sp>
      <p:sp>
        <p:nvSpPr>
          <p:cNvPr id="128" name="Google Shape;128;p8"/>
          <p:cNvSpPr/>
          <p:nvPr/>
        </p:nvSpPr>
        <p:spPr>
          <a:xfrm>
            <a:off x="1005840" y="365760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1" lang="en-US" sz="900" u="none" cap="none" strike="noStrike">
                <a:solidFill>
                  <a:srgbClr val="8A8F9A"/>
                </a:solidFill>
                <a:latin typeface="Calibri"/>
                <a:ea typeface="Calibri"/>
                <a:cs typeface="Calibri"/>
                <a:sym typeface="Calibri"/>
              </a:rPr>
              <a:t>Chiu, 1995</a:t>
            </a:r>
            <a:endParaRPr b="0" i="0" sz="900" u="none" cap="none" strike="noStrike">
              <a:solidFill>
                <a:schemeClr val="dk1"/>
              </a:solidFill>
              <a:latin typeface="Calibri"/>
              <a:ea typeface="Calibri"/>
              <a:cs typeface="Calibri"/>
              <a:sym typeface="Calibri"/>
            </a:endParaRPr>
          </a:p>
        </p:txBody>
      </p:sp>
      <p:sp>
        <p:nvSpPr>
          <p:cNvPr id="129" name="Google Shape;129;p8"/>
          <p:cNvSpPr/>
          <p:nvPr/>
        </p:nvSpPr>
        <p:spPr>
          <a:xfrm>
            <a:off x="4480560" y="1783080"/>
            <a:ext cx="3520440" cy="21945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4480560" y="1783080"/>
            <a:ext cx="3520440" cy="4572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4709160" y="1920240"/>
            <a:ext cx="3108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4200"/>
              <a:buFont typeface="Georgia"/>
              <a:buNone/>
            </a:pPr>
            <a:r>
              <a:rPr b="1" i="0" lang="en-US" sz="4200" u="none" cap="none" strike="noStrike">
                <a:solidFill>
                  <a:srgbClr val="8B2635"/>
                </a:solidFill>
                <a:latin typeface="Georgia"/>
                <a:ea typeface="Georgia"/>
                <a:cs typeface="Georgia"/>
                <a:sym typeface="Georgia"/>
              </a:rPr>
              <a:t>3.2%</a:t>
            </a:r>
            <a:endParaRPr b="0" i="0" sz="4200" u="none" cap="none" strike="noStrike">
              <a:solidFill>
                <a:schemeClr val="dk1"/>
              </a:solidFill>
              <a:latin typeface="Calibri"/>
              <a:ea typeface="Calibri"/>
              <a:cs typeface="Calibri"/>
              <a:sym typeface="Calibri"/>
            </a:endParaRPr>
          </a:p>
        </p:txBody>
      </p:sp>
      <p:sp>
        <p:nvSpPr>
          <p:cNvPr id="132" name="Google Shape;132;p8"/>
          <p:cNvSpPr/>
          <p:nvPr/>
        </p:nvSpPr>
        <p:spPr>
          <a:xfrm>
            <a:off x="4709160" y="269748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In severe late-life depression</a:t>
            </a:r>
            <a:endParaRPr b="0" i="0" sz="1300" u="none" cap="none" strike="noStrike">
              <a:solidFill>
                <a:schemeClr val="dk1"/>
              </a:solidFill>
              <a:latin typeface="Calibri"/>
              <a:ea typeface="Calibri"/>
              <a:cs typeface="Calibri"/>
              <a:sym typeface="Calibri"/>
            </a:endParaRPr>
          </a:p>
        </p:txBody>
      </p:sp>
      <p:sp>
        <p:nvSpPr>
          <p:cNvPr id="133" name="Google Shape;133;p8"/>
          <p:cNvSpPr/>
          <p:nvPr/>
        </p:nvSpPr>
        <p:spPr>
          <a:xfrm>
            <a:off x="4709160" y="301752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000"/>
              <a:buFont typeface="Calibri"/>
              <a:buNone/>
            </a:pPr>
            <a:r>
              <a:rPr b="0" i="0" lang="en-US" sz="1000" u="none" cap="none" strike="noStrike">
                <a:solidFill>
                  <a:srgbClr val="4A5563"/>
                </a:solidFill>
                <a:latin typeface="Calibri"/>
                <a:ea typeface="Calibri"/>
                <a:cs typeface="Calibri"/>
                <a:sym typeface="Calibri"/>
              </a:rPr>
              <a:t>rate climbs sharply with age and depression severity</a:t>
            </a:r>
            <a:endParaRPr b="0" i="0" sz="1000" u="none" cap="none" strike="noStrike">
              <a:solidFill>
                <a:schemeClr val="dk1"/>
              </a:solidFill>
              <a:latin typeface="Calibri"/>
              <a:ea typeface="Calibri"/>
              <a:cs typeface="Calibri"/>
              <a:sym typeface="Calibri"/>
            </a:endParaRPr>
          </a:p>
        </p:txBody>
      </p:sp>
      <p:sp>
        <p:nvSpPr>
          <p:cNvPr id="134" name="Google Shape;134;p8"/>
          <p:cNvSpPr/>
          <p:nvPr/>
        </p:nvSpPr>
        <p:spPr>
          <a:xfrm>
            <a:off x="4709160" y="365760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1" lang="en-US" sz="900" u="none" cap="none" strike="noStrike">
                <a:solidFill>
                  <a:srgbClr val="8A8F9A"/>
                </a:solidFill>
                <a:latin typeface="Calibri"/>
                <a:ea typeface="Calibri"/>
                <a:cs typeface="Calibri"/>
                <a:sym typeface="Calibri"/>
              </a:rPr>
              <a:t>Debruyne et al., 2009</a:t>
            </a:r>
            <a:endParaRPr b="0" i="0" sz="900" u="none" cap="none" strike="noStrike">
              <a:solidFill>
                <a:schemeClr val="dk1"/>
              </a:solidFill>
              <a:latin typeface="Calibri"/>
              <a:ea typeface="Calibri"/>
              <a:cs typeface="Calibri"/>
              <a:sym typeface="Calibri"/>
            </a:endParaRPr>
          </a:p>
        </p:txBody>
      </p:sp>
      <p:sp>
        <p:nvSpPr>
          <p:cNvPr id="135" name="Google Shape;135;p8"/>
          <p:cNvSpPr/>
          <p:nvPr/>
        </p:nvSpPr>
        <p:spPr>
          <a:xfrm>
            <a:off x="8183880" y="1783080"/>
            <a:ext cx="3520440" cy="21945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8183880" y="1783080"/>
            <a:ext cx="3520440" cy="4572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8412480" y="1920240"/>
            <a:ext cx="31089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4200"/>
              <a:buFont typeface="Georgia"/>
              <a:buNone/>
            </a:pPr>
            <a:r>
              <a:rPr b="1" i="0" lang="en-US" sz="4200" u="none" cap="none" strike="noStrike">
                <a:solidFill>
                  <a:srgbClr val="8B2635"/>
                </a:solidFill>
                <a:latin typeface="Georgia"/>
                <a:ea typeface="Georgia"/>
                <a:cs typeface="Georgia"/>
                <a:sym typeface="Georgia"/>
              </a:rPr>
              <a:t>≈ 1 : 1</a:t>
            </a:r>
            <a:endParaRPr b="0" i="0" sz="4200" u="none" cap="none" strike="noStrike">
              <a:solidFill>
                <a:schemeClr val="dk1"/>
              </a:solidFill>
              <a:latin typeface="Calibri"/>
              <a:ea typeface="Calibri"/>
              <a:cs typeface="Calibri"/>
              <a:sym typeface="Calibri"/>
            </a:endParaRPr>
          </a:p>
        </p:txBody>
      </p:sp>
      <p:sp>
        <p:nvSpPr>
          <p:cNvPr id="138" name="Google Shape;138;p8"/>
          <p:cNvSpPr/>
          <p:nvPr/>
        </p:nvSpPr>
        <p:spPr>
          <a:xfrm>
            <a:off x="8412480" y="2697480"/>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300"/>
              <a:buFont typeface="Calibri"/>
              <a:buNone/>
            </a:pPr>
            <a:r>
              <a:rPr b="1" i="0" lang="en-US" sz="1300" u="none" cap="none" strike="noStrike">
                <a:solidFill>
                  <a:srgbClr val="1A2332"/>
                </a:solidFill>
                <a:latin typeface="Calibri"/>
                <a:ea typeface="Calibri"/>
                <a:cs typeface="Calibri"/>
                <a:sym typeface="Calibri"/>
              </a:rPr>
              <a:t>Male : Female ratio</a:t>
            </a:r>
            <a:endParaRPr b="0" i="0" sz="1300" u="none" cap="none" strike="noStrike">
              <a:solidFill>
                <a:schemeClr val="dk1"/>
              </a:solidFill>
              <a:latin typeface="Calibri"/>
              <a:ea typeface="Calibri"/>
              <a:cs typeface="Calibri"/>
              <a:sym typeface="Calibri"/>
            </a:endParaRPr>
          </a:p>
        </p:txBody>
      </p:sp>
      <p:sp>
        <p:nvSpPr>
          <p:cNvPr id="139" name="Google Shape;139;p8"/>
          <p:cNvSpPr/>
          <p:nvPr/>
        </p:nvSpPr>
        <p:spPr>
          <a:xfrm>
            <a:off x="8412480" y="3017520"/>
            <a:ext cx="31089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000"/>
              <a:buFont typeface="Calibri"/>
              <a:buNone/>
            </a:pPr>
            <a:r>
              <a:rPr b="0" i="0" lang="en-US" sz="1000" u="none" cap="none" strike="noStrike">
                <a:solidFill>
                  <a:srgbClr val="4A5563"/>
                </a:solidFill>
                <a:latin typeface="Calibri"/>
                <a:ea typeface="Calibri"/>
                <a:cs typeface="Calibri"/>
                <a:sym typeface="Calibri"/>
              </a:rPr>
              <a:t>no significant gender difference across 100 cases</a:t>
            </a:r>
            <a:endParaRPr b="0" i="0" sz="1000" u="none" cap="none" strike="noStrike">
              <a:solidFill>
                <a:schemeClr val="dk1"/>
              </a:solidFill>
              <a:latin typeface="Calibri"/>
              <a:ea typeface="Calibri"/>
              <a:cs typeface="Calibri"/>
              <a:sym typeface="Calibri"/>
            </a:endParaRPr>
          </a:p>
        </p:txBody>
      </p:sp>
      <p:sp>
        <p:nvSpPr>
          <p:cNvPr id="140" name="Google Shape;140;p8"/>
          <p:cNvSpPr/>
          <p:nvPr/>
        </p:nvSpPr>
        <p:spPr>
          <a:xfrm>
            <a:off x="8412480" y="365760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1" lang="en-US" sz="900" u="none" cap="none" strike="noStrike">
                <a:solidFill>
                  <a:srgbClr val="8A8F9A"/>
                </a:solidFill>
                <a:latin typeface="Calibri"/>
                <a:ea typeface="Calibri"/>
                <a:cs typeface="Calibri"/>
                <a:sym typeface="Calibri"/>
              </a:rPr>
              <a:t>Berrios &amp; Luque, 1995</a:t>
            </a:r>
            <a:endParaRPr b="0" i="0" sz="900" u="none" cap="none" strike="noStrike">
              <a:solidFill>
                <a:schemeClr val="dk1"/>
              </a:solidFill>
              <a:latin typeface="Calibri"/>
              <a:ea typeface="Calibri"/>
              <a:cs typeface="Calibri"/>
              <a:sym typeface="Calibri"/>
            </a:endParaRPr>
          </a:p>
        </p:txBody>
      </p:sp>
      <p:sp>
        <p:nvSpPr>
          <p:cNvPr id="141" name="Google Shape;141;p8"/>
          <p:cNvSpPr/>
          <p:nvPr/>
        </p:nvSpPr>
        <p:spPr>
          <a:xfrm>
            <a:off x="777240" y="420624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TWO SUBGROUP COMPARISONS</a:t>
            </a:r>
            <a:endParaRPr b="0" i="0" sz="1000" u="none" cap="none" strike="noStrike">
              <a:solidFill>
                <a:schemeClr val="dk1"/>
              </a:solidFill>
              <a:latin typeface="Calibri"/>
              <a:ea typeface="Calibri"/>
              <a:cs typeface="Calibri"/>
              <a:sym typeface="Calibri"/>
            </a:endParaRPr>
          </a:p>
        </p:txBody>
      </p:sp>
      <p:sp>
        <p:nvSpPr>
          <p:cNvPr id="142" name="Google Shape;142;p8"/>
          <p:cNvSpPr/>
          <p:nvPr/>
        </p:nvSpPr>
        <p:spPr>
          <a:xfrm>
            <a:off x="777240" y="4526280"/>
            <a:ext cx="106070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By age:  </a:t>
            </a:r>
            <a:r>
              <a:rPr b="0" i="0" lang="en-US" sz="1200" u="none" cap="none" strike="noStrike">
                <a:solidFill>
                  <a:srgbClr val="1A2332"/>
                </a:solidFill>
                <a:latin typeface="Calibri"/>
                <a:ea typeface="Calibri"/>
                <a:cs typeface="Calibri"/>
                <a:sym typeface="Calibri"/>
              </a:rPr>
              <a:t>Cotard's risk increases with age. Berrios &amp; Luque (1995) and Huarcaya-Victoria et al. (2020) both found major depression and organic brain disorders are significantly more common in older Cotard's cases (p &lt; 0.001). Nearly absent in pre-pubertal children—only a handful of pediatric cases ever reported.</a:t>
            </a:r>
            <a:endParaRPr b="0" i="0" sz="1200" u="none" cap="none" strike="noStrike">
              <a:solidFill>
                <a:schemeClr val="dk1"/>
              </a:solidFill>
              <a:latin typeface="Calibri"/>
              <a:ea typeface="Calibri"/>
              <a:cs typeface="Calibri"/>
              <a:sym typeface="Calibri"/>
            </a:endParaRPr>
          </a:p>
        </p:txBody>
      </p:sp>
      <p:sp>
        <p:nvSpPr>
          <p:cNvPr id="143" name="Google Shape;143;p8"/>
          <p:cNvSpPr/>
          <p:nvPr/>
        </p:nvSpPr>
        <p:spPr>
          <a:xfrm>
            <a:off x="777240" y="5349240"/>
            <a:ext cx="106070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By underlying diagnosis:  </a:t>
            </a:r>
            <a:r>
              <a:rPr b="0" i="0" lang="en-US" sz="1200" u="none" cap="none" strike="noStrike">
                <a:solidFill>
                  <a:srgbClr val="1A2332"/>
                </a:solidFill>
                <a:latin typeface="Calibri"/>
                <a:ea typeface="Calibri"/>
                <a:cs typeface="Calibri"/>
                <a:sym typeface="Calibri"/>
              </a:rPr>
              <a:t>roughly 60–70% of cases occur within psychiatric illness (psychotic depression, schizophrenia spectrum); the remainder are linked to organic neurological conditions including TBI, multiple sclerosis, brain tumors, epilepsy, migraine, and adverse reactions to valacyclovir, bridging psychiatry and neurology (Ramirez-Bermudez et al., 2010).</a:t>
            </a:r>
            <a:endParaRPr b="0" i="0" sz="1200" u="none" cap="none" strike="noStrike">
              <a:solidFill>
                <a:schemeClr val="dk1"/>
              </a:solidFill>
              <a:latin typeface="Calibri"/>
              <a:ea typeface="Calibri"/>
              <a:cs typeface="Calibri"/>
              <a:sym typeface="Calibri"/>
            </a:endParaRPr>
          </a:p>
        </p:txBody>
      </p:sp>
      <p:sp>
        <p:nvSpPr>
          <p:cNvPr id="144" name="Google Shape;144;p8"/>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C  ·  EPIDEMIOLOGY</a:t>
            </a:r>
            <a:endParaRPr b="0" i="0" sz="900" u="none" cap="none" strike="noStrike">
              <a:solidFill>
                <a:schemeClr val="dk1"/>
              </a:solidFill>
              <a:latin typeface="Calibri"/>
              <a:ea typeface="Calibri"/>
              <a:cs typeface="Calibri"/>
              <a:sym typeface="Calibri"/>
            </a:endParaRPr>
          </a:p>
        </p:txBody>
      </p:sp>
      <p:sp>
        <p:nvSpPr>
          <p:cNvPr id="145" name="Google Shape;145;p8"/>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6 / 13</a:t>
            </a:r>
            <a:endParaRPr b="0" i="0" sz="900" u="none" cap="none" strike="noStrike">
              <a:solidFill>
                <a:schemeClr val="dk1"/>
              </a:solidFill>
              <a:latin typeface="Calibri"/>
              <a:ea typeface="Calibri"/>
              <a:cs typeface="Calibri"/>
              <a:sym typeface="Calibri"/>
            </a:endParaRPr>
          </a:p>
        </p:txBody>
      </p:sp>
      <p:sp>
        <p:nvSpPr>
          <p:cNvPr id="146" name="Google Shape;146;p8"/>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9"/>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777240" y="5029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Etiology  ·  Biological Basis</a:t>
            </a:r>
            <a:endParaRPr b="0" i="0" sz="3600" u="none" cap="none" strike="noStrike">
              <a:solidFill>
                <a:schemeClr val="dk1"/>
              </a:solidFill>
              <a:latin typeface="Calibri"/>
              <a:ea typeface="Calibri"/>
              <a:cs typeface="Calibri"/>
              <a:sym typeface="Calibri"/>
            </a:endParaRPr>
          </a:p>
        </p:txBody>
      </p:sp>
      <p:sp>
        <p:nvSpPr>
          <p:cNvPr id="154" name="Google Shape;154;p9"/>
          <p:cNvSpPr/>
          <p:nvPr/>
        </p:nvSpPr>
        <p:spPr>
          <a:xfrm>
            <a:off x="7863840" y="1828800"/>
            <a:ext cx="3840480" cy="411480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8046720" y="1965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IMPLICATED REGIONS</a:t>
            </a:r>
            <a:endParaRPr b="0" i="0" sz="1000" u="none" cap="none" strike="noStrike">
              <a:solidFill>
                <a:schemeClr val="dk1"/>
              </a:solidFill>
              <a:latin typeface="Calibri"/>
              <a:ea typeface="Calibri"/>
              <a:cs typeface="Calibri"/>
              <a:sym typeface="Calibri"/>
            </a:endParaRPr>
          </a:p>
        </p:txBody>
      </p:sp>
      <p:sp>
        <p:nvSpPr>
          <p:cNvPr id="156" name="Google Shape;156;p9"/>
          <p:cNvSpPr/>
          <p:nvPr/>
        </p:nvSpPr>
        <p:spPr>
          <a:xfrm>
            <a:off x="8321040" y="2468880"/>
            <a:ext cx="2926080" cy="2194560"/>
          </a:xfrm>
          <a:prstGeom prst="ellipse">
            <a:avLst/>
          </a:prstGeom>
          <a:solidFill>
            <a:srgbClr val="FFFFFF"/>
          </a:solidFill>
          <a:ln cap="flat" cmpd="sng" w="19050">
            <a:solidFill>
              <a:srgbClr val="1A23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8366760" y="2606040"/>
            <a:ext cx="1097280" cy="1371600"/>
          </a:xfrm>
          <a:prstGeom prst="ellipse">
            <a:avLst/>
          </a:prstGeom>
          <a:solidFill>
            <a:srgbClr val="8B2635">
              <a:alpha val="30196"/>
            </a:srgbClr>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9326880" y="2514600"/>
            <a:ext cx="1097280" cy="914400"/>
          </a:xfrm>
          <a:prstGeom prst="ellipse">
            <a:avLst/>
          </a:prstGeom>
          <a:solidFill>
            <a:srgbClr val="8B2635">
              <a:alpha val="40000"/>
            </a:srgbClr>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9144000" y="3566160"/>
            <a:ext cx="1371600" cy="640080"/>
          </a:xfrm>
          <a:prstGeom prst="ellipse">
            <a:avLst/>
          </a:prstGeom>
          <a:solidFill>
            <a:srgbClr val="8B2635">
              <a:alpha val="25098"/>
            </a:srgbClr>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0149840" y="3840480"/>
            <a:ext cx="365760" cy="274320"/>
          </a:xfrm>
          <a:prstGeom prst="ellipse">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8183880" y="283464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Calibri"/>
              <a:buNone/>
            </a:pPr>
            <a:r>
              <a:rPr b="1" i="1" lang="en-US" sz="1000" u="none" cap="none" strike="noStrike">
                <a:solidFill>
                  <a:srgbClr val="1A2332"/>
                </a:solidFill>
                <a:latin typeface="Calibri"/>
                <a:ea typeface="Calibri"/>
                <a:cs typeface="Calibri"/>
                <a:sym typeface="Calibri"/>
              </a:rPr>
              <a:t>Frontal</a:t>
            </a:r>
            <a:endParaRPr b="0" i="0" sz="1000" u="none" cap="none" strike="noStrike">
              <a:solidFill>
                <a:schemeClr val="dk1"/>
              </a:solidFill>
              <a:latin typeface="Calibri"/>
              <a:ea typeface="Calibri"/>
              <a:cs typeface="Calibri"/>
              <a:sym typeface="Calibri"/>
            </a:endParaRPr>
          </a:p>
        </p:txBody>
      </p:sp>
      <p:sp>
        <p:nvSpPr>
          <p:cNvPr id="162" name="Google Shape;162;p9"/>
          <p:cNvSpPr/>
          <p:nvPr/>
        </p:nvSpPr>
        <p:spPr>
          <a:xfrm>
            <a:off x="9555480" y="2697480"/>
            <a:ext cx="914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Calibri"/>
              <a:buNone/>
            </a:pPr>
            <a:r>
              <a:rPr b="1" i="1" lang="en-US" sz="1000" u="none" cap="none" strike="noStrike">
                <a:solidFill>
                  <a:srgbClr val="1A2332"/>
                </a:solidFill>
                <a:latin typeface="Calibri"/>
                <a:ea typeface="Calibri"/>
                <a:cs typeface="Calibri"/>
                <a:sym typeface="Calibri"/>
              </a:rPr>
              <a:t>Parietal</a:t>
            </a:r>
            <a:endParaRPr b="0" i="0" sz="1000" u="none" cap="none" strike="noStrike">
              <a:solidFill>
                <a:schemeClr val="dk1"/>
              </a:solidFill>
              <a:latin typeface="Calibri"/>
              <a:ea typeface="Calibri"/>
              <a:cs typeface="Calibri"/>
              <a:sym typeface="Calibri"/>
            </a:endParaRPr>
          </a:p>
        </p:txBody>
      </p:sp>
      <p:sp>
        <p:nvSpPr>
          <p:cNvPr id="163" name="Google Shape;163;p9"/>
          <p:cNvSpPr/>
          <p:nvPr/>
        </p:nvSpPr>
        <p:spPr>
          <a:xfrm>
            <a:off x="9281160" y="3794760"/>
            <a:ext cx="10058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000"/>
              <a:buFont typeface="Calibri"/>
              <a:buNone/>
            </a:pPr>
            <a:r>
              <a:rPr b="1" i="1" lang="en-US" sz="1000" u="none" cap="none" strike="noStrike">
                <a:solidFill>
                  <a:srgbClr val="1A2332"/>
                </a:solidFill>
                <a:latin typeface="Calibri"/>
                <a:ea typeface="Calibri"/>
                <a:cs typeface="Calibri"/>
                <a:sym typeface="Calibri"/>
              </a:rPr>
              <a:t>Temporal</a:t>
            </a:r>
            <a:endParaRPr b="0" i="0" sz="1000" u="none" cap="none" strike="noStrike">
              <a:solidFill>
                <a:schemeClr val="dk1"/>
              </a:solidFill>
              <a:latin typeface="Calibri"/>
              <a:ea typeface="Calibri"/>
              <a:cs typeface="Calibri"/>
              <a:sym typeface="Calibri"/>
            </a:endParaRPr>
          </a:p>
        </p:txBody>
      </p:sp>
      <p:sp>
        <p:nvSpPr>
          <p:cNvPr id="164" name="Google Shape;164;p9"/>
          <p:cNvSpPr/>
          <p:nvPr/>
        </p:nvSpPr>
        <p:spPr>
          <a:xfrm>
            <a:off x="8046720" y="4754880"/>
            <a:ext cx="34747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000"/>
              <a:buFont typeface="Calibri"/>
              <a:buNone/>
            </a:pPr>
            <a:r>
              <a:rPr b="0" i="1" lang="en-US" sz="1000" u="none" cap="none" strike="noStrike">
                <a:solidFill>
                  <a:srgbClr val="4A5563"/>
                </a:solidFill>
                <a:latin typeface="Calibri"/>
                <a:ea typeface="Calibri"/>
                <a:cs typeface="Calibri"/>
                <a:sym typeface="Calibri"/>
              </a:rPr>
              <a:t>Non-dominant hemisphere bias: lesions and hypoperfusion concentrated in the right (and sometimes left) frontal–parietal–temporal network.</a:t>
            </a:r>
            <a:endParaRPr b="0" i="0" sz="1000" u="none" cap="none" strike="noStrike">
              <a:solidFill>
                <a:schemeClr val="dk1"/>
              </a:solidFill>
              <a:latin typeface="Calibri"/>
              <a:ea typeface="Calibri"/>
              <a:cs typeface="Calibri"/>
              <a:sym typeface="Calibri"/>
            </a:endParaRPr>
          </a:p>
        </p:txBody>
      </p:sp>
      <p:sp>
        <p:nvSpPr>
          <p:cNvPr id="165" name="Google Shape;165;p9"/>
          <p:cNvSpPr/>
          <p:nvPr/>
        </p:nvSpPr>
        <p:spPr>
          <a:xfrm>
            <a:off x="777240" y="17830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STRUCTURAL &amp; FUNCTIONAL</a:t>
            </a:r>
            <a:endParaRPr b="0" i="0" sz="1000" u="none" cap="none" strike="noStrike">
              <a:solidFill>
                <a:schemeClr val="dk1"/>
              </a:solidFill>
              <a:latin typeface="Calibri"/>
              <a:ea typeface="Calibri"/>
              <a:cs typeface="Calibri"/>
              <a:sym typeface="Calibri"/>
            </a:endParaRPr>
          </a:p>
        </p:txBody>
      </p:sp>
      <p:sp>
        <p:nvSpPr>
          <p:cNvPr id="166" name="Google Shape;166;p9"/>
          <p:cNvSpPr/>
          <p:nvPr/>
        </p:nvSpPr>
        <p:spPr>
          <a:xfrm>
            <a:off x="777240" y="2103120"/>
            <a:ext cx="6858000" cy="25603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Frontal–parietal–temporal hypoperfusion</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SPECT scans show reduced blood flow in non-dominant hemisphere; abnormalities resolve after ECT (Petracca et al., 1995).</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Median frontal lobe atrophy</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Higher rates of cerebral atrophy than controls (Joseph &amp; O'Leary, 1986).</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Fusiform gyrus involvement</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Disrupts self-recognition; sister mechanism to Capgras delusion.</a:t>
            </a:r>
            <a:endParaRPr b="0" i="0" sz="1200" u="none" cap="none" strike="noStrike">
              <a:solidFill>
                <a:schemeClr val="dk1"/>
              </a:solidFill>
              <a:latin typeface="Calibri"/>
              <a:ea typeface="Calibri"/>
              <a:cs typeface="Calibri"/>
              <a:sym typeface="Calibri"/>
            </a:endParaRPr>
          </a:p>
        </p:txBody>
      </p:sp>
      <p:sp>
        <p:nvSpPr>
          <p:cNvPr id="167" name="Google Shape;167;p9"/>
          <p:cNvSpPr/>
          <p:nvPr/>
        </p:nvSpPr>
        <p:spPr>
          <a:xfrm>
            <a:off x="777240" y="47548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NEUROCHEMISTRY</a:t>
            </a:r>
            <a:endParaRPr b="0" i="0" sz="1000" u="none" cap="none" strike="noStrike">
              <a:solidFill>
                <a:schemeClr val="dk1"/>
              </a:solidFill>
              <a:latin typeface="Calibri"/>
              <a:ea typeface="Calibri"/>
              <a:cs typeface="Calibri"/>
              <a:sym typeface="Calibri"/>
            </a:endParaRPr>
          </a:p>
        </p:txBody>
      </p:sp>
      <p:sp>
        <p:nvSpPr>
          <p:cNvPr id="168" name="Google Shape;168;p9"/>
          <p:cNvSpPr/>
          <p:nvPr/>
        </p:nvSpPr>
        <p:spPr>
          <a:xfrm>
            <a:off x="777240" y="5074920"/>
            <a:ext cx="68580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Dopamine:</a:t>
            </a:r>
            <a:r>
              <a:rPr b="0" i="0" lang="en-US" sz="1200" u="none" cap="none" strike="noStrike">
                <a:solidFill>
                  <a:srgbClr val="1A2332"/>
                </a:solidFill>
                <a:latin typeface="Calibri"/>
                <a:ea typeface="Calibri"/>
                <a:cs typeface="Calibri"/>
                <a:sym typeface="Calibri"/>
              </a:rPr>
              <a:t> reduced striatal D2 receptor binding; Cotard's responds to dopamine-modulating antipsychotics like clozapine (De Risio et al., 2004).  </a:t>
            </a:r>
            <a:r>
              <a:rPr b="1" i="0" lang="en-US" sz="1200" u="none" cap="none" strike="noStrike">
                <a:solidFill>
                  <a:srgbClr val="1A2332"/>
                </a:solidFill>
                <a:latin typeface="Calibri"/>
                <a:ea typeface="Calibri"/>
                <a:cs typeface="Calibri"/>
                <a:sym typeface="Calibri"/>
              </a:rPr>
              <a:t>Serotonin:</a:t>
            </a:r>
            <a:r>
              <a:rPr b="0" i="0" lang="en-US" sz="1200" u="none" cap="none" strike="noStrike">
                <a:solidFill>
                  <a:srgbClr val="1A2332"/>
                </a:solidFill>
                <a:latin typeface="Calibri"/>
                <a:ea typeface="Calibri"/>
                <a:cs typeface="Calibri"/>
                <a:sym typeface="Calibri"/>
              </a:rPr>
              <a:t> low serotonin tone consistent with the strong depression overlap; SSRIs help in depressive subtypes.</a:t>
            </a:r>
            <a:endParaRPr b="0" i="0" sz="1200" u="none" cap="none" strike="noStrike">
              <a:solidFill>
                <a:schemeClr val="dk1"/>
              </a:solidFill>
              <a:latin typeface="Calibri"/>
              <a:ea typeface="Calibri"/>
              <a:cs typeface="Calibri"/>
              <a:sym typeface="Calibri"/>
            </a:endParaRPr>
          </a:p>
        </p:txBody>
      </p:sp>
      <p:sp>
        <p:nvSpPr>
          <p:cNvPr id="169" name="Google Shape;169;p9"/>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D  ·  ETIOLOGY</a:t>
            </a:r>
            <a:endParaRPr b="0" i="0" sz="900" u="none" cap="none" strike="noStrike">
              <a:solidFill>
                <a:schemeClr val="dk1"/>
              </a:solidFill>
              <a:latin typeface="Calibri"/>
              <a:ea typeface="Calibri"/>
              <a:cs typeface="Calibri"/>
              <a:sym typeface="Calibri"/>
            </a:endParaRPr>
          </a:p>
        </p:txBody>
      </p:sp>
      <p:sp>
        <p:nvSpPr>
          <p:cNvPr id="170" name="Google Shape;170;p9"/>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7 / 13</a:t>
            </a:r>
            <a:endParaRPr b="0" i="0" sz="900" u="none" cap="none" strike="noStrike">
              <a:solidFill>
                <a:schemeClr val="dk1"/>
              </a:solidFill>
              <a:latin typeface="Calibri"/>
              <a:ea typeface="Calibri"/>
              <a:cs typeface="Calibri"/>
              <a:sym typeface="Calibri"/>
            </a:endParaRPr>
          </a:p>
        </p:txBody>
      </p:sp>
      <p:sp>
        <p:nvSpPr>
          <p:cNvPr id="171" name="Google Shape;171;p9"/>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0"/>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777240" y="5029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Etiology  ·  Cognitive Models</a:t>
            </a:r>
            <a:endParaRPr b="0" i="0" sz="3600" u="none" cap="none" strike="noStrike">
              <a:solidFill>
                <a:schemeClr val="dk1"/>
              </a:solidFill>
              <a:latin typeface="Calibri"/>
              <a:ea typeface="Calibri"/>
              <a:cs typeface="Calibri"/>
              <a:sym typeface="Calibri"/>
            </a:endParaRPr>
          </a:p>
        </p:txBody>
      </p:sp>
      <p:sp>
        <p:nvSpPr>
          <p:cNvPr id="179" name="Google Shape;179;p10"/>
          <p:cNvSpPr/>
          <p:nvPr/>
        </p:nvSpPr>
        <p:spPr>
          <a:xfrm>
            <a:off x="777240" y="1783080"/>
            <a:ext cx="10607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100"/>
              <a:buFont typeface="Calibri"/>
              <a:buNone/>
            </a:pPr>
            <a:r>
              <a:rPr b="1" i="0" lang="en-US" sz="1100" u="none" cap="none" strike="noStrike">
                <a:solidFill>
                  <a:srgbClr val="8B2635"/>
                </a:solidFill>
                <a:latin typeface="Calibri"/>
                <a:ea typeface="Calibri"/>
                <a:cs typeface="Calibri"/>
                <a:sym typeface="Calibri"/>
              </a:rPr>
              <a:t>THE “MIRROR” MODEL  ·  Young &amp; Leafhead (1996)</a:t>
            </a:r>
            <a:endParaRPr b="0" i="0" sz="1100" u="none" cap="none" strike="noStrike">
              <a:solidFill>
                <a:schemeClr val="dk1"/>
              </a:solidFill>
              <a:latin typeface="Calibri"/>
              <a:ea typeface="Calibri"/>
              <a:cs typeface="Calibri"/>
              <a:sym typeface="Calibri"/>
            </a:endParaRPr>
          </a:p>
        </p:txBody>
      </p:sp>
      <p:sp>
        <p:nvSpPr>
          <p:cNvPr id="180" name="Google Shape;180;p10"/>
          <p:cNvSpPr/>
          <p:nvPr/>
        </p:nvSpPr>
        <p:spPr>
          <a:xfrm>
            <a:off x="777240" y="2057400"/>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1200"/>
              <a:buFont typeface="Calibri"/>
              <a:buNone/>
            </a:pPr>
            <a:r>
              <a:rPr b="0" i="1" lang="en-US" sz="1200" u="none" cap="none" strike="noStrike">
                <a:solidFill>
                  <a:srgbClr val="4A5563"/>
                </a:solidFill>
                <a:latin typeface="Calibri"/>
                <a:ea typeface="Calibri"/>
                <a:cs typeface="Calibri"/>
                <a:sym typeface="Calibri"/>
              </a:rPr>
              <a:t>Both Cotard's and Capgras delusions follow when perceptual recognition is intact but the limbic emotional response is disconnected—the brain confabulates an explanation.</a:t>
            </a:r>
            <a:endParaRPr b="0" i="0" sz="1200" u="none" cap="none" strike="noStrike">
              <a:solidFill>
                <a:schemeClr val="dk1"/>
              </a:solidFill>
              <a:latin typeface="Calibri"/>
              <a:ea typeface="Calibri"/>
              <a:cs typeface="Calibri"/>
              <a:sym typeface="Calibri"/>
            </a:endParaRPr>
          </a:p>
        </p:txBody>
      </p:sp>
      <p:sp>
        <p:nvSpPr>
          <p:cNvPr id="181" name="Google Shape;181;p10"/>
          <p:cNvSpPr/>
          <p:nvPr/>
        </p:nvSpPr>
        <p:spPr>
          <a:xfrm>
            <a:off x="777240" y="2743200"/>
            <a:ext cx="5212080" cy="228600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777240" y="2743200"/>
            <a:ext cx="45720" cy="2286000"/>
          </a:xfrm>
          <a:prstGeom prst="rect">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960120" y="288036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670"/>
              </a:buClr>
              <a:buSzPts val="1000"/>
              <a:buFont typeface="Calibri"/>
              <a:buNone/>
            </a:pPr>
            <a:r>
              <a:rPr b="1" i="0" lang="en-US" sz="1000" u="none" cap="none" strike="noStrike">
                <a:solidFill>
                  <a:srgbClr val="4A6670"/>
                </a:solidFill>
                <a:latin typeface="Calibri"/>
                <a:ea typeface="Calibri"/>
                <a:cs typeface="Calibri"/>
                <a:sym typeface="Calibri"/>
              </a:rPr>
              <a:t>CAPGRAS DELUSION</a:t>
            </a:r>
            <a:endParaRPr b="0" i="0" sz="1000" u="none" cap="none" strike="noStrike">
              <a:solidFill>
                <a:schemeClr val="dk1"/>
              </a:solidFill>
              <a:latin typeface="Calibri"/>
              <a:ea typeface="Calibri"/>
              <a:cs typeface="Calibri"/>
              <a:sym typeface="Calibri"/>
            </a:endParaRPr>
          </a:p>
        </p:txBody>
      </p:sp>
      <p:sp>
        <p:nvSpPr>
          <p:cNvPr id="184" name="Google Shape;184;p10"/>
          <p:cNvSpPr/>
          <p:nvPr/>
        </p:nvSpPr>
        <p:spPr>
          <a:xfrm>
            <a:off x="960120" y="3200400"/>
            <a:ext cx="4937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“This person looks like my mother—but feels unfamiliar. So she must be an impostor.”</a:t>
            </a:r>
            <a:endParaRPr b="0" i="0" sz="1300" u="none" cap="none" strike="noStrike">
              <a:solidFill>
                <a:schemeClr val="dk1"/>
              </a:solidFill>
              <a:latin typeface="Calibri"/>
              <a:ea typeface="Calibri"/>
              <a:cs typeface="Calibri"/>
              <a:sym typeface="Calibri"/>
            </a:endParaRPr>
          </a:p>
        </p:txBody>
      </p:sp>
      <p:sp>
        <p:nvSpPr>
          <p:cNvPr id="185" name="Google Shape;185;p10"/>
          <p:cNvSpPr/>
          <p:nvPr/>
        </p:nvSpPr>
        <p:spPr>
          <a:xfrm>
            <a:off x="960120" y="4069080"/>
            <a:ext cx="49377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1" i="0" lang="en-US" sz="1100" u="none" cap="none" strike="noStrike">
                <a:solidFill>
                  <a:srgbClr val="4A5563"/>
                </a:solidFill>
                <a:latin typeface="Calibri"/>
                <a:ea typeface="Calibri"/>
                <a:cs typeface="Calibri"/>
                <a:sym typeface="Calibri"/>
              </a:rPr>
              <a:t>Trigger: </a:t>
            </a:r>
            <a:r>
              <a:rPr b="0" i="0" lang="en-US" sz="1100" u="none" cap="none" strike="noStrike">
                <a:solidFill>
                  <a:srgbClr val="4A5563"/>
                </a:solidFill>
                <a:latin typeface="Calibri"/>
                <a:ea typeface="Calibri"/>
                <a:cs typeface="Calibri"/>
                <a:sym typeface="Calibri"/>
              </a:rPr>
              <a:t>loss of emotional response to </a:t>
            </a:r>
            <a:r>
              <a:rPr b="0" i="1" lang="en-US" sz="1100" u="none" cap="none" strike="noStrike">
                <a:solidFill>
                  <a:srgbClr val="4A5563"/>
                </a:solidFill>
                <a:latin typeface="Calibri"/>
                <a:ea typeface="Calibri"/>
                <a:cs typeface="Calibri"/>
                <a:sym typeface="Calibri"/>
              </a:rPr>
              <a:t>external</a:t>
            </a:r>
            <a:r>
              <a:rPr b="0" i="0" lang="en-US" sz="1100" u="none" cap="none" strike="noStrike">
                <a:solidFill>
                  <a:srgbClr val="4A5563"/>
                </a:solidFill>
                <a:latin typeface="Calibri"/>
                <a:ea typeface="Calibri"/>
                <a:cs typeface="Calibri"/>
                <a:sym typeface="Calibri"/>
              </a:rPr>
              <a:t> familiar faces.</a:t>
            </a:r>
            <a:endParaRPr b="0" i="0" sz="1100" u="none" cap="none" strike="noStrike">
              <a:solidFill>
                <a:schemeClr val="dk1"/>
              </a:solidFill>
              <a:latin typeface="Calibri"/>
              <a:ea typeface="Calibri"/>
              <a:cs typeface="Calibri"/>
              <a:sym typeface="Calibri"/>
            </a:endParaRPr>
          </a:p>
        </p:txBody>
      </p:sp>
      <p:sp>
        <p:nvSpPr>
          <p:cNvPr id="186" name="Google Shape;186;p10"/>
          <p:cNvSpPr/>
          <p:nvPr/>
        </p:nvSpPr>
        <p:spPr>
          <a:xfrm>
            <a:off x="960120" y="4434840"/>
            <a:ext cx="49377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1" i="0" lang="en-US" sz="1100" u="none" cap="none" strike="noStrike">
                <a:solidFill>
                  <a:srgbClr val="4A5563"/>
                </a:solidFill>
                <a:latin typeface="Calibri"/>
                <a:ea typeface="Calibri"/>
                <a:cs typeface="Calibri"/>
                <a:sym typeface="Calibri"/>
              </a:rPr>
              <a:t>Confabulation: </a:t>
            </a:r>
            <a:r>
              <a:rPr b="0" i="0" lang="en-US" sz="1100" u="none" cap="none" strike="noStrike">
                <a:solidFill>
                  <a:srgbClr val="4A5563"/>
                </a:solidFill>
                <a:latin typeface="Calibri"/>
                <a:ea typeface="Calibri"/>
                <a:cs typeface="Calibri"/>
                <a:sym typeface="Calibri"/>
              </a:rPr>
              <a:t>blame the world—“she's been replaced.”</a:t>
            </a:r>
            <a:endParaRPr b="0" i="0" sz="1100" u="none" cap="none" strike="noStrike">
              <a:solidFill>
                <a:schemeClr val="dk1"/>
              </a:solidFill>
              <a:latin typeface="Calibri"/>
              <a:ea typeface="Calibri"/>
              <a:cs typeface="Calibri"/>
              <a:sym typeface="Calibri"/>
            </a:endParaRPr>
          </a:p>
        </p:txBody>
      </p:sp>
      <p:sp>
        <p:nvSpPr>
          <p:cNvPr id="187" name="Google Shape;187;p10"/>
          <p:cNvSpPr/>
          <p:nvPr/>
        </p:nvSpPr>
        <p:spPr>
          <a:xfrm>
            <a:off x="6172200" y="2743200"/>
            <a:ext cx="5212080" cy="2286000"/>
          </a:xfrm>
          <a:prstGeom prst="rect">
            <a:avLst/>
          </a:prstGeom>
          <a:solidFill>
            <a:srgbClr val="E8DCD9"/>
          </a:solidFill>
          <a:ln cap="flat" cmpd="sng" w="12700">
            <a:solidFill>
              <a:srgbClr val="E8DC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6172200" y="2743200"/>
            <a:ext cx="45720" cy="22860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6355080" y="288036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COTARD'S DELUSION</a:t>
            </a:r>
            <a:endParaRPr b="0" i="0" sz="1000" u="none" cap="none" strike="noStrike">
              <a:solidFill>
                <a:schemeClr val="dk1"/>
              </a:solidFill>
              <a:latin typeface="Calibri"/>
              <a:ea typeface="Calibri"/>
              <a:cs typeface="Calibri"/>
              <a:sym typeface="Calibri"/>
            </a:endParaRPr>
          </a:p>
        </p:txBody>
      </p:sp>
      <p:sp>
        <p:nvSpPr>
          <p:cNvPr id="190" name="Google Shape;190;p10"/>
          <p:cNvSpPr/>
          <p:nvPr/>
        </p:nvSpPr>
        <p:spPr>
          <a:xfrm>
            <a:off x="6355080" y="3200400"/>
            <a:ext cx="49377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300"/>
              <a:buFont typeface="Georgia"/>
              <a:buNone/>
            </a:pPr>
            <a:r>
              <a:rPr b="0" i="1" lang="en-US" sz="1300" u="none" cap="none" strike="noStrike">
                <a:solidFill>
                  <a:srgbClr val="1A2332"/>
                </a:solidFill>
                <a:latin typeface="Georgia"/>
                <a:ea typeface="Georgia"/>
                <a:cs typeface="Georgia"/>
                <a:sym typeface="Georgia"/>
              </a:rPr>
              <a:t>“This face in the mirror looks like mine—but I feel nothing. So I must be dead.”</a:t>
            </a:r>
            <a:endParaRPr b="0" i="0" sz="1300" u="none" cap="none" strike="noStrike">
              <a:solidFill>
                <a:schemeClr val="dk1"/>
              </a:solidFill>
              <a:latin typeface="Calibri"/>
              <a:ea typeface="Calibri"/>
              <a:cs typeface="Calibri"/>
              <a:sym typeface="Calibri"/>
            </a:endParaRPr>
          </a:p>
        </p:txBody>
      </p:sp>
      <p:sp>
        <p:nvSpPr>
          <p:cNvPr id="191" name="Google Shape;191;p10"/>
          <p:cNvSpPr/>
          <p:nvPr/>
        </p:nvSpPr>
        <p:spPr>
          <a:xfrm>
            <a:off x="6355080" y="4069080"/>
            <a:ext cx="49377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1" i="0" lang="en-US" sz="1100" u="none" cap="none" strike="noStrike">
                <a:solidFill>
                  <a:srgbClr val="4A5563"/>
                </a:solidFill>
                <a:latin typeface="Calibri"/>
                <a:ea typeface="Calibri"/>
                <a:cs typeface="Calibri"/>
                <a:sym typeface="Calibri"/>
              </a:rPr>
              <a:t>Trigger: </a:t>
            </a:r>
            <a:r>
              <a:rPr b="0" i="0" lang="en-US" sz="1100" u="none" cap="none" strike="noStrike">
                <a:solidFill>
                  <a:srgbClr val="4A5563"/>
                </a:solidFill>
                <a:latin typeface="Calibri"/>
                <a:ea typeface="Calibri"/>
                <a:cs typeface="Calibri"/>
                <a:sym typeface="Calibri"/>
              </a:rPr>
              <a:t>loss of emotional response to the </a:t>
            </a:r>
            <a:r>
              <a:rPr b="0" i="1" lang="en-US" sz="1100" u="none" cap="none" strike="noStrike">
                <a:solidFill>
                  <a:srgbClr val="4A5563"/>
                </a:solidFill>
                <a:latin typeface="Calibri"/>
                <a:ea typeface="Calibri"/>
                <a:cs typeface="Calibri"/>
                <a:sym typeface="Calibri"/>
              </a:rPr>
              <a:t>self</a:t>
            </a:r>
            <a:r>
              <a:rPr b="0" i="0" lang="en-US" sz="1100" u="none" cap="none" strike="noStrike">
                <a:solidFill>
                  <a:srgbClr val="4A5563"/>
                </a:solidFill>
                <a:latin typeface="Calibri"/>
                <a:ea typeface="Calibri"/>
                <a:cs typeface="Calibri"/>
                <a:sym typeface="Calibri"/>
              </a:rPr>
              <a:t> (“my own body feels alien”).</a:t>
            </a:r>
            <a:endParaRPr b="0" i="0" sz="1100" u="none" cap="none" strike="noStrike">
              <a:solidFill>
                <a:schemeClr val="dk1"/>
              </a:solidFill>
              <a:latin typeface="Calibri"/>
              <a:ea typeface="Calibri"/>
              <a:cs typeface="Calibri"/>
              <a:sym typeface="Calibri"/>
            </a:endParaRPr>
          </a:p>
        </p:txBody>
      </p:sp>
      <p:sp>
        <p:nvSpPr>
          <p:cNvPr id="192" name="Google Shape;192;p10"/>
          <p:cNvSpPr/>
          <p:nvPr/>
        </p:nvSpPr>
        <p:spPr>
          <a:xfrm>
            <a:off x="6355080" y="4434840"/>
            <a:ext cx="49377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100"/>
              <a:buFont typeface="Calibri"/>
              <a:buNone/>
            </a:pPr>
            <a:r>
              <a:rPr b="1" i="0" lang="en-US" sz="1100" u="none" cap="none" strike="noStrike">
                <a:solidFill>
                  <a:srgbClr val="4A5563"/>
                </a:solidFill>
                <a:latin typeface="Calibri"/>
                <a:ea typeface="Calibri"/>
                <a:cs typeface="Calibri"/>
                <a:sym typeface="Calibri"/>
              </a:rPr>
              <a:t>Confabulation: </a:t>
            </a:r>
            <a:r>
              <a:rPr b="0" i="0" lang="en-US" sz="1100" u="none" cap="none" strike="noStrike">
                <a:solidFill>
                  <a:srgbClr val="4A5563"/>
                </a:solidFill>
                <a:latin typeface="Calibri"/>
                <a:ea typeface="Calibri"/>
                <a:cs typeface="Calibri"/>
                <a:sym typeface="Calibri"/>
              </a:rPr>
              <a:t>blame the self—“I must be dead.”</a:t>
            </a:r>
            <a:endParaRPr b="0" i="0" sz="1100" u="none" cap="none" strike="noStrike">
              <a:solidFill>
                <a:schemeClr val="dk1"/>
              </a:solidFill>
              <a:latin typeface="Calibri"/>
              <a:ea typeface="Calibri"/>
              <a:cs typeface="Calibri"/>
              <a:sym typeface="Calibri"/>
            </a:endParaRPr>
          </a:p>
        </p:txBody>
      </p:sp>
      <p:sp>
        <p:nvSpPr>
          <p:cNvPr id="193" name="Google Shape;193;p10"/>
          <p:cNvSpPr/>
          <p:nvPr/>
        </p:nvSpPr>
        <p:spPr>
          <a:xfrm>
            <a:off x="777240" y="5212080"/>
            <a:ext cx="106070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200"/>
              <a:buFont typeface="Calibri"/>
              <a:buNone/>
            </a:pPr>
            <a:r>
              <a:rPr b="1" i="0" lang="en-US" sz="1200" u="none" cap="none" strike="noStrike">
                <a:solidFill>
                  <a:srgbClr val="8B2635"/>
                </a:solidFill>
                <a:latin typeface="Calibri"/>
                <a:ea typeface="Calibri"/>
                <a:cs typeface="Calibri"/>
                <a:sym typeface="Calibri"/>
              </a:rPr>
              <a:t>Internalized attributional style  </a:t>
            </a:r>
            <a:r>
              <a:rPr b="0" i="1" lang="en-US" sz="1200" u="none" cap="none" strike="noStrike">
                <a:solidFill>
                  <a:srgbClr val="8B2635"/>
                </a:solidFill>
                <a:latin typeface="Calibri"/>
                <a:ea typeface="Calibri"/>
                <a:cs typeface="Calibri"/>
                <a:sym typeface="Calibri"/>
              </a:rPr>
              <a:t>(Young &amp; Leafhead, 1996):</a:t>
            </a:r>
            <a:r>
              <a:rPr b="0" i="0" lang="en-US" sz="1200" u="none" cap="none" strike="noStrike">
                <a:solidFill>
                  <a:srgbClr val="4A5563"/>
                </a:solidFill>
                <a:latin typeface="Calibri"/>
                <a:ea typeface="Calibri"/>
                <a:cs typeface="Calibri"/>
                <a:sym typeface="Calibri"/>
              </a:rPr>
              <a:t> patients with depression already attribute everything to themselves; this cognitive bias channels the disconnection signal toward “I am dead” rather than “the world is fake.”</a:t>
            </a:r>
            <a:endParaRPr b="0" i="0" sz="1200" u="none" cap="none" strike="noStrike">
              <a:solidFill>
                <a:schemeClr val="dk1"/>
              </a:solidFill>
              <a:latin typeface="Calibri"/>
              <a:ea typeface="Calibri"/>
              <a:cs typeface="Calibri"/>
              <a:sym typeface="Calibri"/>
            </a:endParaRPr>
          </a:p>
        </p:txBody>
      </p:sp>
      <p:sp>
        <p:nvSpPr>
          <p:cNvPr id="194" name="Google Shape;194;p10"/>
          <p:cNvSpPr/>
          <p:nvPr/>
        </p:nvSpPr>
        <p:spPr>
          <a:xfrm>
            <a:off x="777240" y="5760720"/>
            <a:ext cx="106070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200"/>
              <a:buFont typeface="Calibri"/>
              <a:buNone/>
            </a:pPr>
            <a:r>
              <a:rPr b="1" i="0" lang="en-US" sz="1200" u="none" cap="none" strike="noStrike">
                <a:solidFill>
                  <a:srgbClr val="8B2635"/>
                </a:solidFill>
                <a:latin typeface="Calibri"/>
                <a:ea typeface="Calibri"/>
                <a:cs typeface="Calibri"/>
                <a:sym typeface="Calibri"/>
              </a:rPr>
              <a:t>Psychodynamic view:  </a:t>
            </a:r>
            <a:r>
              <a:rPr b="0" i="0" lang="en-US" sz="1200" u="none" cap="none" strike="noStrike">
                <a:solidFill>
                  <a:srgbClr val="4A5563"/>
                </a:solidFill>
                <a:latin typeface="Calibri"/>
                <a:ea typeface="Calibri"/>
                <a:cs typeface="Calibri"/>
                <a:sym typeface="Calibri"/>
              </a:rPr>
              <a:t>extreme guilt and self-loathing produce a defensive “death of the self,” a symbolic punishment for imagined moral failure (Debruyne et al., 2009).</a:t>
            </a:r>
            <a:endParaRPr b="0" i="0" sz="1200" u="none" cap="none" strike="noStrike">
              <a:solidFill>
                <a:schemeClr val="dk1"/>
              </a:solidFill>
              <a:latin typeface="Calibri"/>
              <a:ea typeface="Calibri"/>
              <a:cs typeface="Calibri"/>
              <a:sym typeface="Calibri"/>
            </a:endParaRPr>
          </a:p>
        </p:txBody>
      </p:sp>
      <p:sp>
        <p:nvSpPr>
          <p:cNvPr id="195" name="Google Shape;195;p10"/>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D  ·  ETIOLOGY</a:t>
            </a:r>
            <a:endParaRPr b="0" i="0" sz="900" u="none" cap="none" strike="noStrike">
              <a:solidFill>
                <a:schemeClr val="dk1"/>
              </a:solidFill>
              <a:latin typeface="Calibri"/>
              <a:ea typeface="Calibri"/>
              <a:cs typeface="Calibri"/>
              <a:sym typeface="Calibri"/>
            </a:endParaRPr>
          </a:p>
        </p:txBody>
      </p:sp>
      <p:sp>
        <p:nvSpPr>
          <p:cNvPr id="196" name="Google Shape;196;p10"/>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8 / 13</a:t>
            </a:r>
            <a:endParaRPr b="0" i="0" sz="900" u="none" cap="none" strike="noStrike">
              <a:solidFill>
                <a:schemeClr val="dk1"/>
              </a:solidFill>
              <a:latin typeface="Calibri"/>
              <a:ea typeface="Calibri"/>
              <a:cs typeface="Calibri"/>
              <a:sym typeface="Calibri"/>
            </a:endParaRPr>
          </a:p>
        </p:txBody>
      </p:sp>
      <p:sp>
        <p:nvSpPr>
          <p:cNvPr id="197" name="Google Shape;197;p10"/>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1"/>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
          <p:cNvSpPr/>
          <p:nvPr/>
        </p:nvSpPr>
        <p:spPr>
          <a:xfrm>
            <a:off x="777240" y="50292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Treatment Approaches</a:t>
            </a:r>
            <a:endParaRPr b="0" i="0" sz="3600" u="none" cap="none" strike="noStrike">
              <a:solidFill>
                <a:schemeClr val="dk1"/>
              </a:solidFill>
              <a:latin typeface="Calibri"/>
              <a:ea typeface="Calibri"/>
              <a:cs typeface="Calibri"/>
              <a:sym typeface="Calibri"/>
            </a:endParaRPr>
          </a:p>
        </p:txBody>
      </p:sp>
      <p:sp>
        <p:nvSpPr>
          <p:cNvPr id="205" name="Google Shape;205;p11"/>
          <p:cNvSpPr/>
          <p:nvPr/>
        </p:nvSpPr>
        <p:spPr>
          <a:xfrm>
            <a:off x="777240" y="1783080"/>
            <a:ext cx="5212080" cy="4389120"/>
          </a:xfrm>
          <a:prstGeom prst="rect">
            <a:avLst/>
          </a:prstGeom>
          <a:solidFill>
            <a:srgbClr val="FFFFFF"/>
          </a:solidFill>
          <a:ln cap="flat" cmpd="sng" w="12700">
            <a:solidFill>
              <a:srgbClr val="D8D4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777240" y="1783080"/>
            <a:ext cx="54864" cy="4389120"/>
          </a:xfrm>
          <a:prstGeom prst="rect">
            <a:avLst/>
          </a:prstGeom>
          <a:solidFill>
            <a:srgbClr val="4A6670"/>
          </a:solidFill>
          <a:ln cap="flat" cmpd="sng" w="12700">
            <a:solidFill>
              <a:srgbClr val="4A66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1005840" y="1920240"/>
            <a:ext cx="640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670"/>
              </a:buClr>
              <a:buSzPts val="2800"/>
              <a:buFont typeface="Georgia"/>
              <a:buNone/>
            </a:pPr>
            <a:r>
              <a:rPr b="1" i="0" lang="en-US" sz="2800" u="none" cap="none" strike="noStrike">
                <a:solidFill>
                  <a:srgbClr val="4A6670"/>
                </a:solidFill>
                <a:latin typeface="Georgia"/>
                <a:ea typeface="Georgia"/>
                <a:cs typeface="Georgia"/>
                <a:sym typeface="Georgia"/>
              </a:rPr>
              <a:t>01</a:t>
            </a:r>
            <a:endParaRPr b="0" i="0" sz="2800" u="none" cap="none" strike="noStrike">
              <a:solidFill>
                <a:schemeClr val="dk1"/>
              </a:solidFill>
              <a:latin typeface="Calibri"/>
              <a:ea typeface="Calibri"/>
              <a:cs typeface="Calibri"/>
              <a:sym typeface="Calibri"/>
            </a:endParaRPr>
          </a:p>
        </p:txBody>
      </p:sp>
      <p:sp>
        <p:nvSpPr>
          <p:cNvPr id="208" name="Google Shape;208;p11"/>
          <p:cNvSpPr/>
          <p:nvPr/>
        </p:nvSpPr>
        <p:spPr>
          <a:xfrm>
            <a:off x="1691640" y="1920240"/>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Pharmacotherapy</a:t>
            </a:r>
            <a:endParaRPr b="0" i="0" sz="2200" u="none" cap="none" strike="noStrike">
              <a:solidFill>
                <a:schemeClr val="dk1"/>
              </a:solidFill>
              <a:latin typeface="Calibri"/>
              <a:ea typeface="Calibri"/>
              <a:cs typeface="Calibri"/>
              <a:sym typeface="Calibri"/>
            </a:endParaRPr>
          </a:p>
        </p:txBody>
      </p:sp>
      <p:sp>
        <p:nvSpPr>
          <p:cNvPr id="209" name="Google Shape;209;p11"/>
          <p:cNvSpPr/>
          <p:nvPr/>
        </p:nvSpPr>
        <p:spPr>
          <a:xfrm>
            <a:off x="1691640" y="233172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6670"/>
              </a:buClr>
              <a:buSzPts val="1100"/>
              <a:buFont typeface="Calibri"/>
              <a:buNone/>
            </a:pPr>
            <a:r>
              <a:rPr b="0" i="1" lang="en-US" sz="1100" u="none" cap="none" strike="noStrike">
                <a:solidFill>
                  <a:srgbClr val="4A6670"/>
                </a:solidFill>
                <a:latin typeface="Calibri"/>
                <a:ea typeface="Calibri"/>
                <a:cs typeface="Calibri"/>
                <a:sym typeface="Calibri"/>
              </a:rPr>
              <a:t>Combination strategy</a:t>
            </a:r>
            <a:endParaRPr b="0" i="0" sz="1100" u="none" cap="none" strike="noStrike">
              <a:solidFill>
                <a:schemeClr val="dk1"/>
              </a:solidFill>
              <a:latin typeface="Calibri"/>
              <a:ea typeface="Calibri"/>
              <a:cs typeface="Calibri"/>
              <a:sym typeface="Calibri"/>
            </a:endParaRPr>
          </a:p>
        </p:txBody>
      </p:sp>
      <p:sp>
        <p:nvSpPr>
          <p:cNvPr id="210" name="Google Shape;210;p11"/>
          <p:cNvSpPr/>
          <p:nvPr/>
        </p:nvSpPr>
        <p:spPr>
          <a:xfrm>
            <a:off x="1005840" y="2834640"/>
            <a:ext cx="4846320" cy="3200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Antidepressant + Antipsychotic</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SSRI (e.g. sertraline) paired with olanzapine or clozapine; targets both mood and delusion.</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Lithium augmentation</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Effective in depressive Cotard's (Terao et al., 1994).</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Mechanism</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Restores serotonin / dopamine balance; lifts depression so the delusion follows.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Limitation</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Effective in only ~50% of severe cases—many are treatment-resistant.</a:t>
            </a:r>
            <a:endParaRPr b="0" i="0" sz="1200" u="none" cap="none" strike="noStrike">
              <a:solidFill>
                <a:schemeClr val="dk1"/>
              </a:solidFill>
              <a:latin typeface="Calibri"/>
              <a:ea typeface="Calibri"/>
              <a:cs typeface="Calibri"/>
              <a:sym typeface="Calibri"/>
            </a:endParaRPr>
          </a:p>
        </p:txBody>
      </p:sp>
      <p:sp>
        <p:nvSpPr>
          <p:cNvPr id="211" name="Google Shape;211;p11"/>
          <p:cNvSpPr/>
          <p:nvPr/>
        </p:nvSpPr>
        <p:spPr>
          <a:xfrm>
            <a:off x="6172200" y="1783080"/>
            <a:ext cx="5212080" cy="438912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172200" y="1783080"/>
            <a:ext cx="54864" cy="438912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6400800" y="1920240"/>
            <a:ext cx="640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2800"/>
              <a:buFont typeface="Georgia"/>
              <a:buNone/>
            </a:pPr>
            <a:r>
              <a:rPr b="1" i="0" lang="en-US" sz="2800" u="none" cap="none" strike="noStrike">
                <a:solidFill>
                  <a:srgbClr val="8B2635"/>
                </a:solidFill>
                <a:latin typeface="Georgia"/>
                <a:ea typeface="Georgia"/>
                <a:cs typeface="Georgia"/>
                <a:sym typeface="Georgia"/>
              </a:rPr>
              <a:t>02</a:t>
            </a:r>
            <a:endParaRPr b="0" i="0" sz="2800" u="none" cap="none" strike="noStrike">
              <a:solidFill>
                <a:schemeClr val="dk1"/>
              </a:solidFill>
              <a:latin typeface="Calibri"/>
              <a:ea typeface="Calibri"/>
              <a:cs typeface="Calibri"/>
              <a:sym typeface="Calibri"/>
            </a:endParaRPr>
          </a:p>
        </p:txBody>
      </p:sp>
      <p:sp>
        <p:nvSpPr>
          <p:cNvPr id="214" name="Google Shape;214;p11"/>
          <p:cNvSpPr/>
          <p:nvPr/>
        </p:nvSpPr>
        <p:spPr>
          <a:xfrm>
            <a:off x="7040880" y="19202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2200"/>
              <a:buFont typeface="Georgia"/>
              <a:buNone/>
            </a:pPr>
            <a:r>
              <a:rPr b="1" i="0" lang="en-US" sz="2200" u="none" cap="none" strike="noStrike">
                <a:solidFill>
                  <a:srgbClr val="1A2332"/>
                </a:solidFill>
                <a:latin typeface="Georgia"/>
                <a:ea typeface="Georgia"/>
                <a:cs typeface="Georgia"/>
                <a:sym typeface="Georgia"/>
              </a:rPr>
              <a:t>Electroconvulsive Therapy</a:t>
            </a:r>
            <a:endParaRPr b="0" i="0" sz="2200" u="none" cap="none" strike="noStrike">
              <a:solidFill>
                <a:schemeClr val="dk1"/>
              </a:solidFill>
              <a:latin typeface="Calibri"/>
              <a:ea typeface="Calibri"/>
              <a:cs typeface="Calibri"/>
              <a:sym typeface="Calibri"/>
            </a:endParaRPr>
          </a:p>
        </p:txBody>
      </p:sp>
      <p:sp>
        <p:nvSpPr>
          <p:cNvPr id="215" name="Google Shape;215;p11"/>
          <p:cNvSpPr/>
          <p:nvPr/>
        </p:nvSpPr>
        <p:spPr>
          <a:xfrm>
            <a:off x="7040880" y="233172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100"/>
              <a:buFont typeface="Calibri"/>
              <a:buNone/>
            </a:pPr>
            <a:r>
              <a:rPr b="0" i="1" lang="en-US" sz="1100" u="none" cap="none" strike="noStrike">
                <a:solidFill>
                  <a:srgbClr val="8B2635"/>
                </a:solidFill>
                <a:latin typeface="Calibri"/>
                <a:ea typeface="Calibri"/>
                <a:cs typeface="Calibri"/>
                <a:sym typeface="Calibri"/>
              </a:rPr>
              <a:t>Most reliably effective treatment</a:t>
            </a:r>
            <a:endParaRPr b="0" i="0" sz="1100" u="none" cap="none" strike="noStrike">
              <a:solidFill>
                <a:schemeClr val="dk1"/>
              </a:solidFill>
              <a:latin typeface="Calibri"/>
              <a:ea typeface="Calibri"/>
              <a:cs typeface="Calibri"/>
              <a:sym typeface="Calibri"/>
            </a:endParaRPr>
          </a:p>
        </p:txBody>
      </p:sp>
      <p:sp>
        <p:nvSpPr>
          <p:cNvPr id="216" name="Google Shape;216;p11"/>
          <p:cNvSpPr/>
          <p:nvPr/>
        </p:nvSpPr>
        <p:spPr>
          <a:xfrm>
            <a:off x="6400800" y="2834640"/>
            <a:ext cx="4846320" cy="3200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What it does</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Brief generalized seizure under anesthesia; restores frontal-parietal-temporal blood flow on follow-up SPECT.</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First-line for treatment-resistant cases</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Particularly effective in severe psychotic depression with Cotard's features (Moschopoulos et al., 2016).</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Course</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Typically 6–12 sessions over 2–4 weeks; remission often within days.</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332"/>
              </a:buClr>
              <a:buSzPts val="1200"/>
              <a:buFont typeface="Calibri"/>
              <a:buChar char="•"/>
            </a:pPr>
            <a:r>
              <a:rPr b="1" i="0" lang="en-US" sz="1200" u="none" cap="none" strike="noStrike">
                <a:solidFill>
                  <a:srgbClr val="1A2332"/>
                </a:solidFill>
                <a:latin typeface="Calibri"/>
                <a:ea typeface="Calibri"/>
                <a:cs typeface="Calibri"/>
                <a:sym typeface="Calibri"/>
              </a:rPr>
              <a:t>Side effects</a:t>
            </a:r>
            <a:endParaRPr b="0" i="0" sz="12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3"/>
              </a:buClr>
              <a:buSzPts val="1100"/>
              <a:buFont typeface="Calibri"/>
              <a:buNone/>
            </a:pPr>
            <a:r>
              <a:rPr b="0" i="0" lang="en-US" sz="1100" u="none" cap="none" strike="noStrike">
                <a:solidFill>
                  <a:srgbClr val="4A5563"/>
                </a:solidFill>
                <a:latin typeface="Calibri"/>
                <a:ea typeface="Calibri"/>
                <a:cs typeface="Calibri"/>
                <a:sym typeface="Calibri"/>
              </a:rPr>
              <a:t>      Short-term memory loss, headache; reversible in most cases.</a:t>
            </a:r>
            <a:endParaRPr b="0" i="0" sz="1200" u="none" cap="none" strike="noStrike">
              <a:solidFill>
                <a:schemeClr val="dk1"/>
              </a:solidFill>
              <a:latin typeface="Calibri"/>
              <a:ea typeface="Calibri"/>
              <a:cs typeface="Calibri"/>
              <a:sym typeface="Calibri"/>
            </a:endParaRPr>
          </a:p>
        </p:txBody>
      </p:sp>
      <p:sp>
        <p:nvSpPr>
          <p:cNvPr id="217" name="Google Shape;217;p11"/>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E  ·  TREATMENT</a:t>
            </a:r>
            <a:endParaRPr b="0" i="0" sz="900" u="none" cap="none" strike="noStrike">
              <a:solidFill>
                <a:schemeClr val="dk1"/>
              </a:solidFill>
              <a:latin typeface="Calibri"/>
              <a:ea typeface="Calibri"/>
              <a:cs typeface="Calibri"/>
              <a:sym typeface="Calibri"/>
            </a:endParaRPr>
          </a:p>
        </p:txBody>
      </p:sp>
      <p:sp>
        <p:nvSpPr>
          <p:cNvPr id="218" name="Google Shape;218;p11"/>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9 / 13</a:t>
            </a:r>
            <a:endParaRPr b="0" i="0" sz="900" u="none" cap="none" strike="noStrike">
              <a:solidFill>
                <a:schemeClr val="dk1"/>
              </a:solidFill>
              <a:latin typeface="Calibri"/>
              <a:ea typeface="Calibri"/>
              <a:cs typeface="Calibri"/>
              <a:sym typeface="Calibri"/>
            </a:endParaRPr>
          </a:p>
        </p:txBody>
      </p:sp>
      <p:sp>
        <p:nvSpPr>
          <p:cNvPr id="219" name="Google Shape;219;p11"/>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2"/>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777240" y="50292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200"/>
              <a:buFont typeface="Georgia"/>
              <a:buNone/>
            </a:pPr>
            <a:r>
              <a:rPr b="1" i="0" lang="en-US" sz="3200" u="none" cap="none" strike="noStrike">
                <a:solidFill>
                  <a:srgbClr val="1A2332"/>
                </a:solidFill>
                <a:latin typeface="Georgia"/>
                <a:ea typeface="Georgia"/>
                <a:cs typeface="Georgia"/>
                <a:sym typeface="Georgia"/>
              </a:rPr>
              <a:t>Case Study &amp; Long-Term Outlook</a:t>
            </a:r>
            <a:endParaRPr b="0" i="0" sz="3200" u="none" cap="none" strike="noStrike">
              <a:solidFill>
                <a:schemeClr val="dk1"/>
              </a:solidFill>
              <a:latin typeface="Calibri"/>
              <a:ea typeface="Calibri"/>
              <a:cs typeface="Calibri"/>
              <a:sym typeface="Calibri"/>
            </a:endParaRPr>
          </a:p>
        </p:txBody>
      </p:sp>
      <p:sp>
        <p:nvSpPr>
          <p:cNvPr id="227" name="Google Shape;227;p12"/>
          <p:cNvSpPr/>
          <p:nvPr/>
        </p:nvSpPr>
        <p:spPr>
          <a:xfrm>
            <a:off x="777240" y="1691640"/>
            <a:ext cx="6766560" cy="457200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960120" y="1828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CASE  ·  Petracca et al. (1995)</a:t>
            </a:r>
            <a:endParaRPr b="0" i="0" sz="1000" u="none" cap="none" strike="noStrike">
              <a:solidFill>
                <a:schemeClr val="dk1"/>
              </a:solidFill>
              <a:latin typeface="Calibri"/>
              <a:ea typeface="Calibri"/>
              <a:cs typeface="Calibri"/>
              <a:sym typeface="Calibri"/>
            </a:endParaRPr>
          </a:p>
        </p:txBody>
      </p:sp>
      <p:sp>
        <p:nvSpPr>
          <p:cNvPr id="229" name="Google Shape;229;p12"/>
          <p:cNvSpPr/>
          <p:nvPr/>
        </p:nvSpPr>
        <p:spPr>
          <a:xfrm>
            <a:off x="960120" y="214884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800"/>
              <a:buFont typeface="Georgia"/>
              <a:buNone/>
            </a:pPr>
            <a:r>
              <a:rPr b="1" i="1" lang="en-US" sz="1800" u="none" cap="none" strike="noStrike">
                <a:solidFill>
                  <a:srgbClr val="1A2332"/>
                </a:solidFill>
                <a:latin typeface="Georgia"/>
                <a:ea typeface="Georgia"/>
                <a:cs typeface="Georgia"/>
                <a:sym typeface="Georgia"/>
              </a:rPr>
              <a:t>“He believed his stomach had vanished.”</a:t>
            </a:r>
            <a:endParaRPr b="0" i="0" sz="1800" u="none" cap="none" strike="noStrike">
              <a:solidFill>
                <a:schemeClr val="dk1"/>
              </a:solidFill>
              <a:latin typeface="Calibri"/>
              <a:ea typeface="Calibri"/>
              <a:cs typeface="Calibri"/>
              <a:sym typeface="Calibri"/>
            </a:endParaRPr>
          </a:p>
        </p:txBody>
      </p:sp>
      <p:sp>
        <p:nvSpPr>
          <p:cNvPr id="230" name="Google Shape;230;p12"/>
          <p:cNvSpPr/>
          <p:nvPr/>
        </p:nvSpPr>
        <p:spPr>
          <a:xfrm>
            <a:off x="960120" y="269748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Patient: </a:t>
            </a:r>
            <a:r>
              <a:rPr b="0" i="0" lang="en-US" sz="1200" u="none" cap="none" strike="noStrike">
                <a:solidFill>
                  <a:srgbClr val="1A2332"/>
                </a:solidFill>
                <a:latin typeface="Calibri"/>
                <a:ea typeface="Calibri"/>
                <a:cs typeface="Calibri"/>
                <a:sym typeface="Calibri"/>
              </a:rPr>
              <a:t>27-year-old man, schizophreniform disorder.</a:t>
            </a:r>
            <a:endParaRPr b="0" i="0" sz="1200" u="none" cap="none" strike="noStrike">
              <a:solidFill>
                <a:schemeClr val="dk1"/>
              </a:solidFill>
              <a:latin typeface="Calibri"/>
              <a:ea typeface="Calibri"/>
              <a:cs typeface="Calibri"/>
              <a:sym typeface="Calibri"/>
            </a:endParaRPr>
          </a:p>
        </p:txBody>
      </p:sp>
      <p:sp>
        <p:nvSpPr>
          <p:cNvPr id="231" name="Google Shape;231;p12"/>
          <p:cNvSpPr/>
          <p:nvPr/>
        </p:nvSpPr>
        <p:spPr>
          <a:xfrm>
            <a:off x="960120" y="3017520"/>
            <a:ext cx="6400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Presentation: </a:t>
            </a:r>
            <a:r>
              <a:rPr b="0" i="0" lang="en-US" sz="1200" u="none" cap="none" strike="noStrike">
                <a:solidFill>
                  <a:srgbClr val="1A2332"/>
                </a:solidFill>
                <a:latin typeface="Calibri"/>
                <a:ea typeface="Calibri"/>
                <a:cs typeface="Calibri"/>
                <a:sym typeface="Calibri"/>
              </a:rPr>
              <a:t>somatic delusions of “no stomach,” refused food; lost 12 kg in 1 month.</a:t>
            </a:r>
            <a:endParaRPr b="0" i="0" sz="1200" u="none" cap="none" strike="noStrike">
              <a:solidFill>
                <a:schemeClr val="dk1"/>
              </a:solidFill>
              <a:latin typeface="Calibri"/>
              <a:ea typeface="Calibri"/>
              <a:cs typeface="Calibri"/>
              <a:sym typeface="Calibri"/>
            </a:endParaRPr>
          </a:p>
        </p:txBody>
      </p:sp>
      <p:sp>
        <p:nvSpPr>
          <p:cNvPr id="232" name="Google Shape;232;p12"/>
          <p:cNvSpPr/>
          <p:nvPr/>
        </p:nvSpPr>
        <p:spPr>
          <a:xfrm>
            <a:off x="960120" y="3474720"/>
            <a:ext cx="64008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Imaging: </a:t>
            </a:r>
            <a:r>
              <a:rPr b="0" i="0" lang="en-US" sz="1200" u="none" cap="none" strike="noStrike">
                <a:solidFill>
                  <a:srgbClr val="1A2332"/>
                </a:solidFill>
                <a:latin typeface="Calibri"/>
                <a:ea typeface="Calibri"/>
                <a:cs typeface="Calibri"/>
                <a:sym typeface="Calibri"/>
              </a:rPr>
              <a:t>MRI showed lateral ventricle enlargement; SPECT showed hypoperfusion in left frontal, parietal, and temporal lobes.</a:t>
            </a:r>
            <a:endParaRPr b="0" i="0" sz="1200" u="none" cap="none" strike="noStrike">
              <a:solidFill>
                <a:schemeClr val="dk1"/>
              </a:solidFill>
              <a:latin typeface="Calibri"/>
              <a:ea typeface="Calibri"/>
              <a:cs typeface="Calibri"/>
              <a:sym typeface="Calibri"/>
            </a:endParaRPr>
          </a:p>
        </p:txBody>
      </p:sp>
      <p:sp>
        <p:nvSpPr>
          <p:cNvPr id="233" name="Google Shape;233;p12"/>
          <p:cNvSpPr/>
          <p:nvPr/>
        </p:nvSpPr>
        <p:spPr>
          <a:xfrm>
            <a:off x="960120" y="4114800"/>
            <a:ext cx="6400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200"/>
              <a:buFont typeface="Calibri"/>
              <a:buNone/>
            </a:pPr>
            <a:r>
              <a:rPr b="1" i="0" lang="en-US" sz="1200" u="none" cap="none" strike="noStrike">
                <a:solidFill>
                  <a:srgbClr val="1A2332"/>
                </a:solidFill>
                <a:latin typeface="Calibri"/>
                <a:ea typeface="Calibri"/>
                <a:cs typeface="Calibri"/>
                <a:sym typeface="Calibri"/>
              </a:rPr>
              <a:t>Course: </a:t>
            </a:r>
            <a:r>
              <a:rPr b="0" i="0" lang="en-US" sz="1200" u="none" cap="none" strike="noStrike">
                <a:solidFill>
                  <a:srgbClr val="1A2332"/>
                </a:solidFill>
                <a:latin typeface="Calibri"/>
                <a:ea typeface="Calibri"/>
                <a:cs typeface="Calibri"/>
                <a:sym typeface="Calibri"/>
              </a:rPr>
              <a:t>Antipsychotics failed → ECT initiated → full symptom remission. Follow-up SPECT showed normalized perfusion. Maintained on olanzapine.</a:t>
            </a:r>
            <a:endParaRPr b="0" i="0" sz="1200" u="none" cap="none" strike="noStrike">
              <a:solidFill>
                <a:schemeClr val="dk1"/>
              </a:solidFill>
              <a:latin typeface="Calibri"/>
              <a:ea typeface="Calibri"/>
              <a:cs typeface="Calibri"/>
              <a:sym typeface="Calibri"/>
            </a:endParaRPr>
          </a:p>
        </p:txBody>
      </p:sp>
      <p:sp>
        <p:nvSpPr>
          <p:cNvPr id="234" name="Google Shape;234;p12"/>
          <p:cNvSpPr/>
          <p:nvPr/>
        </p:nvSpPr>
        <p:spPr>
          <a:xfrm>
            <a:off x="960120" y="4937760"/>
            <a:ext cx="6400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200"/>
              <a:buFont typeface="Calibri"/>
              <a:buNone/>
            </a:pPr>
            <a:r>
              <a:rPr b="1" i="1" lang="en-US" sz="1200" u="none" cap="none" strike="noStrike">
                <a:solidFill>
                  <a:srgbClr val="8B2635"/>
                </a:solidFill>
                <a:latin typeface="Calibri"/>
                <a:ea typeface="Calibri"/>
                <a:cs typeface="Calibri"/>
                <a:sym typeface="Calibri"/>
              </a:rPr>
              <a:t>Outcome: </a:t>
            </a:r>
            <a:r>
              <a:rPr b="0" i="1" lang="en-US" sz="1200" u="none" cap="none" strike="noStrike">
                <a:solidFill>
                  <a:srgbClr val="8B2635"/>
                </a:solidFill>
                <a:latin typeface="Calibri"/>
                <a:ea typeface="Calibri"/>
                <a:cs typeface="Calibri"/>
                <a:sym typeface="Calibri"/>
              </a:rPr>
              <a:t>remission at 4-month follow-up; no recurrence; returned to work and social functioning.</a:t>
            </a:r>
            <a:endParaRPr b="0" i="0" sz="1200" u="none" cap="none" strike="noStrike">
              <a:solidFill>
                <a:schemeClr val="dk1"/>
              </a:solidFill>
              <a:latin typeface="Calibri"/>
              <a:ea typeface="Calibri"/>
              <a:cs typeface="Calibri"/>
              <a:sym typeface="Calibri"/>
            </a:endParaRPr>
          </a:p>
        </p:txBody>
      </p:sp>
      <p:sp>
        <p:nvSpPr>
          <p:cNvPr id="235" name="Google Shape;235;p12"/>
          <p:cNvSpPr/>
          <p:nvPr/>
        </p:nvSpPr>
        <p:spPr>
          <a:xfrm>
            <a:off x="960120" y="5623560"/>
            <a:ext cx="6400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3"/>
              </a:buClr>
              <a:buSzPts val="1000"/>
              <a:buFont typeface="Calibri"/>
              <a:buNone/>
            </a:pPr>
            <a:r>
              <a:rPr b="0" i="1" lang="en-US" sz="1000" u="none" cap="none" strike="noStrike">
                <a:solidFill>
                  <a:srgbClr val="4A5563"/>
                </a:solidFill>
                <a:latin typeface="Calibri"/>
                <a:ea typeface="Calibri"/>
                <a:cs typeface="Calibri"/>
                <a:sym typeface="Calibri"/>
              </a:rPr>
              <a:t>Significance: First case to document brain perfusion changes before AND after ECT—direct evidence that the treatment normalizes the underlying neural dysfunction.</a:t>
            </a:r>
            <a:endParaRPr b="0" i="0" sz="1000" u="none" cap="none" strike="noStrike">
              <a:solidFill>
                <a:schemeClr val="dk1"/>
              </a:solidFill>
              <a:latin typeface="Calibri"/>
              <a:ea typeface="Calibri"/>
              <a:cs typeface="Calibri"/>
              <a:sym typeface="Calibri"/>
            </a:endParaRPr>
          </a:p>
        </p:txBody>
      </p:sp>
      <p:sp>
        <p:nvSpPr>
          <p:cNvPr id="236" name="Google Shape;236;p12"/>
          <p:cNvSpPr/>
          <p:nvPr/>
        </p:nvSpPr>
        <p:spPr>
          <a:xfrm>
            <a:off x="7818120" y="1783080"/>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FINDING TREATMENT</a:t>
            </a:r>
            <a:endParaRPr b="0" i="0" sz="1000" u="none" cap="none" strike="noStrike">
              <a:solidFill>
                <a:schemeClr val="dk1"/>
              </a:solidFill>
              <a:latin typeface="Calibri"/>
              <a:ea typeface="Calibri"/>
              <a:cs typeface="Calibri"/>
              <a:sym typeface="Calibri"/>
            </a:endParaRPr>
          </a:p>
        </p:txBody>
      </p:sp>
      <p:sp>
        <p:nvSpPr>
          <p:cNvPr id="237" name="Google Shape;237;p12"/>
          <p:cNvSpPr/>
          <p:nvPr/>
        </p:nvSpPr>
        <p:spPr>
          <a:xfrm>
            <a:off x="7818120" y="2103120"/>
            <a:ext cx="39319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0" i="0" lang="en-US" sz="1100" u="none" cap="none" strike="noStrike">
                <a:solidFill>
                  <a:srgbClr val="1A2332"/>
                </a:solidFill>
                <a:latin typeface="Calibri"/>
                <a:ea typeface="Calibri"/>
                <a:cs typeface="Calibri"/>
                <a:sym typeface="Calibri"/>
              </a:rPr>
              <a:t>Often presents as a psychiatric </a:t>
            </a:r>
            <a:r>
              <a:rPr b="1" i="0" lang="en-US" sz="1100" u="none" cap="none" strike="noStrike">
                <a:solidFill>
                  <a:srgbClr val="1A2332"/>
                </a:solidFill>
                <a:latin typeface="Calibri"/>
                <a:ea typeface="Calibri"/>
                <a:cs typeface="Calibri"/>
                <a:sym typeface="Calibri"/>
              </a:rPr>
              <a:t>emergency</a:t>
            </a:r>
            <a:r>
              <a:rPr b="0" i="0" lang="en-US" sz="1100" u="none" cap="none" strike="noStrike">
                <a:solidFill>
                  <a:srgbClr val="1A2332"/>
                </a:solidFill>
                <a:latin typeface="Calibri"/>
                <a:ea typeface="Calibri"/>
                <a:cs typeface="Calibri"/>
                <a:sym typeface="Calibri"/>
              </a:rPr>
              <a:t>—refusal to eat or suicidality. Care path: primary care or ER  →  inpatient psychiatry  →  ECT referral if treatment-resistant.</a:t>
            </a:r>
            <a:endParaRPr b="0" i="0" sz="1100" u="none" cap="none" strike="noStrike">
              <a:solidFill>
                <a:schemeClr val="dk1"/>
              </a:solidFill>
              <a:latin typeface="Calibri"/>
              <a:ea typeface="Calibri"/>
              <a:cs typeface="Calibri"/>
              <a:sym typeface="Calibri"/>
            </a:endParaRPr>
          </a:p>
        </p:txBody>
      </p:sp>
      <p:sp>
        <p:nvSpPr>
          <p:cNvPr id="238" name="Google Shape;238;p12"/>
          <p:cNvSpPr/>
          <p:nvPr/>
        </p:nvSpPr>
        <p:spPr>
          <a:xfrm>
            <a:off x="7818120" y="3520440"/>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LONG-TERM HEALTH RISKS</a:t>
            </a:r>
            <a:endParaRPr b="0" i="0" sz="1000" u="none" cap="none" strike="noStrike">
              <a:solidFill>
                <a:schemeClr val="dk1"/>
              </a:solidFill>
              <a:latin typeface="Calibri"/>
              <a:ea typeface="Calibri"/>
              <a:cs typeface="Calibri"/>
              <a:sym typeface="Calibri"/>
            </a:endParaRPr>
          </a:p>
        </p:txBody>
      </p:sp>
      <p:sp>
        <p:nvSpPr>
          <p:cNvPr id="239" name="Google Shape;239;p12"/>
          <p:cNvSpPr/>
          <p:nvPr/>
        </p:nvSpPr>
        <p:spPr>
          <a:xfrm>
            <a:off x="7818120" y="3840480"/>
            <a:ext cx="39319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2332"/>
              </a:buClr>
              <a:buSzPts val="1100"/>
              <a:buFont typeface="Calibri"/>
              <a:buChar char="•"/>
            </a:pPr>
            <a:r>
              <a:rPr b="0" i="0" lang="en-US" sz="1100" u="none" cap="none" strike="noStrike">
                <a:solidFill>
                  <a:srgbClr val="1A2332"/>
                </a:solidFill>
                <a:latin typeface="Calibri"/>
                <a:ea typeface="Calibri"/>
                <a:cs typeface="Calibri"/>
                <a:sym typeface="Calibri"/>
              </a:rPr>
              <a:t>Malnutrition, dehydration</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A2332"/>
              </a:buClr>
              <a:buSzPts val="1100"/>
              <a:buFont typeface="Calibri"/>
              <a:buChar char="•"/>
            </a:pPr>
            <a:r>
              <a:rPr b="0" i="0" lang="en-US" sz="1100" u="none" cap="none" strike="noStrike">
                <a:solidFill>
                  <a:srgbClr val="1A2332"/>
                </a:solidFill>
                <a:latin typeface="Calibri"/>
                <a:ea typeface="Calibri"/>
                <a:cs typeface="Calibri"/>
                <a:sym typeface="Calibri"/>
              </a:rPr>
              <a:t>Suicide (paradox: "already dead"  +  unbearable suffering)</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A2332"/>
              </a:buClr>
              <a:buSzPts val="1100"/>
              <a:buFont typeface="Calibri"/>
              <a:buChar char="•"/>
            </a:pPr>
            <a:r>
              <a:rPr b="0" i="0" lang="en-US" sz="1100" u="none" cap="none" strike="noStrike">
                <a:solidFill>
                  <a:srgbClr val="1A2332"/>
                </a:solidFill>
                <a:latin typeface="Calibri"/>
                <a:ea typeface="Calibri"/>
                <a:cs typeface="Calibri"/>
                <a:sym typeface="Calibri"/>
              </a:rPr>
              <a:t>Cognitive decline if untreated</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1A2332"/>
              </a:buClr>
              <a:buSzPts val="1100"/>
              <a:buFont typeface="Calibri"/>
              <a:buChar char="•"/>
            </a:pPr>
            <a:r>
              <a:rPr b="0" i="0" lang="en-US" sz="1100" u="none" cap="none" strike="noStrike">
                <a:solidFill>
                  <a:srgbClr val="1A2332"/>
                </a:solidFill>
                <a:latin typeface="Calibri"/>
                <a:ea typeface="Calibri"/>
                <a:cs typeface="Calibri"/>
                <a:sym typeface="Calibri"/>
              </a:rPr>
              <a:t>Recurrence with depression relapse</a:t>
            </a:r>
            <a:endParaRPr b="0" i="0" sz="1100" u="none" cap="none" strike="noStrike">
              <a:solidFill>
                <a:schemeClr val="dk1"/>
              </a:solidFill>
              <a:latin typeface="Calibri"/>
              <a:ea typeface="Calibri"/>
              <a:cs typeface="Calibri"/>
              <a:sym typeface="Calibri"/>
            </a:endParaRPr>
          </a:p>
        </p:txBody>
      </p:sp>
      <p:sp>
        <p:nvSpPr>
          <p:cNvPr id="240" name="Google Shape;240;p12"/>
          <p:cNvSpPr/>
          <p:nvPr/>
        </p:nvSpPr>
        <p:spPr>
          <a:xfrm>
            <a:off x="7818120" y="5669280"/>
            <a:ext cx="39319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6670"/>
              </a:buClr>
              <a:buSzPts val="1100"/>
              <a:buFont typeface="Calibri"/>
              <a:buNone/>
            </a:pPr>
            <a:r>
              <a:rPr b="1" i="1" lang="en-US" sz="1100" u="none" cap="none" strike="noStrike">
                <a:solidFill>
                  <a:srgbClr val="4A6670"/>
                </a:solidFill>
                <a:latin typeface="Calibri"/>
                <a:ea typeface="Calibri"/>
                <a:cs typeface="Calibri"/>
                <a:sym typeface="Calibri"/>
              </a:rPr>
              <a:t>Prognosis: </a:t>
            </a:r>
            <a:r>
              <a:rPr b="0" i="1" lang="en-US" sz="1100" u="none" cap="none" strike="noStrike">
                <a:solidFill>
                  <a:srgbClr val="4A6670"/>
                </a:solidFill>
                <a:latin typeface="Calibri"/>
                <a:ea typeface="Calibri"/>
                <a:cs typeface="Calibri"/>
                <a:sym typeface="Calibri"/>
              </a:rPr>
              <a:t>good when treated early—psychiatric origins respond well; organic lesions may leave residual symptoms.</a:t>
            </a:r>
            <a:endParaRPr b="0" i="0" sz="1100" u="none" cap="none" strike="noStrike">
              <a:solidFill>
                <a:schemeClr val="dk1"/>
              </a:solidFill>
              <a:latin typeface="Calibri"/>
              <a:ea typeface="Calibri"/>
              <a:cs typeface="Calibri"/>
              <a:sym typeface="Calibri"/>
            </a:endParaRPr>
          </a:p>
        </p:txBody>
      </p:sp>
      <p:sp>
        <p:nvSpPr>
          <p:cNvPr id="241" name="Google Shape;241;p12"/>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E  ·  TREATMENT</a:t>
            </a:r>
            <a:endParaRPr b="0" i="0" sz="900" u="none" cap="none" strike="noStrike">
              <a:solidFill>
                <a:schemeClr val="dk1"/>
              </a:solidFill>
              <a:latin typeface="Calibri"/>
              <a:ea typeface="Calibri"/>
              <a:cs typeface="Calibri"/>
              <a:sym typeface="Calibri"/>
            </a:endParaRPr>
          </a:p>
        </p:txBody>
      </p:sp>
      <p:sp>
        <p:nvSpPr>
          <p:cNvPr id="242" name="Google Shape;242;p12"/>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10 / 13</a:t>
            </a:r>
            <a:endParaRPr b="0" i="0" sz="900" u="none" cap="none" strike="noStrike">
              <a:solidFill>
                <a:schemeClr val="dk1"/>
              </a:solidFill>
              <a:latin typeface="Calibri"/>
              <a:ea typeface="Calibri"/>
              <a:cs typeface="Calibri"/>
              <a:sym typeface="Calibri"/>
            </a:endParaRPr>
          </a:p>
        </p:txBody>
      </p:sp>
      <p:sp>
        <p:nvSpPr>
          <p:cNvPr id="243" name="Google Shape;243;p12"/>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13"/>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777240" y="50292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Media &amp; Stigma</a:t>
            </a:r>
            <a:endParaRPr b="0" i="0" sz="3600" u="none" cap="none" strike="noStrike">
              <a:solidFill>
                <a:schemeClr val="dk1"/>
              </a:solidFill>
              <a:latin typeface="Calibri"/>
              <a:ea typeface="Calibri"/>
              <a:cs typeface="Calibri"/>
              <a:sym typeface="Calibri"/>
            </a:endParaRPr>
          </a:p>
        </p:txBody>
      </p:sp>
      <p:sp>
        <p:nvSpPr>
          <p:cNvPr id="251" name="Google Shape;251;p13"/>
          <p:cNvSpPr/>
          <p:nvPr/>
        </p:nvSpPr>
        <p:spPr>
          <a:xfrm>
            <a:off x="777240" y="12801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IN POPULAR CULTURE</a:t>
            </a:r>
            <a:endParaRPr b="0" i="0" sz="1000" u="none" cap="none" strike="noStrike">
              <a:solidFill>
                <a:schemeClr val="dk1"/>
              </a:solidFill>
              <a:latin typeface="Calibri"/>
              <a:ea typeface="Calibri"/>
              <a:cs typeface="Calibri"/>
              <a:sym typeface="Calibri"/>
            </a:endParaRPr>
          </a:p>
        </p:txBody>
      </p:sp>
      <p:sp>
        <p:nvSpPr>
          <p:cNvPr id="252" name="Google Shape;252;p13"/>
          <p:cNvSpPr/>
          <p:nvPr/>
        </p:nvSpPr>
        <p:spPr>
          <a:xfrm>
            <a:off x="777240" y="1645920"/>
            <a:ext cx="3520440" cy="31089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1005840" y="1783080"/>
            <a:ext cx="3108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400"/>
              <a:buFont typeface="Georgia"/>
              <a:buNone/>
            </a:pPr>
            <a:r>
              <a:rPr b="1" i="0" lang="en-US" sz="1400" u="none" cap="none" strike="noStrike">
                <a:solidFill>
                  <a:srgbClr val="1A2332"/>
                </a:solidFill>
                <a:latin typeface="Georgia"/>
                <a:ea typeface="Georgia"/>
                <a:cs typeface="Georgia"/>
                <a:sym typeface="Georgia"/>
              </a:rPr>
              <a:t>Hannibal: "Buffet Froid"</a:t>
            </a:r>
            <a:endParaRPr b="0" i="0" sz="1400" u="none" cap="none" strike="noStrike">
              <a:solidFill>
                <a:schemeClr val="dk1"/>
              </a:solidFill>
              <a:latin typeface="Calibri"/>
              <a:ea typeface="Calibri"/>
              <a:cs typeface="Calibri"/>
              <a:sym typeface="Calibri"/>
            </a:endParaRPr>
          </a:p>
        </p:txBody>
      </p:sp>
      <p:sp>
        <p:nvSpPr>
          <p:cNvPr id="254" name="Google Shape;254;p13"/>
          <p:cNvSpPr/>
          <p:nvPr/>
        </p:nvSpPr>
        <p:spPr>
          <a:xfrm>
            <a:off x="1005840" y="21945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Calibri"/>
              <a:buNone/>
            </a:pPr>
            <a:r>
              <a:rPr b="0" i="1" lang="en-US" sz="1000" u="none" cap="none" strike="noStrike">
                <a:solidFill>
                  <a:srgbClr val="8A8F9A"/>
                </a:solidFill>
                <a:latin typeface="Calibri"/>
                <a:ea typeface="Calibri"/>
                <a:cs typeface="Calibri"/>
                <a:sym typeface="Calibri"/>
              </a:rPr>
              <a:t>NBC, 2013  ·  S1 E10</a:t>
            </a:r>
            <a:endParaRPr b="0" i="0" sz="1000" u="none" cap="none" strike="noStrike">
              <a:solidFill>
                <a:schemeClr val="dk1"/>
              </a:solidFill>
              <a:latin typeface="Calibri"/>
              <a:ea typeface="Calibri"/>
              <a:cs typeface="Calibri"/>
              <a:sym typeface="Calibri"/>
            </a:endParaRPr>
          </a:p>
        </p:txBody>
      </p:sp>
      <p:sp>
        <p:nvSpPr>
          <p:cNvPr id="255" name="Google Shape;255;p13"/>
          <p:cNvSpPr/>
          <p:nvPr/>
        </p:nvSpPr>
        <p:spPr>
          <a:xfrm>
            <a:off x="1005840" y="260604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6670"/>
              </a:buClr>
              <a:buSzPts val="1000"/>
              <a:buFont typeface="Calibri"/>
              <a:buNone/>
            </a:pPr>
            <a:r>
              <a:rPr b="1" i="0" lang="en-US" sz="1000" u="none" cap="none" strike="noStrike">
                <a:solidFill>
                  <a:srgbClr val="4A6670"/>
                </a:solidFill>
                <a:latin typeface="Calibri"/>
                <a:ea typeface="Calibri"/>
                <a:cs typeface="Calibri"/>
                <a:sym typeface="Calibri"/>
              </a:rPr>
              <a:t>✓ Right: </a:t>
            </a:r>
            <a:r>
              <a:rPr b="0" i="0" lang="en-US" sz="1000" u="none" cap="none" strike="noStrike">
                <a:solidFill>
                  <a:srgbClr val="1A2332"/>
                </a:solidFill>
                <a:latin typeface="Calibri"/>
                <a:ea typeface="Calibri"/>
                <a:cs typeface="Calibri"/>
                <a:sym typeface="Calibri"/>
              </a:rPr>
              <a:t>Captures appetite loss, ECT as treatment, dissociation from one's own face.</a:t>
            </a:r>
            <a:endParaRPr b="0" i="0" sz="1000" u="none" cap="none" strike="noStrike">
              <a:solidFill>
                <a:schemeClr val="dk1"/>
              </a:solidFill>
              <a:latin typeface="Calibri"/>
              <a:ea typeface="Calibri"/>
              <a:cs typeface="Calibri"/>
              <a:sym typeface="Calibri"/>
            </a:endParaRPr>
          </a:p>
        </p:txBody>
      </p:sp>
      <p:sp>
        <p:nvSpPr>
          <p:cNvPr id="256" name="Google Shape;256;p13"/>
          <p:cNvSpPr/>
          <p:nvPr/>
        </p:nvSpPr>
        <p:spPr>
          <a:xfrm>
            <a:off x="1005840" y="361188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 Wrong: </a:t>
            </a:r>
            <a:r>
              <a:rPr b="0" i="0" lang="en-US" sz="1000" u="none" cap="none" strike="noStrike">
                <a:solidFill>
                  <a:srgbClr val="1A2332"/>
                </a:solidFill>
                <a:latin typeface="Calibri"/>
                <a:ea typeface="Calibri"/>
                <a:cs typeface="Calibri"/>
                <a:sym typeface="Calibri"/>
              </a:rPr>
              <a:t>Conflates Cotard's with violent murder; links a rare delusion to dangerousness.</a:t>
            </a:r>
            <a:endParaRPr b="0" i="0" sz="1000" u="none" cap="none" strike="noStrike">
              <a:solidFill>
                <a:schemeClr val="dk1"/>
              </a:solidFill>
              <a:latin typeface="Calibri"/>
              <a:ea typeface="Calibri"/>
              <a:cs typeface="Calibri"/>
              <a:sym typeface="Calibri"/>
            </a:endParaRPr>
          </a:p>
        </p:txBody>
      </p:sp>
      <p:sp>
        <p:nvSpPr>
          <p:cNvPr id="257" name="Google Shape;257;p13"/>
          <p:cNvSpPr/>
          <p:nvPr/>
        </p:nvSpPr>
        <p:spPr>
          <a:xfrm>
            <a:off x="4480560" y="1645920"/>
            <a:ext cx="3520440" cy="31089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4709160" y="1783080"/>
            <a:ext cx="3108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400"/>
              <a:buFont typeface="Georgia"/>
              <a:buNone/>
            </a:pPr>
            <a:r>
              <a:rPr b="1" i="0" lang="en-US" sz="1400" u="none" cap="none" strike="noStrike">
                <a:solidFill>
                  <a:srgbClr val="1A2332"/>
                </a:solidFill>
                <a:latin typeface="Georgia"/>
                <a:ea typeface="Georgia"/>
                <a:cs typeface="Georgia"/>
                <a:sym typeface="Georgia"/>
              </a:rPr>
              <a:t>Synecdoche, New York</a:t>
            </a:r>
            <a:endParaRPr b="0" i="0" sz="1400" u="none" cap="none" strike="noStrike">
              <a:solidFill>
                <a:schemeClr val="dk1"/>
              </a:solidFill>
              <a:latin typeface="Calibri"/>
              <a:ea typeface="Calibri"/>
              <a:cs typeface="Calibri"/>
              <a:sym typeface="Calibri"/>
            </a:endParaRPr>
          </a:p>
        </p:txBody>
      </p:sp>
      <p:sp>
        <p:nvSpPr>
          <p:cNvPr id="259" name="Google Shape;259;p13"/>
          <p:cNvSpPr/>
          <p:nvPr/>
        </p:nvSpPr>
        <p:spPr>
          <a:xfrm>
            <a:off x="4709160" y="21945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Calibri"/>
              <a:buNone/>
            </a:pPr>
            <a:r>
              <a:rPr b="0" i="1" lang="en-US" sz="1000" u="none" cap="none" strike="noStrike">
                <a:solidFill>
                  <a:srgbClr val="8A8F9A"/>
                </a:solidFill>
                <a:latin typeface="Calibri"/>
                <a:ea typeface="Calibri"/>
                <a:cs typeface="Calibri"/>
                <a:sym typeface="Calibri"/>
              </a:rPr>
              <a:t>Kaufman, 2008  ·  film</a:t>
            </a:r>
            <a:endParaRPr b="0" i="0" sz="1000" u="none" cap="none" strike="noStrike">
              <a:solidFill>
                <a:schemeClr val="dk1"/>
              </a:solidFill>
              <a:latin typeface="Calibri"/>
              <a:ea typeface="Calibri"/>
              <a:cs typeface="Calibri"/>
              <a:sym typeface="Calibri"/>
            </a:endParaRPr>
          </a:p>
        </p:txBody>
      </p:sp>
      <p:sp>
        <p:nvSpPr>
          <p:cNvPr id="260" name="Google Shape;260;p13"/>
          <p:cNvSpPr/>
          <p:nvPr/>
        </p:nvSpPr>
        <p:spPr>
          <a:xfrm>
            <a:off x="4709160" y="260604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6670"/>
              </a:buClr>
              <a:buSzPts val="1000"/>
              <a:buFont typeface="Calibri"/>
              <a:buNone/>
            </a:pPr>
            <a:r>
              <a:rPr b="1" i="0" lang="en-US" sz="1000" u="none" cap="none" strike="noStrike">
                <a:solidFill>
                  <a:srgbClr val="4A6670"/>
                </a:solidFill>
                <a:latin typeface="Calibri"/>
                <a:ea typeface="Calibri"/>
                <a:cs typeface="Calibri"/>
                <a:sym typeface="Calibri"/>
              </a:rPr>
              <a:t>✓ Right: </a:t>
            </a:r>
            <a:r>
              <a:rPr b="0" i="0" lang="en-US" sz="1000" u="none" cap="none" strike="noStrike">
                <a:solidFill>
                  <a:srgbClr val="1A2332"/>
                </a:solidFill>
                <a:latin typeface="Calibri"/>
                <a:ea typeface="Calibri"/>
                <a:cs typeface="Calibri"/>
                <a:sym typeface="Calibri"/>
              </a:rPr>
              <a:t>Protagonist named Caden Cotard; captures the existential despair and dissolution of self.</a:t>
            </a:r>
            <a:endParaRPr b="0" i="0" sz="1000" u="none" cap="none" strike="noStrike">
              <a:solidFill>
                <a:schemeClr val="dk1"/>
              </a:solidFill>
              <a:latin typeface="Calibri"/>
              <a:ea typeface="Calibri"/>
              <a:cs typeface="Calibri"/>
              <a:sym typeface="Calibri"/>
            </a:endParaRPr>
          </a:p>
        </p:txBody>
      </p:sp>
      <p:sp>
        <p:nvSpPr>
          <p:cNvPr id="261" name="Google Shape;261;p13"/>
          <p:cNvSpPr/>
          <p:nvPr/>
        </p:nvSpPr>
        <p:spPr>
          <a:xfrm>
            <a:off x="4709160" y="361188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 Wrong: </a:t>
            </a:r>
            <a:r>
              <a:rPr b="0" i="0" lang="en-US" sz="1000" u="none" cap="none" strike="noStrike">
                <a:solidFill>
                  <a:srgbClr val="1A2332"/>
                </a:solidFill>
                <a:latin typeface="Calibri"/>
                <a:ea typeface="Calibri"/>
                <a:cs typeface="Calibri"/>
                <a:sym typeface="Calibri"/>
              </a:rPr>
              <a:t>Metaphorical rather than clinical; viewers may not recognize it as a real disorder.</a:t>
            </a:r>
            <a:endParaRPr b="0" i="0" sz="1000" u="none" cap="none" strike="noStrike">
              <a:solidFill>
                <a:schemeClr val="dk1"/>
              </a:solidFill>
              <a:latin typeface="Calibri"/>
              <a:ea typeface="Calibri"/>
              <a:cs typeface="Calibri"/>
              <a:sym typeface="Calibri"/>
            </a:endParaRPr>
          </a:p>
        </p:txBody>
      </p:sp>
      <p:sp>
        <p:nvSpPr>
          <p:cNvPr id="262" name="Google Shape;262;p13"/>
          <p:cNvSpPr/>
          <p:nvPr/>
        </p:nvSpPr>
        <p:spPr>
          <a:xfrm>
            <a:off x="8183880" y="1645920"/>
            <a:ext cx="3520440" cy="3108960"/>
          </a:xfrm>
          <a:prstGeom prst="rect">
            <a:avLst/>
          </a:prstGeom>
          <a:solidFill>
            <a:srgbClr val="F0EAE0"/>
          </a:solidFill>
          <a:ln cap="flat" cmpd="sng" w="12700">
            <a:solidFill>
              <a:srgbClr val="F0EA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8412480" y="1783080"/>
            <a:ext cx="3108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400"/>
              <a:buFont typeface="Georgia"/>
              <a:buNone/>
            </a:pPr>
            <a:r>
              <a:rPr b="1" i="0" lang="en-US" sz="1400" u="none" cap="none" strike="noStrike">
                <a:solidFill>
                  <a:srgbClr val="1A2332"/>
                </a:solidFill>
                <a:latin typeface="Georgia"/>
                <a:ea typeface="Georgia"/>
                <a:cs typeface="Georgia"/>
                <a:sym typeface="Georgia"/>
              </a:rPr>
              <a:t>Scrubs: "My Bright Idea"</a:t>
            </a:r>
            <a:endParaRPr b="0" i="0" sz="1400" u="none" cap="none" strike="noStrike">
              <a:solidFill>
                <a:schemeClr val="dk1"/>
              </a:solidFill>
              <a:latin typeface="Calibri"/>
              <a:ea typeface="Calibri"/>
              <a:cs typeface="Calibri"/>
              <a:sym typeface="Calibri"/>
            </a:endParaRPr>
          </a:p>
        </p:txBody>
      </p:sp>
      <p:sp>
        <p:nvSpPr>
          <p:cNvPr id="264" name="Google Shape;264;p13"/>
          <p:cNvSpPr/>
          <p:nvPr/>
        </p:nvSpPr>
        <p:spPr>
          <a:xfrm>
            <a:off x="8412480" y="219456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1000"/>
              <a:buFont typeface="Calibri"/>
              <a:buNone/>
            </a:pPr>
            <a:r>
              <a:rPr b="0" i="1" lang="en-US" sz="1000" u="none" cap="none" strike="noStrike">
                <a:solidFill>
                  <a:srgbClr val="8A8F9A"/>
                </a:solidFill>
                <a:latin typeface="Calibri"/>
                <a:ea typeface="Calibri"/>
                <a:cs typeface="Calibri"/>
                <a:sym typeface="Calibri"/>
              </a:rPr>
              <a:t>ABC, 2005  ·  S4 E14</a:t>
            </a:r>
            <a:endParaRPr b="0" i="0" sz="1000" u="none" cap="none" strike="noStrike">
              <a:solidFill>
                <a:schemeClr val="dk1"/>
              </a:solidFill>
              <a:latin typeface="Calibri"/>
              <a:ea typeface="Calibri"/>
              <a:cs typeface="Calibri"/>
              <a:sym typeface="Calibri"/>
            </a:endParaRPr>
          </a:p>
        </p:txBody>
      </p:sp>
      <p:sp>
        <p:nvSpPr>
          <p:cNvPr id="265" name="Google Shape;265;p13"/>
          <p:cNvSpPr/>
          <p:nvPr/>
        </p:nvSpPr>
        <p:spPr>
          <a:xfrm>
            <a:off x="8412480" y="260604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6670"/>
              </a:buClr>
              <a:buSzPts val="1000"/>
              <a:buFont typeface="Calibri"/>
              <a:buNone/>
            </a:pPr>
            <a:r>
              <a:rPr b="1" i="0" lang="en-US" sz="1000" u="none" cap="none" strike="noStrike">
                <a:solidFill>
                  <a:srgbClr val="4A6670"/>
                </a:solidFill>
                <a:latin typeface="Calibri"/>
                <a:ea typeface="Calibri"/>
                <a:cs typeface="Calibri"/>
                <a:sym typeface="Calibri"/>
              </a:rPr>
              <a:t>✓ Right: </a:t>
            </a:r>
            <a:r>
              <a:rPr b="0" i="0" lang="en-US" sz="1000" u="none" cap="none" strike="noStrike">
                <a:solidFill>
                  <a:srgbClr val="1A2332"/>
                </a:solidFill>
                <a:latin typeface="Calibri"/>
                <a:ea typeface="Calibri"/>
                <a:cs typeface="Calibri"/>
                <a:sym typeface="Calibri"/>
              </a:rPr>
              <a:t>Brief but accurate mention of a patient who believes he died years earlier.</a:t>
            </a:r>
            <a:endParaRPr b="0" i="0" sz="1000" u="none" cap="none" strike="noStrike">
              <a:solidFill>
                <a:schemeClr val="dk1"/>
              </a:solidFill>
              <a:latin typeface="Calibri"/>
              <a:ea typeface="Calibri"/>
              <a:cs typeface="Calibri"/>
              <a:sym typeface="Calibri"/>
            </a:endParaRPr>
          </a:p>
        </p:txBody>
      </p:sp>
      <p:sp>
        <p:nvSpPr>
          <p:cNvPr id="266" name="Google Shape;266;p13"/>
          <p:cNvSpPr/>
          <p:nvPr/>
        </p:nvSpPr>
        <p:spPr>
          <a:xfrm>
            <a:off x="8412480" y="3611880"/>
            <a:ext cx="3108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 Wrong: </a:t>
            </a:r>
            <a:r>
              <a:rPr b="0" i="0" lang="en-US" sz="1000" u="none" cap="none" strike="noStrike">
                <a:solidFill>
                  <a:srgbClr val="1A2332"/>
                </a:solidFill>
                <a:latin typeface="Calibri"/>
                <a:ea typeface="Calibri"/>
                <a:cs typeface="Calibri"/>
                <a:sym typeface="Calibri"/>
              </a:rPr>
              <a:t>Used as a one-line gag, no exploration of treatment or lived experience.</a:t>
            </a:r>
            <a:endParaRPr b="0" i="0" sz="1000" u="none" cap="none" strike="noStrike">
              <a:solidFill>
                <a:schemeClr val="dk1"/>
              </a:solidFill>
              <a:latin typeface="Calibri"/>
              <a:ea typeface="Calibri"/>
              <a:cs typeface="Calibri"/>
              <a:sym typeface="Calibri"/>
            </a:endParaRPr>
          </a:p>
        </p:txBody>
      </p:sp>
      <p:sp>
        <p:nvSpPr>
          <p:cNvPr id="267" name="Google Shape;267;p13"/>
          <p:cNvSpPr/>
          <p:nvPr/>
        </p:nvSpPr>
        <p:spPr>
          <a:xfrm>
            <a:off x="777240" y="49834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2635"/>
              </a:buClr>
              <a:buSzPts val="1000"/>
              <a:buFont typeface="Calibri"/>
              <a:buNone/>
            </a:pPr>
            <a:r>
              <a:rPr b="1" i="0" lang="en-US" sz="1000" u="none" cap="none" strike="noStrike">
                <a:solidFill>
                  <a:srgbClr val="8B2635"/>
                </a:solidFill>
                <a:latin typeface="Calibri"/>
                <a:ea typeface="Calibri"/>
                <a:cs typeface="Calibri"/>
                <a:sym typeface="Calibri"/>
              </a:rPr>
              <a:t>STIGMA TODAY</a:t>
            </a:r>
            <a:endParaRPr b="0" i="0" sz="1000" u="none" cap="none" strike="noStrike">
              <a:solidFill>
                <a:schemeClr val="dk1"/>
              </a:solidFill>
              <a:latin typeface="Calibri"/>
              <a:ea typeface="Calibri"/>
              <a:cs typeface="Calibri"/>
              <a:sym typeface="Calibri"/>
            </a:endParaRPr>
          </a:p>
        </p:txBody>
      </p:sp>
      <p:sp>
        <p:nvSpPr>
          <p:cNvPr id="268" name="Google Shape;268;p13"/>
          <p:cNvSpPr/>
          <p:nvPr/>
        </p:nvSpPr>
        <p:spPr>
          <a:xfrm>
            <a:off x="777240" y="5303520"/>
            <a:ext cx="53492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Where stigma is decreasing: </a:t>
            </a:r>
            <a:r>
              <a:rPr b="0" i="0" lang="en-US" sz="1100" u="none" cap="none" strike="noStrike">
                <a:solidFill>
                  <a:srgbClr val="4A5563"/>
                </a:solidFill>
                <a:latin typeface="Calibri"/>
                <a:ea typeface="Calibri"/>
                <a:cs typeface="Calibri"/>
                <a:sym typeface="Calibri"/>
              </a:rPr>
              <a:t>Cotard's is too rare to carry a strong public stereotype, and popular neuroscience writing (Eagleman, 2011; Sacks, 1985) frames it as a window into self-awareness rather than horror.</a:t>
            </a:r>
            <a:endParaRPr b="0" i="0" sz="1100" u="none" cap="none" strike="noStrike">
              <a:solidFill>
                <a:schemeClr val="dk1"/>
              </a:solidFill>
              <a:latin typeface="Calibri"/>
              <a:ea typeface="Calibri"/>
              <a:cs typeface="Calibri"/>
              <a:sym typeface="Calibri"/>
            </a:endParaRPr>
          </a:p>
        </p:txBody>
      </p:sp>
      <p:sp>
        <p:nvSpPr>
          <p:cNvPr id="269" name="Google Shape;269;p13"/>
          <p:cNvSpPr/>
          <p:nvPr/>
        </p:nvSpPr>
        <p:spPr>
          <a:xfrm>
            <a:off x="6263640" y="5303520"/>
            <a:ext cx="53492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332"/>
              </a:buClr>
              <a:buSzPts val="1100"/>
              <a:buFont typeface="Calibri"/>
              <a:buNone/>
            </a:pPr>
            <a:r>
              <a:rPr b="1" i="0" lang="en-US" sz="1100" u="none" cap="none" strike="noStrike">
                <a:solidFill>
                  <a:srgbClr val="1A2332"/>
                </a:solidFill>
                <a:latin typeface="Calibri"/>
                <a:ea typeface="Calibri"/>
                <a:cs typeface="Calibri"/>
                <a:sym typeface="Calibri"/>
              </a:rPr>
              <a:t>What's still needed: </a:t>
            </a:r>
            <a:r>
              <a:rPr b="0" i="0" lang="en-US" sz="1100" u="none" cap="none" strike="noStrike">
                <a:solidFill>
                  <a:srgbClr val="4A5563"/>
                </a:solidFill>
                <a:latin typeface="Calibri"/>
                <a:ea typeface="Calibri"/>
                <a:cs typeface="Calibri"/>
                <a:sym typeface="Calibri"/>
              </a:rPr>
              <a:t>depictions of recovery (not just symptoms), reducing the lingering stigma around ECT, and teaching that delusions are clinical symptoms rather than moral or character failings.</a:t>
            </a:r>
            <a:endParaRPr b="0" i="0" sz="1100" u="none" cap="none" strike="noStrike">
              <a:solidFill>
                <a:schemeClr val="dk1"/>
              </a:solidFill>
              <a:latin typeface="Calibri"/>
              <a:ea typeface="Calibri"/>
              <a:cs typeface="Calibri"/>
              <a:sym typeface="Calibri"/>
            </a:endParaRPr>
          </a:p>
        </p:txBody>
      </p:sp>
      <p:sp>
        <p:nvSpPr>
          <p:cNvPr id="270" name="Google Shape;270;p13"/>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E  ·  STIGMA &amp; MEDIA</a:t>
            </a:r>
            <a:endParaRPr b="0" i="0" sz="900" u="none" cap="none" strike="noStrike">
              <a:solidFill>
                <a:schemeClr val="dk1"/>
              </a:solidFill>
              <a:latin typeface="Calibri"/>
              <a:ea typeface="Calibri"/>
              <a:cs typeface="Calibri"/>
              <a:sym typeface="Calibri"/>
            </a:endParaRPr>
          </a:p>
        </p:txBody>
      </p:sp>
      <p:sp>
        <p:nvSpPr>
          <p:cNvPr id="271" name="Google Shape;271;p13"/>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11 / 13</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332"/>
        </a:solidFill>
      </p:bgPr>
    </p:bg>
    <p:spTree>
      <p:nvGrpSpPr>
        <p:cNvPr id="277" name="Shape 277"/>
        <p:cNvGrpSpPr/>
        <p:nvPr/>
      </p:nvGrpSpPr>
      <p:grpSpPr>
        <a:xfrm>
          <a:off x="0" y="0"/>
          <a:ext cx="0" cy="0"/>
          <a:chOff x="0" y="0"/>
          <a:chExt cx="0" cy="0"/>
        </a:xfrm>
      </p:grpSpPr>
      <p:sp>
        <p:nvSpPr>
          <p:cNvPr id="278" name="Google Shape;278;p14"/>
          <p:cNvSpPr/>
          <p:nvPr/>
        </p:nvSpPr>
        <p:spPr>
          <a:xfrm>
            <a:off x="640080" y="640080"/>
            <a:ext cx="45720" cy="50292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868680" y="6400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1" i="0" lang="en-US" sz="1100" u="none" cap="none" strike="noStrike">
                <a:solidFill>
                  <a:srgbClr val="B0B6C0"/>
                </a:solidFill>
                <a:latin typeface="Calibri"/>
                <a:ea typeface="Calibri"/>
                <a:cs typeface="Calibri"/>
                <a:sym typeface="Calibri"/>
              </a:rPr>
              <a:t>KEY TAKEAWAYS</a:t>
            </a:r>
            <a:endParaRPr b="0" i="0" sz="1100" u="none" cap="none" strike="noStrike">
              <a:solidFill>
                <a:schemeClr val="dk1"/>
              </a:solidFill>
              <a:latin typeface="Calibri"/>
              <a:ea typeface="Calibri"/>
              <a:cs typeface="Calibri"/>
              <a:sym typeface="Calibri"/>
            </a:endParaRPr>
          </a:p>
        </p:txBody>
      </p:sp>
      <p:sp>
        <p:nvSpPr>
          <p:cNvPr id="280" name="Google Shape;280;p14"/>
          <p:cNvSpPr/>
          <p:nvPr/>
        </p:nvSpPr>
        <p:spPr>
          <a:xfrm>
            <a:off x="868680" y="105156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Georgia"/>
              <a:buNone/>
            </a:pPr>
            <a:r>
              <a:rPr b="1" i="0" lang="en-US" sz="2800" u="none" cap="none" strike="noStrike">
                <a:solidFill>
                  <a:srgbClr val="FFFFFF"/>
                </a:solidFill>
                <a:latin typeface="Georgia"/>
                <a:ea typeface="Georgia"/>
                <a:cs typeface="Georgia"/>
                <a:sym typeface="Georgia"/>
              </a:rPr>
              <a:t>Five things to remember about Cotard's Syndrome</a:t>
            </a:r>
            <a:endParaRPr b="0" i="0" sz="2800" u="none" cap="none" strike="noStrike">
              <a:solidFill>
                <a:schemeClr val="dk1"/>
              </a:solidFill>
              <a:latin typeface="Calibri"/>
              <a:ea typeface="Calibri"/>
              <a:cs typeface="Calibri"/>
              <a:sym typeface="Calibri"/>
            </a:endParaRPr>
          </a:p>
        </p:txBody>
      </p:sp>
      <p:sp>
        <p:nvSpPr>
          <p:cNvPr id="281" name="Google Shape;281;p14"/>
          <p:cNvSpPr/>
          <p:nvPr/>
        </p:nvSpPr>
        <p:spPr>
          <a:xfrm>
            <a:off x="868680" y="1920240"/>
            <a:ext cx="731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2400"/>
              <a:buFont typeface="Georgia"/>
              <a:buNone/>
            </a:pPr>
            <a:r>
              <a:rPr b="1" i="0" lang="en-US" sz="2400" u="none" cap="none" strike="noStrike">
                <a:solidFill>
                  <a:srgbClr val="8B2635"/>
                </a:solidFill>
                <a:latin typeface="Georgia"/>
                <a:ea typeface="Georgia"/>
                <a:cs typeface="Georgia"/>
                <a:sym typeface="Georgia"/>
              </a:rPr>
              <a:t>01</a:t>
            </a:r>
            <a:endParaRPr b="0" i="0" sz="2400" u="none" cap="none" strike="noStrike">
              <a:solidFill>
                <a:schemeClr val="dk1"/>
              </a:solidFill>
              <a:latin typeface="Calibri"/>
              <a:ea typeface="Calibri"/>
              <a:cs typeface="Calibri"/>
              <a:sym typeface="Calibri"/>
            </a:endParaRPr>
          </a:p>
        </p:txBody>
      </p:sp>
      <p:sp>
        <p:nvSpPr>
          <p:cNvPr id="282" name="Google Shape;282;p14"/>
          <p:cNvSpPr/>
          <p:nvPr/>
        </p:nvSpPr>
        <p:spPr>
          <a:xfrm>
            <a:off x="1691640" y="1920240"/>
            <a:ext cx="10058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It is a syndrome, not a DSM diagnosis</a:t>
            </a:r>
            <a:endParaRPr b="0" i="0" sz="1500" u="none" cap="none" strike="noStrike">
              <a:solidFill>
                <a:schemeClr val="dk1"/>
              </a:solidFill>
              <a:latin typeface="Calibri"/>
              <a:ea typeface="Calibri"/>
              <a:cs typeface="Calibri"/>
              <a:sym typeface="Calibri"/>
            </a:endParaRPr>
          </a:p>
        </p:txBody>
      </p:sp>
      <p:sp>
        <p:nvSpPr>
          <p:cNvPr id="283" name="Google Shape;283;p14"/>
          <p:cNvSpPr/>
          <p:nvPr/>
        </p:nvSpPr>
        <p:spPr>
          <a:xfrm>
            <a:off x="1691640" y="2212848"/>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0" i="0" lang="en-US" sz="1100" u="none" cap="none" strike="noStrike">
                <a:solidFill>
                  <a:srgbClr val="B0B6C0"/>
                </a:solidFill>
                <a:latin typeface="Calibri"/>
                <a:ea typeface="Calibri"/>
                <a:cs typeface="Calibri"/>
                <a:sym typeface="Calibri"/>
              </a:rPr>
              <a:t>Always sits beneath delusional disorder, psychotic depression, or organic psychosis.</a:t>
            </a:r>
            <a:endParaRPr b="0" i="0" sz="1100" u="none" cap="none" strike="noStrike">
              <a:solidFill>
                <a:schemeClr val="dk1"/>
              </a:solidFill>
              <a:latin typeface="Calibri"/>
              <a:ea typeface="Calibri"/>
              <a:cs typeface="Calibri"/>
              <a:sym typeface="Calibri"/>
            </a:endParaRPr>
          </a:p>
        </p:txBody>
      </p:sp>
      <p:sp>
        <p:nvSpPr>
          <p:cNvPr id="284" name="Google Shape;284;p14"/>
          <p:cNvSpPr/>
          <p:nvPr/>
        </p:nvSpPr>
        <p:spPr>
          <a:xfrm>
            <a:off x="868680" y="2697480"/>
            <a:ext cx="731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2400"/>
              <a:buFont typeface="Georgia"/>
              <a:buNone/>
            </a:pPr>
            <a:r>
              <a:rPr b="1" i="0" lang="en-US" sz="2400" u="none" cap="none" strike="noStrike">
                <a:solidFill>
                  <a:srgbClr val="8B2635"/>
                </a:solidFill>
                <a:latin typeface="Georgia"/>
                <a:ea typeface="Georgia"/>
                <a:cs typeface="Georgia"/>
                <a:sym typeface="Georgia"/>
              </a:rPr>
              <a:t>02</a:t>
            </a:r>
            <a:endParaRPr b="0" i="0" sz="2400" u="none" cap="none" strike="noStrike">
              <a:solidFill>
                <a:schemeClr val="dk1"/>
              </a:solidFill>
              <a:latin typeface="Calibri"/>
              <a:ea typeface="Calibri"/>
              <a:cs typeface="Calibri"/>
              <a:sym typeface="Calibri"/>
            </a:endParaRPr>
          </a:p>
        </p:txBody>
      </p:sp>
      <p:sp>
        <p:nvSpPr>
          <p:cNvPr id="285" name="Google Shape;285;p14"/>
          <p:cNvSpPr/>
          <p:nvPr/>
        </p:nvSpPr>
        <p:spPr>
          <a:xfrm>
            <a:off x="1691640" y="2697480"/>
            <a:ext cx="10058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The signature is paradox</a:t>
            </a:r>
            <a:endParaRPr b="0" i="0" sz="1500" u="none" cap="none" strike="noStrike">
              <a:solidFill>
                <a:schemeClr val="dk1"/>
              </a:solidFill>
              <a:latin typeface="Calibri"/>
              <a:ea typeface="Calibri"/>
              <a:cs typeface="Calibri"/>
              <a:sym typeface="Calibri"/>
            </a:endParaRPr>
          </a:p>
        </p:txBody>
      </p:sp>
      <p:sp>
        <p:nvSpPr>
          <p:cNvPr id="286" name="Google Shape;286;p14"/>
          <p:cNvSpPr/>
          <p:nvPr/>
        </p:nvSpPr>
        <p:spPr>
          <a:xfrm>
            <a:off x="1691640" y="2990088"/>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0" i="0" lang="en-US" sz="1100" u="none" cap="none" strike="noStrike">
                <a:solidFill>
                  <a:srgbClr val="B0B6C0"/>
                </a:solidFill>
                <a:latin typeface="Calibri"/>
                <a:ea typeface="Calibri"/>
                <a:cs typeface="Calibri"/>
                <a:sym typeface="Calibri"/>
              </a:rPr>
              <a:t>“I am dead” + “I cannot die”—the contradiction is what distinguishes it from depression alone.</a:t>
            </a:r>
            <a:endParaRPr b="0" i="0" sz="1100" u="none" cap="none" strike="noStrike">
              <a:solidFill>
                <a:schemeClr val="dk1"/>
              </a:solidFill>
              <a:latin typeface="Calibri"/>
              <a:ea typeface="Calibri"/>
              <a:cs typeface="Calibri"/>
              <a:sym typeface="Calibri"/>
            </a:endParaRPr>
          </a:p>
        </p:txBody>
      </p:sp>
      <p:sp>
        <p:nvSpPr>
          <p:cNvPr id="287" name="Google Shape;287;p14"/>
          <p:cNvSpPr/>
          <p:nvPr/>
        </p:nvSpPr>
        <p:spPr>
          <a:xfrm>
            <a:off x="868680" y="3474720"/>
            <a:ext cx="731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2400"/>
              <a:buFont typeface="Georgia"/>
              <a:buNone/>
            </a:pPr>
            <a:r>
              <a:rPr b="1" i="0" lang="en-US" sz="2400" u="none" cap="none" strike="noStrike">
                <a:solidFill>
                  <a:srgbClr val="8B2635"/>
                </a:solidFill>
                <a:latin typeface="Georgia"/>
                <a:ea typeface="Georgia"/>
                <a:cs typeface="Georgia"/>
                <a:sym typeface="Georgia"/>
              </a:rPr>
              <a:t>03</a:t>
            </a:r>
            <a:endParaRPr b="0" i="0" sz="2400" u="none" cap="none" strike="noStrike">
              <a:solidFill>
                <a:schemeClr val="dk1"/>
              </a:solidFill>
              <a:latin typeface="Calibri"/>
              <a:ea typeface="Calibri"/>
              <a:cs typeface="Calibri"/>
              <a:sym typeface="Calibri"/>
            </a:endParaRPr>
          </a:p>
        </p:txBody>
      </p:sp>
      <p:sp>
        <p:nvSpPr>
          <p:cNvPr id="288" name="Google Shape;288;p14"/>
          <p:cNvSpPr/>
          <p:nvPr/>
        </p:nvSpPr>
        <p:spPr>
          <a:xfrm>
            <a:off x="1691640" y="3474720"/>
            <a:ext cx="10058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It bridges psychiatry and neurology</a:t>
            </a:r>
            <a:endParaRPr b="0" i="0" sz="1500" u="none" cap="none" strike="noStrike">
              <a:solidFill>
                <a:schemeClr val="dk1"/>
              </a:solidFill>
              <a:latin typeface="Calibri"/>
              <a:ea typeface="Calibri"/>
              <a:cs typeface="Calibri"/>
              <a:sym typeface="Calibri"/>
            </a:endParaRPr>
          </a:p>
        </p:txBody>
      </p:sp>
      <p:sp>
        <p:nvSpPr>
          <p:cNvPr id="289" name="Google Shape;289;p14"/>
          <p:cNvSpPr/>
          <p:nvPr/>
        </p:nvSpPr>
        <p:spPr>
          <a:xfrm>
            <a:off x="1691640" y="3767328"/>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0" i="0" lang="en-US" sz="1100" u="none" cap="none" strike="noStrike">
                <a:solidFill>
                  <a:srgbClr val="B0B6C0"/>
                </a:solidFill>
                <a:latin typeface="Calibri"/>
                <a:ea typeface="Calibri"/>
                <a:cs typeface="Calibri"/>
                <a:sym typeface="Calibri"/>
              </a:rPr>
              <a:t>Two-thirds psychiatric, one-third organic—rare clinical evidence of mind/brain unity.</a:t>
            </a:r>
            <a:endParaRPr b="0" i="0" sz="1100" u="none" cap="none" strike="noStrike">
              <a:solidFill>
                <a:schemeClr val="dk1"/>
              </a:solidFill>
              <a:latin typeface="Calibri"/>
              <a:ea typeface="Calibri"/>
              <a:cs typeface="Calibri"/>
              <a:sym typeface="Calibri"/>
            </a:endParaRPr>
          </a:p>
        </p:txBody>
      </p:sp>
      <p:sp>
        <p:nvSpPr>
          <p:cNvPr id="290" name="Google Shape;290;p14"/>
          <p:cNvSpPr/>
          <p:nvPr/>
        </p:nvSpPr>
        <p:spPr>
          <a:xfrm>
            <a:off x="868680" y="4251960"/>
            <a:ext cx="731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2400"/>
              <a:buFont typeface="Georgia"/>
              <a:buNone/>
            </a:pPr>
            <a:r>
              <a:rPr b="1" i="0" lang="en-US" sz="2400" u="none" cap="none" strike="noStrike">
                <a:solidFill>
                  <a:srgbClr val="8B2635"/>
                </a:solidFill>
                <a:latin typeface="Georgia"/>
                <a:ea typeface="Georgia"/>
                <a:cs typeface="Georgia"/>
                <a:sym typeface="Georgia"/>
              </a:rPr>
              <a:t>04</a:t>
            </a:r>
            <a:endParaRPr b="0" i="0" sz="2400" u="none" cap="none" strike="noStrike">
              <a:solidFill>
                <a:schemeClr val="dk1"/>
              </a:solidFill>
              <a:latin typeface="Calibri"/>
              <a:ea typeface="Calibri"/>
              <a:cs typeface="Calibri"/>
              <a:sym typeface="Calibri"/>
            </a:endParaRPr>
          </a:p>
        </p:txBody>
      </p:sp>
      <p:sp>
        <p:nvSpPr>
          <p:cNvPr id="291" name="Google Shape;291;p14"/>
          <p:cNvSpPr/>
          <p:nvPr/>
        </p:nvSpPr>
        <p:spPr>
          <a:xfrm>
            <a:off x="1691640" y="4251960"/>
            <a:ext cx="10058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Cotard's mirrors Capgras</a:t>
            </a:r>
            <a:endParaRPr b="0" i="0" sz="1500" u="none" cap="none" strike="noStrike">
              <a:solidFill>
                <a:schemeClr val="dk1"/>
              </a:solidFill>
              <a:latin typeface="Calibri"/>
              <a:ea typeface="Calibri"/>
              <a:cs typeface="Calibri"/>
              <a:sym typeface="Calibri"/>
            </a:endParaRPr>
          </a:p>
        </p:txBody>
      </p:sp>
      <p:sp>
        <p:nvSpPr>
          <p:cNvPr id="292" name="Google Shape;292;p14"/>
          <p:cNvSpPr/>
          <p:nvPr/>
        </p:nvSpPr>
        <p:spPr>
          <a:xfrm>
            <a:off x="1691640" y="4544568"/>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0" i="0" lang="en-US" sz="1100" u="none" cap="none" strike="noStrike">
                <a:solidFill>
                  <a:srgbClr val="B0B6C0"/>
                </a:solidFill>
                <a:latin typeface="Calibri"/>
                <a:ea typeface="Calibri"/>
                <a:cs typeface="Calibri"/>
                <a:sym typeface="Calibri"/>
              </a:rPr>
              <a:t>Same disconnection between recognition and emotion, pointed inward instead of outward.</a:t>
            </a:r>
            <a:endParaRPr b="0" i="0" sz="1100" u="none" cap="none" strike="noStrike">
              <a:solidFill>
                <a:schemeClr val="dk1"/>
              </a:solidFill>
              <a:latin typeface="Calibri"/>
              <a:ea typeface="Calibri"/>
              <a:cs typeface="Calibri"/>
              <a:sym typeface="Calibri"/>
            </a:endParaRPr>
          </a:p>
        </p:txBody>
      </p:sp>
      <p:sp>
        <p:nvSpPr>
          <p:cNvPr id="293" name="Google Shape;293;p14"/>
          <p:cNvSpPr/>
          <p:nvPr/>
        </p:nvSpPr>
        <p:spPr>
          <a:xfrm>
            <a:off x="868680" y="5029200"/>
            <a:ext cx="7315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2635"/>
              </a:buClr>
              <a:buSzPts val="2400"/>
              <a:buFont typeface="Georgia"/>
              <a:buNone/>
            </a:pPr>
            <a:r>
              <a:rPr b="1" i="0" lang="en-US" sz="2400" u="none" cap="none" strike="noStrike">
                <a:solidFill>
                  <a:srgbClr val="8B2635"/>
                </a:solidFill>
                <a:latin typeface="Georgia"/>
                <a:ea typeface="Georgia"/>
                <a:cs typeface="Georgia"/>
                <a:sym typeface="Georgia"/>
              </a:rPr>
              <a:t>05</a:t>
            </a:r>
            <a:endParaRPr b="0" i="0" sz="2400" u="none" cap="none" strike="noStrike">
              <a:solidFill>
                <a:schemeClr val="dk1"/>
              </a:solidFill>
              <a:latin typeface="Calibri"/>
              <a:ea typeface="Calibri"/>
              <a:cs typeface="Calibri"/>
              <a:sym typeface="Calibri"/>
            </a:endParaRPr>
          </a:p>
        </p:txBody>
      </p:sp>
      <p:sp>
        <p:nvSpPr>
          <p:cNvPr id="294" name="Google Shape;294;p14"/>
          <p:cNvSpPr/>
          <p:nvPr/>
        </p:nvSpPr>
        <p:spPr>
          <a:xfrm>
            <a:off x="1691640" y="5029200"/>
            <a:ext cx="100584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ECT remains the most reliable cure</a:t>
            </a:r>
            <a:endParaRPr b="0" i="0" sz="1500" u="none" cap="none" strike="noStrike">
              <a:solidFill>
                <a:schemeClr val="dk1"/>
              </a:solidFill>
              <a:latin typeface="Calibri"/>
              <a:ea typeface="Calibri"/>
              <a:cs typeface="Calibri"/>
              <a:sym typeface="Calibri"/>
            </a:endParaRPr>
          </a:p>
        </p:txBody>
      </p:sp>
      <p:sp>
        <p:nvSpPr>
          <p:cNvPr id="295" name="Google Shape;295;p14"/>
          <p:cNvSpPr/>
          <p:nvPr/>
        </p:nvSpPr>
        <p:spPr>
          <a:xfrm>
            <a:off x="1691640" y="5321808"/>
            <a:ext cx="10058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0B6C0"/>
              </a:buClr>
              <a:buSzPts val="1100"/>
              <a:buFont typeface="Calibri"/>
              <a:buNone/>
            </a:pPr>
            <a:r>
              <a:rPr b="0" i="0" lang="en-US" sz="1100" u="none" cap="none" strike="noStrike">
                <a:solidFill>
                  <a:srgbClr val="B0B6C0"/>
                </a:solidFill>
                <a:latin typeface="Calibri"/>
                <a:ea typeface="Calibri"/>
                <a:cs typeface="Calibri"/>
                <a:sym typeface="Calibri"/>
              </a:rPr>
              <a:t>Brain imaging confirms—perfusion deficits resolve after treatment.</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868680" y="60807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CD9"/>
              </a:buClr>
              <a:buSzPts val="1200"/>
              <a:buFont typeface="Georgia"/>
              <a:buNone/>
            </a:pPr>
            <a:r>
              <a:rPr b="0" i="1" lang="en-US" sz="1200" u="none" cap="none" strike="noStrike">
                <a:solidFill>
                  <a:srgbClr val="E8DCD9"/>
                </a:solidFill>
                <a:latin typeface="Georgia"/>
                <a:ea typeface="Georgia"/>
                <a:cs typeface="Georgia"/>
                <a:sym typeface="Georgia"/>
              </a:rPr>
              <a:t>Cotard's Syndrome reminds us that even "being alive" is something the brain has to construct—and that construction can break.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5"/>
          <p:cNvSpPr/>
          <p:nvPr/>
        </p:nvSpPr>
        <p:spPr>
          <a:xfrm>
            <a:off x="457200" y="731520"/>
            <a:ext cx="36576" cy="5486400"/>
          </a:xfrm>
          <a:prstGeom prst="rect">
            <a:avLst/>
          </a:prstGeom>
          <a:solidFill>
            <a:srgbClr val="8B2635"/>
          </a:solidFill>
          <a:ln cap="flat" cmpd="sng" w="12700">
            <a:solidFill>
              <a:srgbClr val="8B2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777240" y="50292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332"/>
              </a:buClr>
              <a:buSzPts val="3600"/>
              <a:buFont typeface="Georgia"/>
              <a:buNone/>
            </a:pPr>
            <a:r>
              <a:rPr b="1" i="0" lang="en-US" sz="3600" u="none" cap="none" strike="noStrike">
                <a:solidFill>
                  <a:srgbClr val="1A2332"/>
                </a:solidFill>
                <a:latin typeface="Georgia"/>
                <a:ea typeface="Georgia"/>
                <a:cs typeface="Georgia"/>
                <a:sym typeface="Georgia"/>
              </a:rPr>
              <a:t>References</a:t>
            </a:r>
            <a:endParaRPr b="0" i="0" sz="3600" u="none" cap="none" strike="noStrike">
              <a:solidFill>
                <a:schemeClr val="dk1"/>
              </a:solidFill>
              <a:latin typeface="Calibri"/>
              <a:ea typeface="Calibri"/>
              <a:cs typeface="Calibri"/>
              <a:sym typeface="Calibri"/>
            </a:endParaRPr>
          </a:p>
        </p:txBody>
      </p:sp>
      <p:sp>
        <p:nvSpPr>
          <p:cNvPr id="304" name="Google Shape;304;p15"/>
          <p:cNvSpPr/>
          <p:nvPr/>
        </p:nvSpPr>
        <p:spPr>
          <a:xfrm>
            <a:off x="777240" y="114300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3"/>
              </a:buClr>
              <a:buSzPts val="1400"/>
              <a:buFont typeface="Calibri"/>
              <a:buNone/>
            </a:pPr>
            <a:r>
              <a:rPr b="0" i="1" lang="en-US" sz="1400" u="none" cap="none" strike="noStrike">
                <a:solidFill>
                  <a:srgbClr val="4A5563"/>
                </a:solidFill>
                <a:latin typeface="Calibri"/>
                <a:ea typeface="Calibri"/>
                <a:cs typeface="Calibri"/>
                <a:sym typeface="Calibri"/>
              </a:rPr>
              <a:t>APA 7th edition · primary peer-reviewed sources</a:t>
            </a:r>
            <a:endParaRPr b="0" i="0" sz="1400" u="none" cap="none" strike="noStrike">
              <a:solidFill>
                <a:schemeClr val="dk1"/>
              </a:solidFill>
              <a:latin typeface="Calibri"/>
              <a:ea typeface="Calibri"/>
              <a:cs typeface="Calibri"/>
              <a:sym typeface="Calibri"/>
            </a:endParaRPr>
          </a:p>
        </p:txBody>
      </p:sp>
      <p:sp>
        <p:nvSpPr>
          <p:cNvPr id="305" name="Google Shape;305;p15"/>
          <p:cNvSpPr/>
          <p:nvPr/>
        </p:nvSpPr>
        <p:spPr>
          <a:xfrm>
            <a:off x="777240" y="1691640"/>
            <a:ext cx="10607040" cy="457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American Psychiatric Association. (2022). Diagnostic and statistical manual of mental disorders (5th ed., text rev.). American Psychiatric Association Publishing. https://doi.org/10.1176/appi.books.9780890425787</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Berrios, G. E., &amp; Luque, R. (1995). Cotard's syndrome: Analysis of 100 cases. Acta Psychiatrica Scandinavica, 91(3), 185–188. https://doi.org/10.1111/j.1600-0447.1995.tb09764.x</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Chiu, H. F. K. (1995). Cotard's syndrome in psychogeriatric patients in Hong Kong. General Hospital Psychiatry, 17(1), 54–55. https://doi.org/10.1016/0163-8343(94)00066-M</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Debruyne, H., Portzky, M., Van den Eynde, F., &amp; Audenaert, K. (2009). Cotard's syndrome: A review. Current Psychiatry Reports, 11(3), 197–202. https://doi.org/10.1007/s11920-009-0031-z</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De Risio, S., De Rossi, G., Sarchiapone, M., Camardese, G., Carli, V., Cuomo, C., Di Giannantonio, M., Janiri, L., &amp; Bria, P. (2004). A case of Cotard syndrome: 123I-IBZM SPECT imaging of striatal D2 receptor binding. Psychiatry Research: Neuroimaging, 130(1), 109–112. https://doi.org/10.1016/j.pscychresns.2003.10.003</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Dieguez, S. (2018). Cotard syndrome. Frontiers of Neurology and Neuroscience, 42, 23–34. https://doi.org/10.1159/000475679</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Eagleman, D. (2011). Incognito: The secret lives of the brain. Pantheon Books.</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Huarcaya-Victoria, J., Bojórquez-De la Torre, J., &amp; De la Cruz-Oré, J. (2020). Factor structure of Cotard's syndrome: Systematic review of case reports. Revista Colombiana de Psiquiatría, 49(3), 187–193. https://doi.org/10.1016/j.rcp.2018.10.008</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Joseph, A. B., &amp; O'Leary, D. H. (1986). Brain atrophy and interhemispheric fissure enlargement in Cotard's syndrome. Journal of Clinical Psychiatry, 47(10), 518–520.</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Moschopoulos, N. P., Kaprinis, S., &amp; Nimatoudis, J. (2016). Cotard's syndrome: Case report and a brief review of the literature. Psychiatriki, 27(4), 296–302. https://doi.org/10.22365/jpsych.2016.274.296</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Petracca, G., Migliorelli, R., Vázquez, S., &amp; Starkstein, S. E. (1995). SPECT findings before and after ECT in a patient with major depression and Cotard's syndrome. Journal of Neuropsychiatry and Clinical Neurosciences, 7(4), 505–507.</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Ramirez-Bermudez, J., Aguilar-Venegas, L. C., Crail-Melendez, D., Espinola-Nadurille, M., Nente, F., &amp; Mendez, M. F. (2010). Cotard syndrome in neurological and psychiatric patients. Journal of Neuropsychiatry and Clinical Neurosciences, 22(4), 409–416. https://doi.org/10.1176/jnp.2010.22.4.409</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Sacks, O. (1985). The man who mistook his wife for a hat and other clinical tales. Summit Books.</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Taib, N. I. A., Wahab, S., Khoo, C. S., Tan, H. J., Kamaruzaman, L., Woon, L. S.-C., &amp; Gan, L. L. Y. (2022). Case report: Cotard's syndrome in anti-NMDA receptor encephalitis. Frontiers in Psychiatry, 13, 779520. https://doi.org/10.3389/fpsyt.2022.779520</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Terao, T., Fujino, A., Egashira, K., &amp; Abe, K. (1994). Lithium-antidepressant combination in the treatment of depressive Cotard's syndrome. Clinical Neuropharmacology, 17(3), 270–272.</a:t>
            </a:r>
            <a:endParaRPr b="0" i="0" sz="10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1A2332"/>
              </a:buClr>
              <a:buSzPts val="1000"/>
              <a:buFont typeface="Calibri"/>
              <a:buNone/>
            </a:pPr>
            <a:r>
              <a:rPr b="0" i="0" lang="en-US" sz="1000" u="none" cap="none" strike="noStrike">
                <a:solidFill>
                  <a:srgbClr val="1A2332"/>
                </a:solidFill>
                <a:latin typeface="Calibri"/>
                <a:ea typeface="Calibri"/>
                <a:cs typeface="Calibri"/>
                <a:sym typeface="Calibri"/>
              </a:rPr>
              <a:t>Young, A. W., &amp; Leafhead, K. M. (1996). Betwixt life and death: Case studies of the Cotard delusion. In P. W. Halligan &amp; J. C. Marshall (Eds.), Method in madness: Case studies in cognitive neuropsychiatry (pp. 147–171). Psychology Press.</a:t>
            </a:r>
            <a:endParaRPr b="0" i="0" sz="1000" u="none" cap="none" strike="noStrike">
              <a:solidFill>
                <a:schemeClr val="dk1"/>
              </a:solidFill>
              <a:latin typeface="Calibri"/>
              <a:ea typeface="Calibri"/>
              <a:cs typeface="Calibri"/>
              <a:sym typeface="Calibri"/>
            </a:endParaRPr>
          </a:p>
        </p:txBody>
      </p:sp>
      <p:sp>
        <p:nvSpPr>
          <p:cNvPr id="306" name="Google Shape;306;p15"/>
          <p:cNvSpPr/>
          <p:nvPr/>
        </p:nvSpPr>
        <p:spPr>
          <a:xfrm>
            <a:off x="7772400" y="292608"/>
            <a:ext cx="39319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1" i="0" lang="en-US" sz="900" u="none" cap="none" strike="noStrike">
                <a:solidFill>
                  <a:srgbClr val="8A8F9A"/>
                </a:solidFill>
                <a:latin typeface="Calibri"/>
                <a:ea typeface="Calibri"/>
                <a:cs typeface="Calibri"/>
                <a:sym typeface="Calibri"/>
              </a:rPr>
              <a:t>F  ·  REFERENCES</a:t>
            </a:r>
            <a:endParaRPr b="0" i="0" sz="900" u="none" cap="none" strike="noStrike">
              <a:solidFill>
                <a:schemeClr val="dk1"/>
              </a:solidFill>
              <a:latin typeface="Calibri"/>
              <a:ea typeface="Calibri"/>
              <a:cs typeface="Calibri"/>
              <a:sym typeface="Calibri"/>
            </a:endParaRPr>
          </a:p>
        </p:txBody>
      </p:sp>
      <p:sp>
        <p:nvSpPr>
          <p:cNvPr id="307" name="Google Shape;307;p15"/>
          <p:cNvSpPr/>
          <p:nvPr/>
        </p:nvSpPr>
        <p:spPr>
          <a:xfrm>
            <a:off x="10972800" y="644652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13 / 13</a:t>
            </a:r>
            <a:endParaRPr b="0" i="0" sz="900" u="none" cap="none" strike="noStrike">
              <a:solidFill>
                <a:schemeClr val="dk1"/>
              </a:solidFill>
              <a:latin typeface="Calibri"/>
              <a:ea typeface="Calibri"/>
              <a:cs typeface="Calibri"/>
              <a:sym typeface="Calibri"/>
            </a:endParaRPr>
          </a:p>
        </p:txBody>
      </p:sp>
      <p:sp>
        <p:nvSpPr>
          <p:cNvPr id="308" name="Google Shape;308;p15"/>
          <p:cNvSpPr/>
          <p:nvPr/>
        </p:nvSpPr>
        <p:spPr>
          <a:xfrm>
            <a:off x="457200" y="644652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9A"/>
              </a:buClr>
              <a:buSzPts val="900"/>
              <a:buFont typeface="Calibri"/>
              <a:buNone/>
            </a:pPr>
            <a:r>
              <a:rPr b="0" i="0" lang="en-US" sz="900" u="none" cap="none" strike="noStrike">
                <a:solidFill>
                  <a:srgbClr val="8A8F9A"/>
                </a:solidFill>
                <a:latin typeface="Calibri"/>
                <a:ea typeface="Calibri"/>
                <a:cs typeface="Calibri"/>
                <a:sym typeface="Calibri"/>
              </a:rPr>
              <a:t>Larry Zhong  |  Psychology  |  Ms. Fani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