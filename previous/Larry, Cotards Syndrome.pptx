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Frequency (%)</c:v>
                </c:pt>
              </c:strCache>
            </c:strRef>
          </c:tx>
          <c:spPr>
            <a:solidFill>
              <a:srgbClr val="8B2635"/>
            </a:solidFill>
            <a:effectLst/>
          </c:spPr>
          <c:invertIfNegative val="0"/>
          <c:dLbls>
            <c:numFmt formatCode="0&quot;%&quot;" sourceLinked="0"/>
            <c:txPr>
              <a:bodyPr/>
              <a:lstStyle/>
              <a:p>
                <a:pPr>
                  <a:defRPr b="0" i="0" strike="noStrike" sz="1000" u="none">
                    <a:solidFill>
                      <a:srgbClr val="1A2332"/>
                    </a:solidFill>
                    <a:latin typeface="Calibri"/>
                  </a:defRPr>
                </a:pPr>
              </a:p>
            </c:txPr>
            <c:showLegendKey val="0"/>
            <c:showVal val="1"/>
            <c:showCatName val="0"/>
            <c:showSerName val="0"/>
            <c:showPercent val="0"/>
            <c:showBubbleSize val="0"/>
            <c:showLeaderLines val="0"/>
          </c:dLbls>
          <c:cat>
            <c:multiLvlStrRef>
              <c:f>Sheet1!$A$2:$A$8</c:f>
              <c:multiLvlStrCache>
                <c:ptCount val="7"/>
                <c:lvl>
                  <c:pt idx="0">
                    <c:v>Depressed mood</c:v>
                  </c:pt>
                  <c:pt idx="1">
                    <c:v>Body delusions</c:v>
                  </c:pt>
                  <c:pt idx="2">
                    <c:v>Anxiety</c:v>
                  </c:pt>
                  <c:pt idx="3">
                    <c:v>Existence delusions</c:v>
                  </c:pt>
                  <c:pt idx="4">
                    <c:v>Guilt</c:v>
                  </c:pt>
                  <c:pt idx="5">
                    <c:v>Hypochondriacal delusions</c:v>
                  </c:pt>
                  <c:pt idx="6">
                    <c:v>Immortality delusions</c:v>
                  </c:pt>
                </c:lvl>
              </c:multiLvlStrCache>
            </c:multiLvlStrRef>
          </c:cat>
          <c:val>
            <c:numRef>
              <c:f>Sheet1!$B$2:$B$8</c:f>
              <c:numCache>
                <c:formatCode>General</c:formatCode>
                <c:ptCount val="7"/>
                <c:pt idx="0">
                  <c:v>89</c:v>
                </c:pt>
                <c:pt idx="1">
                  <c:v>86</c:v>
                </c:pt>
                <c:pt idx="2">
                  <c:v>65</c:v>
                </c:pt>
                <c:pt idx="3">
                  <c:v>69</c:v>
                </c:pt>
                <c:pt idx="4">
                  <c:v>63</c:v>
                </c:pt>
                <c:pt idx="5">
                  <c:v>58</c:v>
                </c:pt>
                <c:pt idx="6">
                  <c:v>55</c:v>
                </c:pt>
              </c:numCache>
            </c:numRef>
          </c:val>
        </c:ser>
        <c:dLbls>
          <c:numFmt formatCode="0&quot;%&quot;" sourceLinked="0"/>
          <c:txPr>
            <a:bodyPr/>
            <a:lstStyle/>
            <a:p>
              <a:pPr>
                <a:defRPr b="0" i="0" strike="noStrike" sz="1000" u="none">
                  <a:solidFill>
                    <a:srgbClr val="1A233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332"/>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DEDED"/>
              </a:solidFill>
              <a:prstDash val="solid"/>
              <a:round/>
            </a:ln>
          </c:spPr>
        </c:majorGridlines>
        <c:title>
          <c:tx>
            <c:rich>
              <a:bodyPr/>
              <a:lstStyle/>
              <a:p>
                <a:pPr>
                  <a:defRPr sz="1000" b="0" i="0" u="none" strike="noStrike">
                    <a:solidFill>
                      <a:srgbClr val="4A5563"/>
                    </a:solidFill>
                    <a:latin typeface="Calibri"/>
                  </a:defRPr>
                </a:pPr>
                <a:r>
                  <a:rPr sz="1000" b="0" i="0" u="none" strike="noStrike">
                    <a:solidFill>
                      <a:srgbClr val="4A5563"/>
                    </a:solidFill>
                    <a:latin typeface="Calibri"/>
                  </a:rPr>
                  <a:t>Frequency (% of cases)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A8F9A"/>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Imagine waking up one morning convinced that you are dead. Not metaphorically—literally. You believe your heart isn't beating, your organs have rotted, and you might already be in some form of afterlife. But you can still see, walk, and talk. That contradiction is what defines Cotard's syndrome—also called the Walking Corpse Delusion. Today I'll cover its diagnostic criteria, history, who gets it, what's happening in the brain, and how it's treated. The quote on screen is from Mademoiselle X, the original case described by Jules Cotard in 1880.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I'll move through six sections matching the assignment rubric. First the diagnostic criteria and a short creative piece, then the history, epidemiology, the biological and cognitive etiology, treatment with a real case study, and finally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Cotard's is unusual because it is not its own DSM diagnosis. Clinicians code it under whatever the underlying disorder is—usually delusional disorder somatic type, major depression with psychotic features, or sometimes schizophrenia. The four core features are nihilistic delusions, severe depression, paradoxical immortality beliefs, and self-neglect. The paradox is what makes it striking: a patient might insist they are already dead and yet attempt suicide. Berrios and Luque in 1995 analyzed 100 cases and identified three clinical subtypes—psychotic depression, Cotard Type I, and Cotard Type II—which we'll see again on the next slide when we look at symptom frequencies.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comes from Berrios and Luque's 1995 statistical analysis of 100 documented Cotard's cases—still the largest dataset on the syndrome. The headline finding: depression is present in 89% of cases, which is why most clinicians today treat Cotard's as a downstream symptom of severe psychotic depression. Body delusions and existence delusions are nearly universal—86 and 69 percent. But notice the paradox at the bottom: 55% of patients simultaneously believe they cannot die. They think they are already dead AND that they cannot die. That contradiction is the cognitive signature that distinguishes Cotard's from regular psychotic depression.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journal entry isn't a real patient—I wrote it as a composite based on documented symptoms from Berrios and Luque and from Sebastian Dieguez's 2018 review. I wanted to capture three things at once: the somatic delusion (no stomach), the certainty that overrides physical evidence (the EKG), and the paradox of immortality. Notice the line “I cannot die because there's nothing left to die”—that's the contradiction I just talked about. What I wanted to show with this entry is that Cotard's isn't “silly” or unbelievable from the inside. The patient's reasoning is internally consistent—it's the premise that's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Cotard's starts in 1880 with a single patient—Mademoiselle X—described by Jules Cotard, a French neurologist who had served in the Franco-Prussian War. She denied that her organs existed and refused food, eventually dying of starvation. Cotard didn't see this as a separate disorder at first—he called it agitated melancholia. After his death the syndrome was named after him in 1893 by Emil Régis. The biggest modern shift came in 1995 when Berrios and Luque reanalyzed 100 cases and proposed the three subtypes I showed earlier. But here's the controversy that's still alive today: despite 145 years of clinical writing, the DSM has never recognized Cotard's as its own diagnosis. Some researchers argue this reflects how heterogeneous it is—it shows up in depression, schizophrenia, brain injury, MS, and more. Others argue the DSM is just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remember. First: Cotard's is rare in the general population—about 0.57% in a Hong Kong psychogeriatric sample. But that number jumps to 3.2% when you narrow to severely depressed older adults—over a five-fold increase. Gender: roughly equal across men and women in the largest analysis we have. Two subgroup comparisons. By age: Cotard's is overwhelmingly an older-adult phenomenon. Pediatric cases are vanishingly rare—fewer than ten well-documented cases in the entire literature. By diagnostic category: about two-thirds of Cotard's cases happen inside psychiatric illness—depression, schizophrenia. The other third occur in patients with organic brain conditions like TBI, MS, brain tumors, epilepsy. That bridge between psychiatry and neurology is exactly why it's such an interesting case for understanding the brain basis of self-awareness.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Biologically, Cotard's converges on a network—not a single brain region. Across SPECT, CT, and MRI studies, the pattern is reduced activity and structural abnormalities in the non-dominant hemisphere—frontal, parietal, and temporal lobes. The fusiform gyrus matters because it handles face recognition—including recognizing your own face. When fusiform input gets disconnected from emotional processing in the limbic system, you can recognize your face but not feel that it's yours. On the chemistry side, dopamine and serotonin both show up. De Risio in 2004 found reduced striatal D2 binding, and the strong depression link makes serotonin a natural target. This is why a typical Cotard's patient might be on an antidepressant plus an antipsychotic plus, in severe cases, ECT—multiple chemical and circuit-level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big psychological models. The first—and the most influential—is Young and Leafhead's mirror model from 1996. They noticed that Cotard's and Capgras delusions look like opposites but probably share a mechanism. In Capgras, you see a familiar face but feel no emotional response, so the brain confabulates: “she must be an impostor.” In Cotard's, you see your own face in the mirror but feel no emotional response to it, so the brain confabulates: “I must be dead.” The difference between the two delusions is which way the disconnection points—outward at others, or inward at the self. Young added a second factor in 1992: people prone to depression have an internalized attributional style—they blame themselves for everything by default. That cognitive bias is what tips a Cotard-shaped patient toward “I am dead” rather than “the world is fake.” The psychodynamic view from Enoch and Trethowan is older and less evidence-based but still cited: extreme guilt produces a symbolic death of the 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treatment approaches. The big idea is that you don't treat Cotard's directly—you treat what's underneath it. Pharmacotherapy is usually a combination—an antidepressant like an SSRI paired with an antipsychotic like olanzapine or clozapine. Lithium augmentation can help in the depressive subtype. But here's the catch: medication only works in roughly half of severe cases. When meds fail, ECT becomes first-line. ECT works the most consistently of any treatment, and we can actually see it working—follow-up SPECT scans show that the blood flow abnormalities I mentioned earlier resolve after a course of ECT. That's real biological evidence—not just symptom report. A typical course is 6 to 12 sessions over 2 to 4 weeks, and remission often happens within days of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walk through one specific case to make this concrete—Petracca and colleagues, 1995. A 27-year-old man with schizophreniform disorder came in convinced his stomach had disappeared. He refused food and lost 12 kilograms in a single month—clearly life-threatening. Brain imaging showed left-sided hypoperfusion in frontal, parietal, and temporal regions—exactly the network we talked about earlier. Antipsychotics didn't work, so they did ECT. He went into full remission. But here's the key part: when they re-scanned him after ECT, the perfusion abnormalities were gone. That's hard biological evidence that ECT didn't just suppress the symptom—it actually fixed the underlying brain dysfunction. On the right: most patients first show up in an ER because they've stopped eating or are suicidal. The biggest health risks are malnutrition, suicide, and recurrence. But with early treatment, prognosis is genuinely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how Cotard's is correctly and incorrectly portrayed in media, so I picked three concrete examples. First, NBC's Hannibal in 2013, episode "Buffet Froid." The character Georgia Madchen has Cotard's, and the show actually gets a lot right: low appetite from the belief of being dead, electroconvulsive therapy as the treatment, and even the disconnection from her own face. What it gets wrong is the bigger problem: it ties Cotard's to a violent killer, which links a rare delusion to dangerousness in viewers' minds. Second, Synecdoche, New York from Charlie Kaufman in 2008. The protagonist is literally named Caden Cotard. The film uses Cotard's metaphorically to capture existential despair and the dissolution of self, which is artistically powerful but doesn't read as clinical. Third, Scrubs season four episode fourteen mentions a patient who believes he died years earlier. It's a brief accurate reference, but used as a one-line gag. On stigma: because Cotard's is so rare, there isn't really a public stereotype the way there is for, say, schizophrenia. Popular neuroscience writers like David Eagleman and Oliver Sacks have helped frame it as fascinating rather than horrific. What's still needed is depictions of recovery, reducing ECT stigma, and teaching that a delusion is a symptom, not a character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One: Cotard's is a syndrome, not a DSM diagnosis. It always sits beneath something else. Two: the signature symptom isn't “thinking you're dead”—it's the paradox. “I am dead AND I cannot die.” Three: it lives at the intersection of psychiatry and neurology, which is why it's such a useful test case. Four: Young and Leafhead's mirror model—Cotard's is Capgras pointed inward. Five: ECT is the most reliable treatment, and we can see it work in the brain on follow-up imaging. Final thought: Cotard's reminds us that the feeling of being alive—the basic sense of “I exist”—isn't a given. Your brain is generating it every moment. When that process breaks down, you get Cotard's. Thank you—happy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APA 7th edition. Primary sources include Berrios and Luque's foundational 1995 case analysis, Young and Leafhead's mirror-model chapter from 1996, Petracca's neuroimaging case study, and recent reviews from Dieguez (2018) and Debruyne (2009). All sources are peer-reviewed except the DSM-5-TR itself, which is the diagnostic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640080" y="1463040"/>
            <a:ext cx="45720" cy="3931920"/>
          </a:xfrm>
          <a:prstGeom prst="rect">
            <a:avLst/>
          </a:prstGeom>
          <a:solidFill>
            <a:srgbClr val="8B2635"/>
          </a:solidFill>
          <a:ln w="12700">
            <a:solidFill>
              <a:srgbClr val="8B2635"/>
            </a:solidFill>
            <a:prstDash val="solid"/>
          </a:ln>
        </p:spPr>
      </p:sp>
      <p:sp>
        <p:nvSpPr>
          <p:cNvPr id="3" name="Text 1"/>
          <p:cNvSpPr/>
          <p:nvPr/>
        </p:nvSpPr>
        <p:spPr>
          <a:xfrm>
            <a:off x="868680" y="1463040"/>
            <a:ext cx="10058400" cy="365760"/>
          </a:xfrm>
          <a:prstGeom prst="rect">
            <a:avLst/>
          </a:prstGeom>
          <a:noFill/>
          <a:ln/>
        </p:spPr>
        <p:txBody>
          <a:bodyPr wrap="square" lIns="0" tIns="0" rIns="0" bIns="0" rtlCol="0" anchor="ctr"/>
          <a:lstStyle/>
          <a:p>
            <a:pPr indent="0" marL="0">
              <a:buNone/>
            </a:pPr>
            <a:r>
              <a:rPr lang="en-US" sz="1100" b="1" spc="600" kern="0" dirty="0">
                <a:solidFill>
                  <a:srgbClr val="B0B6C0"/>
                </a:solidFill>
                <a:latin typeface="Calibri" pitchFamily="34" charset="0"/>
                <a:ea typeface="Calibri" pitchFamily="34" charset="-122"/>
                <a:cs typeface="Calibri" pitchFamily="34" charset="-120"/>
              </a:rPr>
              <a:t>PSYCHOLOGY  |  DISORDER PRESENTATION</a:t>
            </a:r>
            <a:endParaRPr lang="en-US" sz="1100" dirty="0"/>
          </a:p>
        </p:txBody>
      </p:sp>
      <p:sp>
        <p:nvSpPr>
          <p:cNvPr id="4" name="Text 2"/>
          <p:cNvSpPr/>
          <p:nvPr/>
        </p:nvSpPr>
        <p:spPr>
          <a:xfrm>
            <a:off x="868680" y="1920240"/>
            <a:ext cx="10515600" cy="128016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Cotard's Syndrome</a:t>
            </a:r>
            <a:endParaRPr lang="en-US" sz="6400" dirty="0"/>
          </a:p>
        </p:txBody>
      </p:sp>
      <p:sp>
        <p:nvSpPr>
          <p:cNvPr id="5" name="Text 3"/>
          <p:cNvSpPr/>
          <p:nvPr/>
        </p:nvSpPr>
        <p:spPr>
          <a:xfrm>
            <a:off x="868680" y="3246120"/>
            <a:ext cx="10515600" cy="457200"/>
          </a:xfrm>
          <a:prstGeom prst="rect">
            <a:avLst/>
          </a:prstGeom>
          <a:noFill/>
          <a:ln/>
        </p:spPr>
        <p:txBody>
          <a:bodyPr wrap="square" lIns="0" tIns="0" rIns="0" bIns="0" rtlCol="0" anchor="ctr"/>
          <a:lstStyle/>
          <a:p>
            <a:pPr indent="0" marL="0">
              <a:buNone/>
            </a:pPr>
            <a:r>
              <a:rPr lang="en-US" sz="2200" i="1" dirty="0">
                <a:solidFill>
                  <a:srgbClr val="E8DCD9"/>
                </a:solidFill>
                <a:latin typeface="Georgia" pitchFamily="34" charset="0"/>
                <a:ea typeface="Georgia" pitchFamily="34" charset="-122"/>
                <a:cs typeface="Georgia" pitchFamily="34" charset="-120"/>
              </a:rPr>
              <a:t>Le Délire des Négations</a:t>
            </a:r>
            <a:pPr indent="0" marL="0">
              <a:buNone/>
            </a:pPr>
            <a:r>
              <a:rPr lang="en-US" sz="2200" dirty="0">
                <a:solidFill>
                  <a:srgbClr val="8A8F9A"/>
                </a:solidFill>
                <a:latin typeface="Georgia" pitchFamily="34" charset="0"/>
                <a:ea typeface="Georgia" pitchFamily="34" charset="-122"/>
                <a:cs typeface="Georgia" pitchFamily="34" charset="-120"/>
              </a:rPr>
              <a:t>  ·  </a:t>
            </a:r>
            <a:pPr indent="0" marL="0">
              <a:buNone/>
            </a:pPr>
            <a:r>
              <a:rPr lang="en-US" sz="2200" dirty="0">
                <a:solidFill>
                  <a:srgbClr val="E8DCD9"/>
                </a:solidFill>
                <a:latin typeface="Georgia" pitchFamily="34" charset="0"/>
                <a:ea typeface="Georgia" pitchFamily="34" charset="-122"/>
                <a:cs typeface="Georgia" pitchFamily="34" charset="-120"/>
              </a:rPr>
              <a:t>The Walking Corpse Delusion</a:t>
            </a:r>
            <a:endParaRPr lang="en-US" sz="2200" dirty="0"/>
          </a:p>
        </p:txBody>
      </p:sp>
      <p:sp>
        <p:nvSpPr>
          <p:cNvPr id="6" name="Text 4"/>
          <p:cNvSpPr/>
          <p:nvPr/>
        </p:nvSpPr>
        <p:spPr>
          <a:xfrm>
            <a:off x="868680" y="4206240"/>
            <a:ext cx="8686800" cy="1280160"/>
          </a:xfrm>
          <a:prstGeom prst="rect">
            <a:avLst/>
          </a:prstGeom>
          <a:noFill/>
          <a:ln/>
        </p:spPr>
        <p:txBody>
          <a:bodyPr wrap="square" lIns="0" tIns="0" rIns="0" bIns="0" rtlCol="0" anchor="t"/>
          <a:lstStyle/>
          <a:p>
            <a:pPr indent="0" marL="0">
              <a:buNone/>
            </a:pPr>
            <a:r>
              <a:rPr lang="en-US" sz="5600" dirty="0">
                <a:solidFill>
                  <a:srgbClr val="8B2635"/>
                </a:solidFill>
                <a:latin typeface="Georgia" pitchFamily="34" charset="0"/>
                <a:ea typeface="Georgia" pitchFamily="34" charset="-122"/>
                <a:cs typeface="Georgia" pitchFamily="34" charset="-120"/>
              </a:rPr>
              <a:t>“</a:t>
            </a:r>
            <a:pPr indent="0" marL="0">
              <a:buNone/>
            </a:pPr>
            <a:r>
              <a:rPr lang="en-US" sz="1400" i="1" dirty="0">
                <a:solidFill>
                  <a:srgbClr val="CFD4DC"/>
                </a:solidFill>
                <a:latin typeface="Georgia" pitchFamily="34" charset="0"/>
                <a:ea typeface="Georgia" pitchFamily="34" charset="-122"/>
                <a:cs typeface="Georgia" pitchFamily="34" charset="-120"/>
              </a:rPr>
              <a:t>I have no brain, no nerves, no chest, no stomach, no intestines… all that is left is the rotten skin and the disorganized bones of a decomposing body.”</a:t>
            </a:r>
            <a:endParaRPr lang="en-US" sz="5600" dirty="0"/>
          </a:p>
        </p:txBody>
      </p:sp>
      <p:sp>
        <p:nvSpPr>
          <p:cNvPr id="7" name="Text 5"/>
          <p:cNvSpPr/>
          <p:nvPr/>
        </p:nvSpPr>
        <p:spPr>
          <a:xfrm>
            <a:off x="868680" y="5440680"/>
            <a:ext cx="8686800" cy="274320"/>
          </a:xfrm>
          <a:prstGeom prst="rect">
            <a:avLst/>
          </a:prstGeom>
          <a:noFill/>
          <a:ln/>
        </p:spPr>
        <p:txBody>
          <a:bodyPr wrap="square" lIns="0" tIns="0" rIns="0" bIns="0" rtlCol="0" anchor="ctr"/>
          <a:lstStyle/>
          <a:p>
            <a:pPr indent="0" marL="0">
              <a:buNone/>
            </a:pPr>
            <a:r>
              <a:rPr lang="en-US" sz="1100" i="1" dirty="0">
                <a:solidFill>
                  <a:srgbClr val="8A8F9A"/>
                </a:solidFill>
                <a:latin typeface="Calibri" pitchFamily="34" charset="0"/>
                <a:ea typeface="Calibri" pitchFamily="34" charset="-122"/>
                <a:cs typeface="Calibri" pitchFamily="34" charset="-120"/>
              </a:rPr>
              <a:t>— Patient described by Jules Cotard, 1880</a:t>
            </a:r>
            <a:endParaRPr lang="en-US" sz="1100" dirty="0"/>
          </a:p>
        </p:txBody>
      </p:sp>
      <p:sp>
        <p:nvSpPr>
          <p:cNvPr id="8" name="Text 6"/>
          <p:cNvSpPr/>
          <p:nvPr/>
        </p:nvSpPr>
        <p:spPr>
          <a:xfrm>
            <a:off x="868680" y="5989320"/>
            <a:ext cx="10515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Larry Zhong</a:t>
            </a:r>
            <a:endParaRPr lang="en-US" sz="1300" dirty="0"/>
          </a:p>
        </p:txBody>
      </p:sp>
      <p:sp>
        <p:nvSpPr>
          <p:cNvPr id="9" name="Text 7"/>
          <p:cNvSpPr/>
          <p:nvPr/>
        </p:nvSpPr>
        <p:spPr>
          <a:xfrm>
            <a:off x="868680" y="6263640"/>
            <a:ext cx="10515600" cy="274320"/>
          </a:xfrm>
          <a:prstGeom prst="rect">
            <a:avLst/>
          </a:prstGeom>
          <a:noFill/>
          <a:ln/>
        </p:spPr>
        <p:txBody>
          <a:bodyPr wrap="square" lIns="0" tIns="0" rIns="0" bIns="0" rtlCol="0" anchor="ctr"/>
          <a:lstStyle/>
          <a:p>
            <a:pPr indent="0" marL="0">
              <a:buNone/>
            </a:pPr>
            <a:r>
              <a:rPr lang="en-US" sz="1000" dirty="0">
                <a:solidFill>
                  <a:srgbClr val="8A8F9A"/>
                </a:solidFill>
                <a:latin typeface="Calibri" pitchFamily="34" charset="0"/>
                <a:ea typeface="Calibri" pitchFamily="34" charset="-122"/>
                <a:cs typeface="Calibri" pitchFamily="34" charset="-120"/>
              </a:rPr>
              <a:t>Shady Side Academy  ·  Ms. Fani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Contents</a:t>
            </a:r>
            <a:endParaRPr lang="en-US" sz="3600" dirty="0"/>
          </a:p>
        </p:txBody>
      </p:sp>
      <p:sp>
        <p:nvSpPr>
          <p:cNvPr id="4" name="Text 2"/>
          <p:cNvSpPr/>
          <p:nvPr/>
        </p:nvSpPr>
        <p:spPr>
          <a:xfrm>
            <a:off x="777240" y="1691640"/>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A</a:t>
            </a:r>
            <a:endParaRPr lang="en-US" sz="3800" dirty="0"/>
          </a:p>
        </p:txBody>
      </p:sp>
      <p:sp>
        <p:nvSpPr>
          <p:cNvPr id="5" name="Text 3"/>
          <p:cNvSpPr/>
          <p:nvPr/>
        </p:nvSpPr>
        <p:spPr>
          <a:xfrm>
            <a:off x="1691640" y="1737360"/>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Diagnostic Criteria</a:t>
            </a:r>
            <a:endParaRPr lang="en-US" sz="1800" dirty="0"/>
          </a:p>
        </p:txBody>
      </p:sp>
      <p:sp>
        <p:nvSpPr>
          <p:cNvPr id="6" name="Text 4"/>
          <p:cNvSpPr/>
          <p:nvPr/>
        </p:nvSpPr>
        <p:spPr>
          <a:xfrm>
            <a:off x="8686800" y="1737360"/>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Slides 3–5</a:t>
            </a:r>
            <a:endParaRPr lang="en-US" sz="1200" dirty="0"/>
          </a:p>
        </p:txBody>
      </p:sp>
      <p:sp>
        <p:nvSpPr>
          <p:cNvPr id="7" name="Text 5"/>
          <p:cNvSpPr/>
          <p:nvPr/>
        </p:nvSpPr>
        <p:spPr>
          <a:xfrm>
            <a:off x="10607040" y="1737360"/>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25%</a:t>
            </a:r>
            <a:endParaRPr lang="en-US" sz="1200" dirty="0"/>
          </a:p>
        </p:txBody>
      </p:sp>
      <p:sp>
        <p:nvSpPr>
          <p:cNvPr id="8" name="Shape 6"/>
          <p:cNvSpPr/>
          <p:nvPr/>
        </p:nvSpPr>
        <p:spPr>
          <a:xfrm>
            <a:off x="777240" y="2331720"/>
            <a:ext cx="10927080" cy="4572"/>
          </a:xfrm>
          <a:prstGeom prst="rect">
            <a:avLst/>
          </a:prstGeom>
          <a:solidFill>
            <a:srgbClr val="D8D4CB"/>
          </a:solidFill>
          <a:ln w="12700">
            <a:solidFill>
              <a:srgbClr val="D8D4CB"/>
            </a:solidFill>
            <a:prstDash val="solid"/>
          </a:ln>
        </p:spPr>
      </p:sp>
      <p:sp>
        <p:nvSpPr>
          <p:cNvPr id="9" name="Text 7"/>
          <p:cNvSpPr/>
          <p:nvPr/>
        </p:nvSpPr>
        <p:spPr>
          <a:xfrm>
            <a:off x="777240" y="2404872"/>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B</a:t>
            </a:r>
            <a:endParaRPr lang="en-US" sz="3800" dirty="0"/>
          </a:p>
        </p:txBody>
      </p:sp>
      <p:sp>
        <p:nvSpPr>
          <p:cNvPr id="10" name="Text 8"/>
          <p:cNvSpPr/>
          <p:nvPr/>
        </p:nvSpPr>
        <p:spPr>
          <a:xfrm>
            <a:off x="1691640" y="2450592"/>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History &amp; Background</a:t>
            </a:r>
            <a:endParaRPr lang="en-US" sz="1800" dirty="0"/>
          </a:p>
        </p:txBody>
      </p:sp>
      <p:sp>
        <p:nvSpPr>
          <p:cNvPr id="11" name="Text 9"/>
          <p:cNvSpPr/>
          <p:nvPr/>
        </p:nvSpPr>
        <p:spPr>
          <a:xfrm>
            <a:off x="8686800" y="2450592"/>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 6</a:t>
            </a:r>
            <a:endParaRPr lang="en-US" sz="1200" dirty="0"/>
          </a:p>
        </p:txBody>
      </p:sp>
      <p:sp>
        <p:nvSpPr>
          <p:cNvPr id="12" name="Text 10"/>
          <p:cNvSpPr/>
          <p:nvPr/>
        </p:nvSpPr>
        <p:spPr>
          <a:xfrm>
            <a:off x="10607040" y="2450592"/>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8%</a:t>
            </a:r>
            <a:endParaRPr lang="en-US" sz="1200" dirty="0"/>
          </a:p>
        </p:txBody>
      </p:sp>
      <p:sp>
        <p:nvSpPr>
          <p:cNvPr id="13" name="Shape 11"/>
          <p:cNvSpPr/>
          <p:nvPr/>
        </p:nvSpPr>
        <p:spPr>
          <a:xfrm>
            <a:off x="777240" y="3044952"/>
            <a:ext cx="10927080" cy="4572"/>
          </a:xfrm>
          <a:prstGeom prst="rect">
            <a:avLst/>
          </a:prstGeom>
          <a:solidFill>
            <a:srgbClr val="D8D4CB"/>
          </a:solidFill>
          <a:ln w="12700">
            <a:solidFill>
              <a:srgbClr val="D8D4CB"/>
            </a:solidFill>
            <a:prstDash val="solid"/>
          </a:ln>
        </p:spPr>
      </p:sp>
      <p:sp>
        <p:nvSpPr>
          <p:cNvPr id="14" name="Text 12"/>
          <p:cNvSpPr/>
          <p:nvPr/>
        </p:nvSpPr>
        <p:spPr>
          <a:xfrm>
            <a:off x="777240" y="3118104"/>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C</a:t>
            </a:r>
            <a:endParaRPr lang="en-US" sz="3800" dirty="0"/>
          </a:p>
        </p:txBody>
      </p:sp>
      <p:sp>
        <p:nvSpPr>
          <p:cNvPr id="15" name="Text 13"/>
          <p:cNvSpPr/>
          <p:nvPr/>
        </p:nvSpPr>
        <p:spPr>
          <a:xfrm>
            <a:off x="1691640" y="3163824"/>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Epidemiology</a:t>
            </a:r>
            <a:endParaRPr lang="en-US" sz="1800" dirty="0"/>
          </a:p>
        </p:txBody>
      </p:sp>
      <p:sp>
        <p:nvSpPr>
          <p:cNvPr id="16" name="Text 14"/>
          <p:cNvSpPr/>
          <p:nvPr/>
        </p:nvSpPr>
        <p:spPr>
          <a:xfrm>
            <a:off x="8686800" y="3163824"/>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 7</a:t>
            </a:r>
            <a:endParaRPr lang="en-US" sz="1200" dirty="0"/>
          </a:p>
        </p:txBody>
      </p:sp>
      <p:sp>
        <p:nvSpPr>
          <p:cNvPr id="17" name="Text 15"/>
          <p:cNvSpPr/>
          <p:nvPr/>
        </p:nvSpPr>
        <p:spPr>
          <a:xfrm>
            <a:off x="10607040" y="3163824"/>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10%</a:t>
            </a:r>
            <a:endParaRPr lang="en-US" sz="1200" dirty="0"/>
          </a:p>
        </p:txBody>
      </p:sp>
      <p:sp>
        <p:nvSpPr>
          <p:cNvPr id="18" name="Shape 16"/>
          <p:cNvSpPr/>
          <p:nvPr/>
        </p:nvSpPr>
        <p:spPr>
          <a:xfrm>
            <a:off x="777240" y="3758184"/>
            <a:ext cx="10927080" cy="4572"/>
          </a:xfrm>
          <a:prstGeom prst="rect">
            <a:avLst/>
          </a:prstGeom>
          <a:solidFill>
            <a:srgbClr val="D8D4CB"/>
          </a:solidFill>
          <a:ln w="12700">
            <a:solidFill>
              <a:srgbClr val="D8D4CB"/>
            </a:solidFill>
            <a:prstDash val="solid"/>
          </a:ln>
        </p:spPr>
      </p:sp>
      <p:sp>
        <p:nvSpPr>
          <p:cNvPr id="19" name="Text 17"/>
          <p:cNvSpPr/>
          <p:nvPr/>
        </p:nvSpPr>
        <p:spPr>
          <a:xfrm>
            <a:off x="777240" y="3831336"/>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D</a:t>
            </a:r>
            <a:endParaRPr lang="en-US" sz="3800" dirty="0"/>
          </a:p>
        </p:txBody>
      </p:sp>
      <p:sp>
        <p:nvSpPr>
          <p:cNvPr id="20" name="Text 18"/>
          <p:cNvSpPr/>
          <p:nvPr/>
        </p:nvSpPr>
        <p:spPr>
          <a:xfrm>
            <a:off x="1691640" y="3877056"/>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Etiology</a:t>
            </a:r>
            <a:endParaRPr lang="en-US" sz="1800" dirty="0"/>
          </a:p>
        </p:txBody>
      </p:sp>
      <p:sp>
        <p:nvSpPr>
          <p:cNvPr id="21" name="Text 19"/>
          <p:cNvSpPr/>
          <p:nvPr/>
        </p:nvSpPr>
        <p:spPr>
          <a:xfrm>
            <a:off x="8686800" y="3877056"/>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Slides 8–9</a:t>
            </a:r>
            <a:endParaRPr lang="en-US" sz="1200" dirty="0"/>
          </a:p>
        </p:txBody>
      </p:sp>
      <p:sp>
        <p:nvSpPr>
          <p:cNvPr id="22" name="Text 20"/>
          <p:cNvSpPr/>
          <p:nvPr/>
        </p:nvSpPr>
        <p:spPr>
          <a:xfrm>
            <a:off x="10607040" y="3877056"/>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20%</a:t>
            </a:r>
            <a:endParaRPr lang="en-US" sz="1200" dirty="0"/>
          </a:p>
        </p:txBody>
      </p:sp>
      <p:sp>
        <p:nvSpPr>
          <p:cNvPr id="23" name="Shape 21"/>
          <p:cNvSpPr/>
          <p:nvPr/>
        </p:nvSpPr>
        <p:spPr>
          <a:xfrm>
            <a:off x="777240" y="4471416"/>
            <a:ext cx="10927080" cy="4572"/>
          </a:xfrm>
          <a:prstGeom prst="rect">
            <a:avLst/>
          </a:prstGeom>
          <a:solidFill>
            <a:srgbClr val="D8D4CB"/>
          </a:solidFill>
          <a:ln w="12700">
            <a:solidFill>
              <a:srgbClr val="D8D4CB"/>
            </a:solidFill>
            <a:prstDash val="solid"/>
          </a:ln>
        </p:spPr>
      </p:sp>
      <p:sp>
        <p:nvSpPr>
          <p:cNvPr id="24" name="Text 22"/>
          <p:cNvSpPr/>
          <p:nvPr/>
        </p:nvSpPr>
        <p:spPr>
          <a:xfrm>
            <a:off x="777240" y="4544568"/>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E</a:t>
            </a:r>
            <a:endParaRPr lang="en-US" sz="3800" dirty="0"/>
          </a:p>
        </p:txBody>
      </p:sp>
      <p:sp>
        <p:nvSpPr>
          <p:cNvPr id="25" name="Text 23"/>
          <p:cNvSpPr/>
          <p:nvPr/>
        </p:nvSpPr>
        <p:spPr>
          <a:xfrm>
            <a:off x="1691640" y="4590288"/>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Treatment, Case &amp; Stigma</a:t>
            </a:r>
            <a:endParaRPr lang="en-US" sz="1800" dirty="0"/>
          </a:p>
        </p:txBody>
      </p:sp>
      <p:sp>
        <p:nvSpPr>
          <p:cNvPr id="26" name="Text 24"/>
          <p:cNvSpPr/>
          <p:nvPr/>
        </p:nvSpPr>
        <p:spPr>
          <a:xfrm>
            <a:off x="8686800" y="4590288"/>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Slides 10–12</a:t>
            </a:r>
            <a:endParaRPr lang="en-US" sz="1200" dirty="0"/>
          </a:p>
        </p:txBody>
      </p:sp>
      <p:sp>
        <p:nvSpPr>
          <p:cNvPr id="27" name="Text 25"/>
          <p:cNvSpPr/>
          <p:nvPr/>
        </p:nvSpPr>
        <p:spPr>
          <a:xfrm>
            <a:off x="10607040" y="4590288"/>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25%</a:t>
            </a:r>
            <a:endParaRPr lang="en-US" sz="1200" dirty="0"/>
          </a:p>
        </p:txBody>
      </p:sp>
      <p:sp>
        <p:nvSpPr>
          <p:cNvPr id="28" name="Shape 26"/>
          <p:cNvSpPr/>
          <p:nvPr/>
        </p:nvSpPr>
        <p:spPr>
          <a:xfrm>
            <a:off x="777240" y="5184648"/>
            <a:ext cx="10927080" cy="4572"/>
          </a:xfrm>
          <a:prstGeom prst="rect">
            <a:avLst/>
          </a:prstGeom>
          <a:solidFill>
            <a:srgbClr val="D8D4CB"/>
          </a:solidFill>
          <a:ln w="12700">
            <a:solidFill>
              <a:srgbClr val="D8D4CB"/>
            </a:solidFill>
            <a:prstDash val="solid"/>
          </a:ln>
        </p:spPr>
      </p:sp>
      <p:sp>
        <p:nvSpPr>
          <p:cNvPr id="29" name="Text 27"/>
          <p:cNvSpPr/>
          <p:nvPr/>
        </p:nvSpPr>
        <p:spPr>
          <a:xfrm>
            <a:off x="777240" y="5257800"/>
            <a:ext cx="731520" cy="548640"/>
          </a:xfrm>
          <a:prstGeom prst="rect">
            <a:avLst/>
          </a:prstGeom>
          <a:noFill/>
          <a:ln/>
        </p:spPr>
        <p:txBody>
          <a:bodyPr wrap="square" lIns="0" tIns="0" rIns="0" bIns="0" rtlCol="0" anchor="ctr"/>
          <a:lstStyle/>
          <a:p>
            <a:pPr algn="l" indent="0" marL="0">
              <a:buNone/>
            </a:pPr>
            <a:r>
              <a:rPr lang="en-US" sz="3800" b="1" dirty="0">
                <a:solidFill>
                  <a:srgbClr val="8B2635"/>
                </a:solidFill>
                <a:latin typeface="Georgia" pitchFamily="34" charset="0"/>
                <a:ea typeface="Georgia" pitchFamily="34" charset="-122"/>
                <a:cs typeface="Georgia" pitchFamily="34" charset="-120"/>
              </a:rPr>
              <a:t>F</a:t>
            </a:r>
            <a:endParaRPr lang="en-US" sz="3800" dirty="0"/>
          </a:p>
        </p:txBody>
      </p:sp>
      <p:sp>
        <p:nvSpPr>
          <p:cNvPr id="30" name="Text 28"/>
          <p:cNvSpPr/>
          <p:nvPr/>
        </p:nvSpPr>
        <p:spPr>
          <a:xfrm>
            <a:off x="1691640" y="5303520"/>
            <a:ext cx="6858000" cy="457200"/>
          </a:xfrm>
          <a:prstGeom prst="rect">
            <a:avLst/>
          </a:prstGeom>
          <a:noFill/>
          <a:ln/>
        </p:spPr>
        <p:txBody>
          <a:bodyPr wrap="square" lIns="0" tIns="0" rIns="0" bIns="0" rtlCol="0" anchor="ctr"/>
          <a:lstStyle/>
          <a:p>
            <a:pPr indent="0" marL="0">
              <a:buNone/>
            </a:pPr>
            <a:r>
              <a:rPr lang="en-US" sz="1800" b="1" dirty="0">
                <a:solidFill>
                  <a:srgbClr val="1A2332"/>
                </a:solidFill>
                <a:latin typeface="Calibri" pitchFamily="34" charset="0"/>
                <a:ea typeface="Calibri" pitchFamily="34" charset="-122"/>
                <a:cs typeface="Calibri" pitchFamily="34" charset="-120"/>
              </a:rPr>
              <a:t>References</a:t>
            </a:r>
            <a:endParaRPr lang="en-US" sz="1800" dirty="0"/>
          </a:p>
        </p:txBody>
      </p:sp>
      <p:sp>
        <p:nvSpPr>
          <p:cNvPr id="31" name="Text 29"/>
          <p:cNvSpPr/>
          <p:nvPr/>
        </p:nvSpPr>
        <p:spPr>
          <a:xfrm>
            <a:off x="8686800" y="5303520"/>
            <a:ext cx="1828800" cy="457200"/>
          </a:xfrm>
          <a:prstGeom prst="rect">
            <a:avLst/>
          </a:prstGeom>
          <a:noFill/>
          <a:ln/>
        </p:spPr>
        <p:txBody>
          <a:bodyPr wrap="square" lIns="0" tIns="0" rIns="0" bIns="0" rtlCol="0" anchor="ctr"/>
          <a:lstStyle/>
          <a:p>
            <a:pPr algn="r" indent="0" marL="0">
              <a:buNone/>
            </a:pPr>
            <a:r>
              <a:rPr lang="en-US" sz="1200" i="1" dirty="0">
                <a:solidFill>
                  <a:srgbClr val="8A8F9A"/>
                </a:solidFill>
                <a:latin typeface="Calibri" pitchFamily="34" charset="0"/>
                <a:ea typeface="Calibri" pitchFamily="34" charset="-122"/>
                <a:cs typeface="Calibri" pitchFamily="34" charset="-120"/>
              </a:rPr>
              <a:t>Slide 14</a:t>
            </a:r>
            <a:endParaRPr lang="en-US" sz="1200" dirty="0"/>
          </a:p>
        </p:txBody>
      </p:sp>
      <p:sp>
        <p:nvSpPr>
          <p:cNvPr id="32" name="Text 30"/>
          <p:cNvSpPr/>
          <p:nvPr/>
        </p:nvSpPr>
        <p:spPr>
          <a:xfrm>
            <a:off x="10607040" y="5303520"/>
            <a:ext cx="1097280" cy="457200"/>
          </a:xfrm>
          <a:prstGeom prst="rect">
            <a:avLst/>
          </a:prstGeom>
          <a:noFill/>
          <a:ln/>
        </p:spPr>
        <p:txBody>
          <a:bodyPr wrap="square" lIns="0" tIns="0" rIns="0" bIns="0" rtlCol="0" anchor="ctr"/>
          <a:lstStyle/>
          <a:p>
            <a:pPr algn="r" indent="0" marL="0">
              <a:buNone/>
            </a:pPr>
            <a:r>
              <a:rPr lang="en-US" sz="1200" b="1" dirty="0">
                <a:solidFill>
                  <a:srgbClr val="4A6670"/>
                </a:solidFill>
                <a:latin typeface="Calibri" pitchFamily="34" charset="0"/>
                <a:ea typeface="Calibri" pitchFamily="34" charset="-122"/>
                <a:cs typeface="Calibri" pitchFamily="34" charset="-120"/>
              </a:rPr>
              <a:t>2%</a:t>
            </a:r>
            <a:endParaRPr lang="en-US" sz="1200" dirty="0"/>
          </a:p>
        </p:txBody>
      </p:sp>
      <p:sp>
        <p:nvSpPr>
          <p:cNvPr id="33" name="Text 31"/>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Diagnostic Criteria</a:t>
            </a:r>
            <a:endParaRPr lang="en-US" sz="3600" dirty="0"/>
          </a:p>
        </p:txBody>
      </p:sp>
      <p:sp>
        <p:nvSpPr>
          <p:cNvPr id="4" name="Text 2"/>
          <p:cNvSpPr/>
          <p:nvPr/>
        </p:nvSpPr>
        <p:spPr>
          <a:xfrm>
            <a:off x="777240" y="1783080"/>
            <a:ext cx="530352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DSM-5-TR &amp; ICD-11 STATUS</a:t>
            </a:r>
            <a:endParaRPr lang="en-US" sz="1000" dirty="0"/>
          </a:p>
        </p:txBody>
      </p:sp>
      <p:sp>
        <p:nvSpPr>
          <p:cNvPr id="5" name="Text 3"/>
          <p:cNvSpPr/>
          <p:nvPr/>
        </p:nvSpPr>
        <p:spPr>
          <a:xfrm>
            <a:off x="777240" y="2057400"/>
            <a:ext cx="5303520" cy="640080"/>
          </a:xfrm>
          <a:prstGeom prst="rect">
            <a:avLst/>
          </a:prstGeom>
          <a:noFill/>
          <a:ln/>
        </p:spPr>
        <p:txBody>
          <a:bodyPr wrap="square" lIns="0" tIns="0" rIns="0" bIns="0" rtlCol="0" anchor="t"/>
          <a:lstStyle/>
          <a:p>
            <a:pPr indent="0" marL="0">
              <a:buNone/>
            </a:pPr>
            <a:r>
              <a:rPr lang="en-US" sz="1300" dirty="0">
                <a:solidFill>
                  <a:srgbClr val="1A2332"/>
                </a:solidFill>
                <a:latin typeface="Calibri" pitchFamily="34" charset="0"/>
                <a:ea typeface="Calibri" pitchFamily="34" charset="-122"/>
                <a:cs typeface="Calibri" pitchFamily="34" charset="-120"/>
              </a:rPr>
              <a:t>Cotard's is </a:t>
            </a:r>
            <a:pPr indent="0" marL="0">
              <a:buNone/>
            </a:pPr>
            <a:r>
              <a:rPr lang="en-US" sz="1300" b="1" i="1" dirty="0">
                <a:solidFill>
                  <a:srgbClr val="1A2332"/>
                </a:solidFill>
                <a:latin typeface="Calibri" pitchFamily="34" charset="0"/>
                <a:ea typeface="Calibri" pitchFamily="34" charset="-122"/>
                <a:cs typeface="Calibri" pitchFamily="34" charset="-120"/>
              </a:rPr>
              <a:t>not</a:t>
            </a:r>
            <a:pPr indent="0" marL="0">
              <a:buNone/>
            </a:pPr>
            <a:r>
              <a:rPr lang="en-US" sz="1300" dirty="0">
                <a:solidFill>
                  <a:srgbClr val="1A2332"/>
                </a:solidFill>
                <a:latin typeface="Calibri" pitchFamily="34" charset="0"/>
                <a:ea typeface="Calibri" pitchFamily="34" charset="-122"/>
                <a:cs typeface="Calibri" pitchFamily="34" charset="-120"/>
              </a:rPr>
              <a:t> a standalone diagnosis in the DSM-5-TR or ICD-11. It is coded under:</a:t>
            </a:r>
            <a:endParaRPr lang="en-US" sz="1300" dirty="0"/>
          </a:p>
        </p:txBody>
      </p:sp>
      <p:sp>
        <p:nvSpPr>
          <p:cNvPr id="6" name="Text 4"/>
          <p:cNvSpPr/>
          <p:nvPr/>
        </p:nvSpPr>
        <p:spPr>
          <a:xfrm>
            <a:off x="777240" y="2743200"/>
            <a:ext cx="5303520" cy="1828800"/>
          </a:xfrm>
          <a:prstGeom prst="rect">
            <a:avLst/>
          </a:prstGeom>
          <a:noFill/>
          <a:ln/>
        </p:spPr>
        <p:txBody>
          <a:bodyPr wrap="square" rtlCol="0" anchor="t"/>
          <a:lstStyle/>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Delusional Disorder, somatic type</a:t>
            </a:r>
            <a:endParaRPr lang="en-US" sz="1200" dirty="0"/>
          </a:p>
          <a:p>
            <a:pPr indent="0" marL="0">
              <a:spcAft>
                <a:spcPts val="400"/>
              </a:spcAft>
              <a:buNone/>
            </a:pPr>
            <a:r>
              <a:rPr lang="en-US" sz="1100" dirty="0">
                <a:solidFill>
                  <a:srgbClr val="8A8F9A"/>
                </a:solidFill>
                <a:latin typeface="Calibri" pitchFamily="34" charset="0"/>
                <a:ea typeface="Calibri" pitchFamily="34" charset="-122"/>
                <a:cs typeface="Calibri" pitchFamily="34" charset="-120"/>
              </a:rPr>
              <a:t>      DSM-5-TR 297.1  /  ICD-11 6A24</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Major Depressive Disorder with psychotic features</a:t>
            </a:r>
            <a:endParaRPr lang="en-US" sz="1200" dirty="0"/>
          </a:p>
          <a:p>
            <a:pPr indent="0" marL="0">
              <a:spcAft>
                <a:spcPts val="400"/>
              </a:spcAft>
              <a:buNone/>
            </a:pPr>
            <a:r>
              <a:rPr lang="en-US" sz="1100" dirty="0">
                <a:solidFill>
                  <a:srgbClr val="8A8F9A"/>
                </a:solidFill>
                <a:latin typeface="Calibri" pitchFamily="34" charset="0"/>
                <a:ea typeface="Calibri" pitchFamily="34" charset="-122"/>
                <a:cs typeface="Calibri" pitchFamily="34" charset="-120"/>
              </a:rPr>
              <a:t>      When mood symptoms dominate</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Schizophrenia spectrum or organic psychosis</a:t>
            </a:r>
            <a:endParaRPr lang="en-US" sz="1200" dirty="0"/>
          </a:p>
        </p:txBody>
      </p:sp>
      <p:sp>
        <p:nvSpPr>
          <p:cNvPr id="7" name="Shape 5"/>
          <p:cNvSpPr/>
          <p:nvPr/>
        </p:nvSpPr>
        <p:spPr>
          <a:xfrm>
            <a:off x="6537960" y="1783080"/>
            <a:ext cx="5120640" cy="4206240"/>
          </a:xfrm>
          <a:prstGeom prst="rect">
            <a:avLst/>
          </a:prstGeom>
          <a:solidFill>
            <a:srgbClr val="F0EAE0"/>
          </a:solidFill>
          <a:ln w="12700">
            <a:solidFill>
              <a:srgbClr val="F0EAE0"/>
            </a:solidFill>
            <a:prstDash val="solid"/>
          </a:ln>
        </p:spPr>
      </p:sp>
      <p:sp>
        <p:nvSpPr>
          <p:cNvPr id="8" name="Text 6"/>
          <p:cNvSpPr/>
          <p:nvPr/>
        </p:nvSpPr>
        <p:spPr>
          <a:xfrm>
            <a:off x="6766560" y="1920240"/>
            <a:ext cx="475488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CORE CLINICAL FEATURES</a:t>
            </a:r>
            <a:endParaRPr lang="en-US" sz="1000" dirty="0"/>
          </a:p>
        </p:txBody>
      </p:sp>
      <p:sp>
        <p:nvSpPr>
          <p:cNvPr id="9" name="Text 7"/>
          <p:cNvSpPr/>
          <p:nvPr/>
        </p:nvSpPr>
        <p:spPr>
          <a:xfrm>
            <a:off x="6766560" y="2240280"/>
            <a:ext cx="4754880" cy="3657600"/>
          </a:xfrm>
          <a:prstGeom prst="rect">
            <a:avLst/>
          </a:prstGeom>
          <a:noFill/>
          <a:ln/>
        </p:spPr>
        <p:txBody>
          <a:bodyPr wrap="square" lIns="0" tIns="0" rIns="0" bIns="0" rtlCol="0" anchor="t"/>
          <a:lstStyle/>
          <a:p>
            <a:pPr indent="0" marL="0">
              <a:buNone/>
            </a:pPr>
            <a:r>
              <a:rPr lang="en-US" sz="1300" b="1" dirty="0">
                <a:solidFill>
                  <a:srgbClr val="1A2332"/>
                </a:solidFill>
                <a:latin typeface="Calibri" pitchFamily="34" charset="0"/>
                <a:ea typeface="Calibri" pitchFamily="34" charset="-122"/>
                <a:cs typeface="Calibri" pitchFamily="34" charset="-120"/>
              </a:rPr>
              <a:t>Nihilistic delusions</a:t>
            </a:r>
            <a:endParaRPr lang="en-US" sz="1300" dirty="0"/>
          </a:p>
          <a:p>
            <a:pPr indent="0" marL="0">
              <a:buNone/>
            </a:pPr>
            <a:r>
              <a:rPr lang="en-US" sz="1100" dirty="0">
                <a:solidFill>
                  <a:srgbClr val="4A5563"/>
                </a:solidFill>
                <a:latin typeface="Calibri" pitchFamily="34" charset="0"/>
                <a:ea typeface="Calibri" pitchFamily="34" charset="-122"/>
                <a:cs typeface="Calibri" pitchFamily="34" charset="-120"/>
              </a:rPr>
              <a:t>About the body (no organs, no blood) or existence ("I am dead")</a:t>
            </a:r>
            <a:endParaRPr lang="en-US" sz="13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A2332"/>
                </a:solidFill>
                <a:latin typeface="Calibri" pitchFamily="34" charset="0"/>
                <a:ea typeface="Calibri" pitchFamily="34" charset="-122"/>
                <a:cs typeface="Calibri" pitchFamily="34" charset="-120"/>
              </a:rPr>
              <a:t>Severe depressive mood</a:t>
            </a:r>
            <a:endParaRPr lang="en-US" sz="1300" dirty="0"/>
          </a:p>
          <a:p>
            <a:pPr indent="0" marL="0">
              <a:buNone/>
            </a:pPr>
            <a:r>
              <a:rPr lang="en-US" sz="1100" dirty="0">
                <a:solidFill>
                  <a:srgbClr val="4A5563"/>
                </a:solidFill>
                <a:latin typeface="Calibri" pitchFamily="34" charset="0"/>
                <a:ea typeface="Calibri" pitchFamily="34" charset="-122"/>
                <a:cs typeface="Calibri" pitchFamily="34" charset="-120"/>
              </a:rPr>
              <a:t>Often with psychomotor retardation, mutism, or stupor</a:t>
            </a:r>
            <a:endParaRPr lang="en-US" sz="13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A2332"/>
                </a:solidFill>
                <a:latin typeface="Calibri" pitchFamily="34" charset="0"/>
                <a:ea typeface="Calibri" pitchFamily="34" charset="-122"/>
                <a:cs typeface="Calibri" pitchFamily="34" charset="-120"/>
              </a:rPr>
              <a:t>Paradoxical immortality beliefs</a:t>
            </a:r>
            <a:endParaRPr lang="en-US" sz="1300" dirty="0"/>
          </a:p>
          <a:p>
            <a:pPr indent="0" marL="0">
              <a:buNone/>
            </a:pPr>
            <a:r>
              <a:rPr lang="en-US" sz="1100" dirty="0">
                <a:solidFill>
                  <a:srgbClr val="4A5563"/>
                </a:solidFill>
                <a:latin typeface="Calibri" pitchFamily="34" charset="0"/>
                <a:ea typeface="Calibri" pitchFamily="34" charset="-122"/>
                <a:cs typeface="Calibri" pitchFamily="34" charset="-120"/>
              </a:rPr>
              <a:t>Patient believes they cannot die—yet may attempt suicide</a:t>
            </a:r>
            <a:endParaRPr lang="en-US" sz="13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A2332"/>
                </a:solidFill>
                <a:latin typeface="Calibri" pitchFamily="34" charset="0"/>
                <a:ea typeface="Calibri" pitchFamily="34" charset="-122"/>
                <a:cs typeface="Calibri" pitchFamily="34" charset="-120"/>
              </a:rPr>
              <a:t>Self-neglect</a:t>
            </a:r>
            <a:endParaRPr lang="en-US" sz="1300" dirty="0"/>
          </a:p>
          <a:p>
            <a:pPr indent="0" marL="0">
              <a:buNone/>
            </a:pPr>
            <a:r>
              <a:rPr lang="en-US" sz="1100" dirty="0">
                <a:solidFill>
                  <a:srgbClr val="4A5563"/>
                </a:solidFill>
                <a:latin typeface="Calibri" pitchFamily="34" charset="0"/>
                <a:ea typeface="Calibri" pitchFamily="34" charset="-122"/>
                <a:cs typeface="Calibri" pitchFamily="34" charset="-120"/>
              </a:rPr>
              <a:t>Refusing food ("the dead don't eat") or medical care</a:t>
            </a:r>
            <a:endParaRPr lang="en-US" sz="1300" dirty="0"/>
          </a:p>
        </p:txBody>
      </p:sp>
      <p:sp>
        <p:nvSpPr>
          <p:cNvPr id="10" name="Text 8"/>
          <p:cNvSpPr/>
          <p:nvPr/>
        </p:nvSpPr>
        <p:spPr>
          <a:xfrm>
            <a:off x="777240" y="4937760"/>
            <a:ext cx="54864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Three Clinical Subtypes (Berrios &amp; Luque, 1995)</a:t>
            </a:r>
            <a:endParaRPr lang="en-US" sz="1000" dirty="0"/>
          </a:p>
        </p:txBody>
      </p:sp>
      <p:sp>
        <p:nvSpPr>
          <p:cNvPr id="11" name="Shape 9"/>
          <p:cNvSpPr/>
          <p:nvPr/>
        </p:nvSpPr>
        <p:spPr>
          <a:xfrm>
            <a:off x="777240" y="5257800"/>
            <a:ext cx="36576" cy="640080"/>
          </a:xfrm>
          <a:prstGeom prst="rect">
            <a:avLst/>
          </a:prstGeom>
          <a:solidFill>
            <a:srgbClr val="4A6670"/>
          </a:solidFill>
          <a:ln w="12700">
            <a:solidFill>
              <a:srgbClr val="4A6670"/>
            </a:solidFill>
            <a:prstDash val="solid"/>
          </a:ln>
        </p:spPr>
      </p:sp>
      <p:sp>
        <p:nvSpPr>
          <p:cNvPr id="12" name="Text 10"/>
          <p:cNvSpPr/>
          <p:nvPr/>
        </p:nvSpPr>
        <p:spPr>
          <a:xfrm>
            <a:off x="886968" y="5230368"/>
            <a:ext cx="1691640" cy="292608"/>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Psychotic Depression</a:t>
            </a:r>
            <a:endParaRPr lang="en-US" sz="1100" dirty="0"/>
          </a:p>
        </p:txBody>
      </p:sp>
      <p:sp>
        <p:nvSpPr>
          <p:cNvPr id="13" name="Text 11"/>
          <p:cNvSpPr/>
          <p:nvPr/>
        </p:nvSpPr>
        <p:spPr>
          <a:xfrm>
            <a:off x="886968" y="5522976"/>
            <a:ext cx="1691640" cy="457200"/>
          </a:xfrm>
          <a:prstGeom prst="rect">
            <a:avLst/>
          </a:prstGeom>
          <a:noFill/>
          <a:ln/>
        </p:spPr>
        <p:txBody>
          <a:bodyPr wrap="square" lIns="0" tIns="0" rIns="0" bIns="0" rtlCol="0" anchor="ctr"/>
          <a:lstStyle/>
          <a:p>
            <a:pPr indent="0" marL="0">
              <a:buNone/>
            </a:pPr>
            <a:r>
              <a:rPr lang="en-US" sz="900" dirty="0">
                <a:solidFill>
                  <a:srgbClr val="4A5563"/>
                </a:solidFill>
                <a:latin typeface="Calibri" pitchFamily="34" charset="0"/>
                <a:ea typeface="Calibri" pitchFamily="34" charset="-122"/>
                <a:cs typeface="Calibri" pitchFamily="34" charset="-120"/>
              </a:rPr>
              <a:t>Nihilistic mood, mild delusions</a:t>
            </a:r>
            <a:endParaRPr lang="en-US" sz="900" dirty="0"/>
          </a:p>
        </p:txBody>
      </p:sp>
      <p:sp>
        <p:nvSpPr>
          <p:cNvPr id="14" name="Shape 12"/>
          <p:cNvSpPr/>
          <p:nvPr/>
        </p:nvSpPr>
        <p:spPr>
          <a:xfrm>
            <a:off x="2606040" y="5257800"/>
            <a:ext cx="36576" cy="640080"/>
          </a:xfrm>
          <a:prstGeom prst="rect">
            <a:avLst/>
          </a:prstGeom>
          <a:solidFill>
            <a:srgbClr val="4A6670"/>
          </a:solidFill>
          <a:ln w="12700">
            <a:solidFill>
              <a:srgbClr val="4A6670"/>
            </a:solidFill>
            <a:prstDash val="solid"/>
          </a:ln>
        </p:spPr>
      </p:sp>
      <p:sp>
        <p:nvSpPr>
          <p:cNvPr id="15" name="Text 13"/>
          <p:cNvSpPr/>
          <p:nvPr/>
        </p:nvSpPr>
        <p:spPr>
          <a:xfrm>
            <a:off x="2715768" y="5230368"/>
            <a:ext cx="1691640" cy="292608"/>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Cotard Type I</a:t>
            </a:r>
            <a:endParaRPr lang="en-US" sz="1100" dirty="0"/>
          </a:p>
        </p:txBody>
      </p:sp>
      <p:sp>
        <p:nvSpPr>
          <p:cNvPr id="16" name="Text 14"/>
          <p:cNvSpPr/>
          <p:nvPr/>
        </p:nvSpPr>
        <p:spPr>
          <a:xfrm>
            <a:off x="2715768" y="5522976"/>
            <a:ext cx="1691640" cy="457200"/>
          </a:xfrm>
          <a:prstGeom prst="rect">
            <a:avLst/>
          </a:prstGeom>
          <a:noFill/>
          <a:ln/>
        </p:spPr>
        <p:txBody>
          <a:bodyPr wrap="square" lIns="0" tIns="0" rIns="0" bIns="0" rtlCol="0" anchor="ctr"/>
          <a:lstStyle/>
          <a:p>
            <a:pPr indent="0" marL="0">
              <a:buNone/>
            </a:pPr>
            <a:r>
              <a:rPr lang="en-US" sz="900" dirty="0">
                <a:solidFill>
                  <a:srgbClr val="4A5563"/>
                </a:solidFill>
                <a:latin typeface="Calibri" pitchFamily="34" charset="0"/>
                <a:ea typeface="Calibri" pitchFamily="34" charset="-122"/>
                <a:cs typeface="Calibri" pitchFamily="34" charset="-120"/>
              </a:rPr>
              <a:t>"Pure" delusional, less depressive</a:t>
            </a:r>
            <a:endParaRPr lang="en-US" sz="900" dirty="0"/>
          </a:p>
        </p:txBody>
      </p:sp>
      <p:sp>
        <p:nvSpPr>
          <p:cNvPr id="17" name="Shape 15"/>
          <p:cNvSpPr/>
          <p:nvPr/>
        </p:nvSpPr>
        <p:spPr>
          <a:xfrm>
            <a:off x="4434840" y="5257800"/>
            <a:ext cx="36576" cy="640080"/>
          </a:xfrm>
          <a:prstGeom prst="rect">
            <a:avLst/>
          </a:prstGeom>
          <a:solidFill>
            <a:srgbClr val="4A6670"/>
          </a:solidFill>
          <a:ln w="12700">
            <a:solidFill>
              <a:srgbClr val="4A6670"/>
            </a:solidFill>
            <a:prstDash val="solid"/>
          </a:ln>
        </p:spPr>
      </p:sp>
      <p:sp>
        <p:nvSpPr>
          <p:cNvPr id="18" name="Text 16"/>
          <p:cNvSpPr/>
          <p:nvPr/>
        </p:nvSpPr>
        <p:spPr>
          <a:xfrm>
            <a:off x="4544568" y="5230368"/>
            <a:ext cx="1691640" cy="292608"/>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Cotard Type II</a:t>
            </a:r>
            <a:endParaRPr lang="en-US" sz="1100" dirty="0"/>
          </a:p>
        </p:txBody>
      </p:sp>
      <p:sp>
        <p:nvSpPr>
          <p:cNvPr id="19" name="Text 17"/>
          <p:cNvSpPr/>
          <p:nvPr/>
        </p:nvSpPr>
        <p:spPr>
          <a:xfrm>
            <a:off x="4544568" y="5522976"/>
            <a:ext cx="1691640" cy="457200"/>
          </a:xfrm>
          <a:prstGeom prst="rect">
            <a:avLst/>
          </a:prstGeom>
          <a:noFill/>
          <a:ln/>
        </p:spPr>
        <p:txBody>
          <a:bodyPr wrap="square" lIns="0" tIns="0" rIns="0" bIns="0" rtlCol="0" anchor="ctr"/>
          <a:lstStyle/>
          <a:p>
            <a:pPr indent="0" marL="0">
              <a:buNone/>
            </a:pPr>
            <a:r>
              <a:rPr lang="en-US" sz="900" dirty="0">
                <a:solidFill>
                  <a:srgbClr val="4A5563"/>
                </a:solidFill>
                <a:latin typeface="Calibri" pitchFamily="34" charset="0"/>
                <a:ea typeface="Calibri" pitchFamily="34" charset="-122"/>
                <a:cs typeface="Calibri" pitchFamily="34" charset="-120"/>
              </a:rPr>
              <a:t>Mixed: anxiety, immortality, suicidality</a:t>
            </a:r>
            <a:endParaRPr lang="en-US" sz="900" dirty="0"/>
          </a:p>
        </p:txBody>
      </p:sp>
      <p:sp>
        <p:nvSpPr>
          <p:cNvPr id="20" name="Text 18"/>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A  ·  DIAGNOSTIC CRITERIA</a:t>
            </a:r>
            <a:endParaRPr lang="en-US" sz="900" dirty="0"/>
          </a:p>
        </p:txBody>
      </p:sp>
      <p:sp>
        <p:nvSpPr>
          <p:cNvPr id="21" name="Text 1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Symptom Profile</a:t>
            </a:r>
            <a:endParaRPr lang="en-US" sz="3600" dirty="0"/>
          </a:p>
        </p:txBody>
      </p:sp>
      <p:sp>
        <p:nvSpPr>
          <p:cNvPr id="4" name="Text 2"/>
          <p:cNvSpPr/>
          <p:nvPr/>
        </p:nvSpPr>
        <p:spPr>
          <a:xfrm>
            <a:off x="777240" y="1188720"/>
            <a:ext cx="10515600" cy="64008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Figure 1</a:t>
            </a:r>
            <a:pPr indent="0" marL="0">
              <a:buNone/>
            </a:pPr>
            <a:r>
              <a:rPr lang="en-US" sz="1200" dirty="0">
                <a:solidFill>
                  <a:srgbClr val="1A2332"/>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1A2332"/>
                </a:solidFill>
                <a:latin typeface="Calibri" pitchFamily="34" charset="0"/>
                <a:ea typeface="Calibri" pitchFamily="34" charset="-122"/>
                <a:cs typeface="Calibri" pitchFamily="34" charset="-120"/>
              </a:rPr>
              <a:t>Frequency of Symptoms in 100 Documented Cases of Cotard's Syndrome</a:t>
            </a:r>
            <a:endParaRPr lang="en-US" sz="1200" dirty="0"/>
          </a:p>
        </p:txBody>
      </p:sp>
      <p:graphicFrame>
        <p:nvGraphicFramePr>
          <p:cNvPr id="5" name="Chart 0" descr=""/>
          <p:cNvGraphicFramePr/>
          <p:nvPr/>
        </p:nvGraphicFramePr>
        <p:xfrm>
          <a:off x="777240" y="187452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 y="5943600"/>
            <a:ext cx="6858000" cy="457200"/>
          </a:xfrm>
          <a:prstGeom prst="rect">
            <a:avLst/>
          </a:prstGeom>
          <a:noFill/>
          <a:ln/>
        </p:spPr>
        <p:txBody>
          <a:bodyPr wrap="square" lIns="0" tIns="0" rIns="0" bIns="0" rtlCol="0" anchor="t"/>
          <a:lstStyle/>
          <a:p>
            <a:pPr indent="0" marL="0">
              <a:buNone/>
            </a:pPr>
            <a:r>
              <a:rPr lang="en-US" sz="900" i="1" dirty="0">
                <a:solidFill>
                  <a:srgbClr val="8A8F9A"/>
                </a:solidFill>
                <a:latin typeface="Calibri" pitchFamily="34" charset="0"/>
                <a:ea typeface="Calibri" pitchFamily="34" charset="-122"/>
                <a:cs typeface="Calibri" pitchFamily="34" charset="-120"/>
              </a:rPr>
              <a:t>Note. </a:t>
            </a:r>
            <a:pPr indent="0" marL="0">
              <a:buNone/>
            </a:pPr>
            <a:r>
              <a:rPr lang="en-US" sz="900" dirty="0">
                <a:solidFill>
                  <a:srgbClr val="8A8F9A"/>
                </a:solidFill>
                <a:latin typeface="Calibri" pitchFamily="34" charset="0"/>
                <a:ea typeface="Calibri" pitchFamily="34" charset="-122"/>
                <a:cs typeface="Calibri" pitchFamily="34" charset="-120"/>
              </a:rPr>
              <a:t>Symptom prevalence based on factor analysis of 100 historical cases. Adapted from “Cotard's syndrome: Analysis of 100 cases,” by G. E. Berrios and R. Luque, 1995, </a:t>
            </a:r>
            <a:pPr indent="0" marL="0">
              <a:buNone/>
            </a:pPr>
            <a:r>
              <a:rPr lang="en-US" sz="900" i="1" dirty="0">
                <a:solidFill>
                  <a:srgbClr val="8A8F9A"/>
                </a:solidFill>
                <a:latin typeface="Calibri" pitchFamily="34" charset="0"/>
                <a:ea typeface="Calibri" pitchFamily="34" charset="-122"/>
                <a:cs typeface="Calibri" pitchFamily="34" charset="-120"/>
              </a:rPr>
              <a:t>Acta Psychiatrica Scandinavica, 91</a:t>
            </a:r>
            <a:pPr indent="0" marL="0">
              <a:buNone/>
            </a:pPr>
            <a:r>
              <a:rPr lang="en-US" sz="900" dirty="0">
                <a:solidFill>
                  <a:srgbClr val="8A8F9A"/>
                </a:solidFill>
                <a:latin typeface="Calibri" pitchFamily="34" charset="0"/>
                <a:ea typeface="Calibri" pitchFamily="34" charset="-122"/>
                <a:cs typeface="Calibri" pitchFamily="34" charset="-120"/>
              </a:rPr>
              <a:t>(3), p. 187.</a:t>
            </a:r>
            <a:endParaRPr lang="en-US" sz="900" dirty="0"/>
          </a:p>
        </p:txBody>
      </p:sp>
      <p:sp>
        <p:nvSpPr>
          <p:cNvPr id="7" name="Shape 4"/>
          <p:cNvSpPr/>
          <p:nvPr/>
        </p:nvSpPr>
        <p:spPr>
          <a:xfrm>
            <a:off x="8092440" y="1874520"/>
            <a:ext cx="3611880" cy="4023360"/>
          </a:xfrm>
          <a:prstGeom prst="rect">
            <a:avLst/>
          </a:prstGeom>
          <a:solidFill>
            <a:srgbClr val="F0EAE0"/>
          </a:solidFill>
          <a:ln w="12700">
            <a:solidFill>
              <a:srgbClr val="F0EAE0"/>
            </a:solidFill>
            <a:prstDash val="solid"/>
          </a:ln>
        </p:spPr>
      </p:sp>
      <p:sp>
        <p:nvSpPr>
          <p:cNvPr id="8" name="Text 5"/>
          <p:cNvSpPr/>
          <p:nvPr/>
        </p:nvSpPr>
        <p:spPr>
          <a:xfrm>
            <a:off x="8321040" y="2011680"/>
            <a:ext cx="329184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KEY INSIGHTS</a:t>
            </a:r>
            <a:endParaRPr lang="en-US" sz="1000" dirty="0"/>
          </a:p>
        </p:txBody>
      </p:sp>
      <p:sp>
        <p:nvSpPr>
          <p:cNvPr id="9" name="Text 6"/>
          <p:cNvSpPr/>
          <p:nvPr/>
        </p:nvSpPr>
        <p:spPr>
          <a:xfrm>
            <a:off x="8321040" y="2331720"/>
            <a:ext cx="3291840" cy="640080"/>
          </a:xfrm>
          <a:prstGeom prst="rect">
            <a:avLst/>
          </a:prstGeom>
          <a:noFill/>
          <a:ln/>
        </p:spPr>
        <p:txBody>
          <a:bodyPr wrap="square" lIns="0" tIns="0" rIns="0" bIns="0" rtlCol="0" anchor="ctr"/>
          <a:lstStyle/>
          <a:p>
            <a:pPr indent="0" marL="0">
              <a:buNone/>
            </a:pPr>
            <a:r>
              <a:rPr lang="en-US" sz="4000" b="1" dirty="0">
                <a:solidFill>
                  <a:srgbClr val="8B2635"/>
                </a:solidFill>
                <a:latin typeface="Georgia" pitchFamily="34" charset="0"/>
                <a:ea typeface="Georgia" pitchFamily="34" charset="-122"/>
                <a:cs typeface="Georgia" pitchFamily="34" charset="-120"/>
              </a:rPr>
              <a:t>89%</a:t>
            </a:r>
            <a:endParaRPr lang="en-US" sz="4000" dirty="0"/>
          </a:p>
        </p:txBody>
      </p:sp>
      <p:sp>
        <p:nvSpPr>
          <p:cNvPr id="10" name="Text 7"/>
          <p:cNvSpPr/>
          <p:nvPr/>
        </p:nvSpPr>
        <p:spPr>
          <a:xfrm>
            <a:off x="8321040" y="2926080"/>
            <a:ext cx="3291840" cy="54864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of cases present with depressive mood—the strongest psychiatric link.</a:t>
            </a:r>
            <a:endParaRPr lang="en-US" sz="1100" dirty="0"/>
          </a:p>
        </p:txBody>
      </p:sp>
      <p:sp>
        <p:nvSpPr>
          <p:cNvPr id="11" name="Text 8"/>
          <p:cNvSpPr/>
          <p:nvPr/>
        </p:nvSpPr>
        <p:spPr>
          <a:xfrm>
            <a:off x="8321040" y="3657600"/>
            <a:ext cx="3291840" cy="548640"/>
          </a:xfrm>
          <a:prstGeom prst="rect">
            <a:avLst/>
          </a:prstGeom>
          <a:noFill/>
          <a:ln/>
        </p:spPr>
        <p:txBody>
          <a:bodyPr wrap="square" lIns="0" tIns="0" rIns="0" bIns="0"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86% / 69%</a:t>
            </a:r>
            <a:endParaRPr lang="en-US" sz="2800" dirty="0"/>
          </a:p>
        </p:txBody>
      </p:sp>
      <p:sp>
        <p:nvSpPr>
          <p:cNvPr id="12" name="Text 9"/>
          <p:cNvSpPr/>
          <p:nvPr/>
        </p:nvSpPr>
        <p:spPr>
          <a:xfrm>
            <a:off x="8321040" y="4206240"/>
            <a:ext cx="3291840" cy="54864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believe parts of their body are absent or that they don't exist at all.</a:t>
            </a:r>
            <a:endParaRPr lang="en-US" sz="1100" dirty="0"/>
          </a:p>
        </p:txBody>
      </p:sp>
      <p:sp>
        <p:nvSpPr>
          <p:cNvPr id="13" name="Text 10"/>
          <p:cNvSpPr/>
          <p:nvPr/>
        </p:nvSpPr>
        <p:spPr>
          <a:xfrm>
            <a:off x="8321040" y="4937760"/>
            <a:ext cx="3291840" cy="548640"/>
          </a:xfrm>
          <a:prstGeom prst="rect">
            <a:avLst/>
          </a:prstGeom>
          <a:noFill/>
          <a:ln/>
        </p:spPr>
        <p:txBody>
          <a:bodyPr wrap="square" lIns="0" tIns="0" rIns="0" bIns="0" rtlCol="0" anchor="ctr"/>
          <a:lstStyle/>
          <a:p>
            <a:pPr indent="0" marL="0">
              <a:buNone/>
            </a:pPr>
            <a:r>
              <a:rPr lang="en-US" sz="2800" b="1" dirty="0">
                <a:solidFill>
                  <a:srgbClr val="4A6670"/>
                </a:solidFill>
                <a:latin typeface="Georgia" pitchFamily="34" charset="0"/>
                <a:ea typeface="Georgia" pitchFamily="34" charset="-122"/>
                <a:cs typeface="Georgia" pitchFamily="34" charset="-120"/>
              </a:rPr>
              <a:t>55%</a:t>
            </a:r>
            <a:endParaRPr lang="en-US" sz="2800" dirty="0"/>
          </a:p>
        </p:txBody>
      </p:sp>
      <p:sp>
        <p:nvSpPr>
          <p:cNvPr id="14" name="Text 11"/>
          <p:cNvSpPr/>
          <p:nvPr/>
        </p:nvSpPr>
        <p:spPr>
          <a:xfrm>
            <a:off x="8321040" y="5440680"/>
            <a:ext cx="3291840" cy="54864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hold paradoxical delusions of immortality—the central contradiction.</a:t>
            </a:r>
            <a:endParaRPr lang="en-US" sz="1100" dirty="0"/>
          </a:p>
        </p:txBody>
      </p:sp>
      <p:sp>
        <p:nvSpPr>
          <p:cNvPr id="15" name="Text 12"/>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A  ·  DIAGNOSTIC CRITERIA</a:t>
            </a:r>
            <a:endParaRPr lang="en-US" sz="900" dirty="0"/>
          </a:p>
        </p:txBody>
      </p:sp>
      <p:sp>
        <p:nvSpPr>
          <p:cNvPr id="16" name="Text 1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Creative Section</a:t>
            </a:r>
            <a:endParaRPr lang="en-US" sz="3600" dirty="0"/>
          </a:p>
        </p:txBody>
      </p:sp>
      <p:sp>
        <p:nvSpPr>
          <p:cNvPr id="3" name="Text 1"/>
          <p:cNvSpPr/>
          <p:nvPr/>
        </p:nvSpPr>
        <p:spPr>
          <a:xfrm>
            <a:off x="777240" y="1143000"/>
            <a:ext cx="10515600" cy="365760"/>
          </a:xfrm>
          <a:prstGeom prst="rect">
            <a:avLst/>
          </a:prstGeom>
          <a:noFill/>
          <a:ln/>
        </p:spPr>
        <p:txBody>
          <a:bodyPr wrap="square" lIns="0" tIns="0" rIns="0" bIns="0" rtlCol="0" anchor="ctr"/>
          <a:lstStyle/>
          <a:p>
            <a:pPr indent="0" marL="0">
              <a:buNone/>
            </a:pPr>
            <a:r>
              <a:rPr lang="en-US" sz="1400" i="1" dirty="0">
                <a:solidFill>
                  <a:srgbClr val="4A5563"/>
                </a:solidFill>
                <a:latin typeface="Calibri" pitchFamily="34" charset="0"/>
                <a:ea typeface="Calibri" pitchFamily="34" charset="-122"/>
                <a:cs typeface="Calibri" pitchFamily="34" charset="-120"/>
              </a:rPr>
              <a:t>A simulated journal entry: what Cotard's might sound like from the inside</a:t>
            </a:r>
            <a:endParaRPr lang="en-US" sz="1400" dirty="0"/>
          </a:p>
        </p:txBody>
      </p:sp>
      <p:sp>
        <p:nvSpPr>
          <p:cNvPr id="4" name="Shape 2"/>
          <p:cNvSpPr/>
          <p:nvPr/>
        </p:nvSpPr>
        <p:spPr>
          <a:xfrm>
            <a:off x="777240" y="1737360"/>
            <a:ext cx="10607040" cy="4434840"/>
          </a:xfrm>
          <a:prstGeom prst="rect">
            <a:avLst/>
          </a:prstGeom>
          <a:solidFill>
            <a:srgbClr val="FFFFFF"/>
          </a:solidFill>
          <a:ln w="12700">
            <a:solidFill>
              <a:srgbClr val="D8D4CB"/>
            </a:solidFill>
            <a:prstDash val="solid"/>
          </a:ln>
          <a:effectLst>
            <a:outerShdw sx="100000" sy="100000" kx="0" ky="0" algn="bl" rotWithShape="0" blurRad="152400" dist="38100" dir="5400000">
              <a:srgbClr val="000000">
                <a:alpha val="6000"/>
              </a:srgbClr>
            </a:outerShdw>
          </a:effectLst>
        </p:spPr>
      </p:sp>
      <p:sp>
        <p:nvSpPr>
          <p:cNvPr id="5" name="Shape 3"/>
          <p:cNvSpPr/>
          <p:nvPr/>
        </p:nvSpPr>
        <p:spPr>
          <a:xfrm>
            <a:off x="1463040" y="1828800"/>
            <a:ext cx="13716" cy="4251960"/>
          </a:xfrm>
          <a:prstGeom prst="rect">
            <a:avLst/>
          </a:prstGeom>
          <a:solidFill>
            <a:srgbClr val="8B2635"/>
          </a:solidFill>
          <a:ln w="12700">
            <a:solidFill>
              <a:srgbClr val="8B2635"/>
            </a:solidFill>
            <a:prstDash val="solid"/>
          </a:ln>
        </p:spPr>
      </p:sp>
      <p:sp>
        <p:nvSpPr>
          <p:cNvPr id="6" name="Text 4"/>
          <p:cNvSpPr/>
          <p:nvPr/>
        </p:nvSpPr>
        <p:spPr>
          <a:xfrm>
            <a:off x="1691640" y="1920240"/>
            <a:ext cx="9601200" cy="457200"/>
          </a:xfrm>
          <a:prstGeom prst="rect">
            <a:avLst/>
          </a:prstGeom>
          <a:noFill/>
          <a:ln/>
        </p:spPr>
        <p:txBody>
          <a:bodyPr wrap="square" lIns="0" tIns="0" rIns="0" bIns="0" rtlCol="0" anchor="ctr"/>
          <a:lstStyle/>
          <a:p>
            <a:pPr indent="0" marL="0">
              <a:buNone/>
            </a:pPr>
            <a:r>
              <a:rPr lang="en-US" sz="1800" b="1" i="1" dirty="0">
                <a:solidFill>
                  <a:srgbClr val="1A2332"/>
                </a:solidFill>
                <a:latin typeface="Georgia" pitchFamily="34" charset="0"/>
                <a:ea typeface="Georgia" pitchFamily="34" charset="-122"/>
                <a:cs typeface="Georgia" pitchFamily="34" charset="-120"/>
              </a:rPr>
              <a:t>Tuesday—I think.</a:t>
            </a:r>
            <a:endParaRPr lang="en-US" sz="1800" dirty="0"/>
          </a:p>
        </p:txBody>
      </p:sp>
      <p:sp>
        <p:nvSpPr>
          <p:cNvPr id="7" name="Text 5"/>
          <p:cNvSpPr/>
          <p:nvPr/>
        </p:nvSpPr>
        <p:spPr>
          <a:xfrm>
            <a:off x="1691640" y="2423160"/>
            <a:ext cx="9601200" cy="3657600"/>
          </a:xfrm>
          <a:prstGeom prst="rect">
            <a:avLst/>
          </a:prstGeom>
          <a:noFill/>
          <a:ln/>
        </p:spPr>
        <p:txBody>
          <a:bodyPr wrap="square" lIns="0" tIns="0" rIns="0" bIns="0" rtlCol="0" anchor="t"/>
          <a:lstStyle/>
          <a:p>
            <a:pPr indent="0" marL="0">
              <a:spcAft>
                <a:spcPts val="200"/>
              </a:spcAft>
              <a:buNone/>
            </a:pPr>
            <a:r>
              <a:rPr lang="en-US" sz="1300" i="1" dirty="0">
                <a:solidFill>
                  <a:srgbClr val="1A2332"/>
                </a:solidFill>
                <a:latin typeface="Georgia" pitchFamily="34" charset="0"/>
                <a:ea typeface="Georgia" pitchFamily="34" charset="-122"/>
                <a:cs typeface="Georgia" pitchFamily="34" charset="-120"/>
              </a:rPr>
              <a:t>Mom keeps telling me to eat. I keep telling her there's no reason to. The food just sits in the bowl. I know this sounds wrong, but I don't have a stomach anymore. I haven't for a few weeks now. </a:t>
            </a:r>
            <a:endParaRPr lang="en-US" sz="1300" dirty="0"/>
          </a:p>
          <a:p>
            <a:pPr indent="0" marL="0">
              <a:spcAft>
                <a:spcPts val="200"/>
              </a:spcAft>
              <a:buNone/>
            </a:pPr>
            <a:r>
              <a:rPr lang="en-US" sz="800" i="1" dirty="0">
                <a:solidFill>
                  <a:srgbClr val="1A2332"/>
                </a:solidFill>
                <a:latin typeface="Georgia" pitchFamily="34" charset="0"/>
                <a:ea typeface="Georgia" pitchFamily="34" charset="-122"/>
                <a:cs typeface="Georgia" pitchFamily="34" charset="-120"/>
              </a:rPr>
              <a:t> </a:t>
            </a:r>
            <a:endParaRPr lang="en-US" sz="1300" dirty="0"/>
          </a:p>
          <a:p>
            <a:pPr indent="0" marL="0">
              <a:spcAft>
                <a:spcPts val="200"/>
              </a:spcAft>
              <a:buNone/>
            </a:pPr>
            <a:r>
              <a:rPr lang="en-US" sz="1300" i="1" dirty="0">
                <a:solidFill>
                  <a:srgbClr val="1A2332"/>
                </a:solidFill>
                <a:latin typeface="Georgia" pitchFamily="34" charset="0"/>
                <a:ea typeface="Georgia" pitchFamily="34" charset="-122"/>
                <a:cs typeface="Georgia" pitchFamily="34" charset="-120"/>
              </a:rPr>
              <a:t>I look in the mirror and the face is mine but the eyes belong to someone who isn't there. The doctor showed me the EKG—said “your heart is fine”—but the line on the paper isn't proof of anything. Paper can lie. Machines can lie. I can feel that I am not feeling anything, and that is the only thing I trust.</a:t>
            </a:r>
            <a:endParaRPr lang="en-US" sz="1300" dirty="0"/>
          </a:p>
          <a:p>
            <a:pPr indent="0" marL="0">
              <a:spcAft>
                <a:spcPts val="200"/>
              </a:spcAft>
              <a:buNone/>
            </a:pPr>
            <a:r>
              <a:rPr lang="en-US" sz="800" i="1" dirty="0">
                <a:solidFill>
                  <a:srgbClr val="1A2332"/>
                </a:solidFill>
                <a:latin typeface="Georgia" pitchFamily="34" charset="0"/>
                <a:ea typeface="Georgia" pitchFamily="34" charset="-122"/>
                <a:cs typeface="Georgia" pitchFamily="34" charset="-120"/>
              </a:rPr>
              <a:t> </a:t>
            </a:r>
            <a:endParaRPr lang="en-US" sz="1300" dirty="0"/>
          </a:p>
          <a:p>
            <a:pPr indent="0" marL="0">
              <a:spcAft>
                <a:spcPts val="200"/>
              </a:spcAft>
              <a:buNone/>
            </a:pPr>
            <a:r>
              <a:rPr lang="en-US" sz="1300" i="1" dirty="0">
                <a:solidFill>
                  <a:srgbClr val="1A2332"/>
                </a:solidFill>
                <a:latin typeface="Georgia" pitchFamily="34" charset="0"/>
                <a:ea typeface="Georgia" pitchFamily="34" charset="-122"/>
                <a:cs typeface="Georgia" pitchFamily="34" charset="-120"/>
              </a:rPr>
              <a:t>The strangest part is the certainty. People keep asking me “don't you think it's strange that you can walk around if you're dead?” and I want to tell them: yes, of course it's strange. But being dead doesn't mean what you think it means. It means the inside is gone. It means I will be like this forever—that's the worst part. I cannot die because there's nothing left to die.</a:t>
            </a:r>
            <a:endParaRPr lang="en-US" sz="1300" dirty="0"/>
          </a:p>
          <a:p>
            <a:pPr indent="0" marL="0">
              <a:spcAft>
                <a:spcPts val="200"/>
              </a:spcAft>
              <a:buNone/>
            </a:pPr>
            <a:r>
              <a:rPr lang="en-US" sz="800" i="1" dirty="0">
                <a:solidFill>
                  <a:srgbClr val="1A2332"/>
                </a:solidFill>
                <a:latin typeface="Georgia" pitchFamily="34" charset="0"/>
                <a:ea typeface="Georgia" pitchFamily="34" charset="-122"/>
                <a:cs typeface="Georgia" pitchFamily="34" charset="-120"/>
              </a:rPr>
              <a:t> </a:t>
            </a:r>
            <a:endParaRPr lang="en-US" sz="1300" dirty="0"/>
          </a:p>
          <a:p>
            <a:pPr indent="0" marL="0">
              <a:spcAft>
                <a:spcPts val="200"/>
              </a:spcAft>
              <a:buNone/>
            </a:pPr>
            <a:r>
              <a:rPr lang="en-US" sz="1300" i="1" dirty="0">
                <a:solidFill>
                  <a:srgbClr val="1A2332"/>
                </a:solidFill>
                <a:latin typeface="Georgia" pitchFamily="34" charset="0"/>
                <a:ea typeface="Georgia" pitchFamily="34" charset="-122"/>
                <a:cs typeface="Georgia" pitchFamily="34" charset="-120"/>
              </a:rPr>
              <a:t>Tomorrow Mom is taking me to a new psychiatrist. I'll go. I don't think it will help. But I will go.</a:t>
            </a:r>
            <a:endParaRPr lang="en-US" sz="1300" dirty="0"/>
          </a:p>
        </p:txBody>
      </p:sp>
      <p:sp>
        <p:nvSpPr>
          <p:cNvPr id="8" name="Text 6"/>
          <p:cNvSpPr/>
          <p:nvPr/>
        </p:nvSpPr>
        <p:spPr>
          <a:xfrm>
            <a:off x="777240" y="6263640"/>
            <a:ext cx="10607040" cy="228600"/>
          </a:xfrm>
          <a:prstGeom prst="rect">
            <a:avLst/>
          </a:prstGeom>
          <a:noFill/>
          <a:ln/>
        </p:spPr>
        <p:txBody>
          <a:bodyPr wrap="square" lIns="0" tIns="0" rIns="0" bIns="0" rtlCol="0" anchor="ctr"/>
          <a:lstStyle/>
          <a:p>
            <a:pPr algn="ctr" indent="0" marL="0">
              <a:buNone/>
            </a:pPr>
            <a:r>
              <a:rPr lang="en-US" sz="900" i="1" dirty="0">
                <a:solidFill>
                  <a:srgbClr val="8A8F9A"/>
                </a:solidFill>
                <a:latin typeface="Calibri" pitchFamily="34" charset="0"/>
                <a:ea typeface="Calibri" pitchFamily="34" charset="-122"/>
                <a:cs typeface="Calibri" pitchFamily="34" charset="-120"/>
              </a:rPr>
              <a:t>Fictional composite drawing on documented features (Berrios &amp; Luque, 1995; Dieguez, 2018).</a:t>
            </a:r>
            <a:endParaRPr lang="en-US" sz="900" dirty="0"/>
          </a:p>
        </p:txBody>
      </p:sp>
      <p:sp>
        <p:nvSpPr>
          <p:cNvPr id="9" name="Text 7"/>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A  ·  DIAGNOSTIC CRITERIA</a:t>
            </a:r>
            <a:endParaRPr lang="en-US" sz="900" dirty="0"/>
          </a:p>
        </p:txBody>
      </p:sp>
      <p:sp>
        <p:nvSpPr>
          <p:cNvPr id="10" name="Text 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0584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History &amp; Background</a:t>
            </a:r>
            <a:endParaRPr lang="en-US" sz="3600" dirty="0"/>
          </a:p>
        </p:txBody>
      </p:sp>
      <p:sp>
        <p:nvSpPr>
          <p:cNvPr id="4" name="Shape 2"/>
          <p:cNvSpPr/>
          <p:nvPr/>
        </p:nvSpPr>
        <p:spPr>
          <a:xfrm>
            <a:off x="1737360" y="2084832"/>
            <a:ext cx="22860" cy="3749040"/>
          </a:xfrm>
          <a:prstGeom prst="rect">
            <a:avLst/>
          </a:prstGeom>
          <a:solidFill>
            <a:srgbClr val="D8D4CB"/>
          </a:solidFill>
          <a:ln w="12700">
            <a:solidFill>
              <a:srgbClr val="D8D4CB"/>
            </a:solidFill>
            <a:prstDash val="solid"/>
          </a:ln>
        </p:spPr>
      </p:sp>
      <p:sp>
        <p:nvSpPr>
          <p:cNvPr id="5" name="Text 3"/>
          <p:cNvSpPr/>
          <p:nvPr/>
        </p:nvSpPr>
        <p:spPr>
          <a:xfrm>
            <a:off x="777240" y="1920240"/>
            <a:ext cx="914400" cy="365760"/>
          </a:xfrm>
          <a:prstGeom prst="rect">
            <a:avLst/>
          </a:prstGeom>
          <a:noFill/>
          <a:ln/>
        </p:spPr>
        <p:txBody>
          <a:bodyPr wrap="square" lIns="0" tIns="0" rIns="0" bIns="0" rtlCol="0" anchor="t"/>
          <a:lstStyle/>
          <a:p>
            <a:pPr algn="r" indent="0" marL="0">
              <a:buNone/>
            </a:pPr>
            <a:r>
              <a:rPr lang="en-US" sz="1800" b="1" dirty="0">
                <a:solidFill>
                  <a:srgbClr val="8B2635"/>
                </a:solidFill>
                <a:latin typeface="Georgia" pitchFamily="34" charset="0"/>
                <a:ea typeface="Georgia" pitchFamily="34" charset="-122"/>
                <a:cs typeface="Georgia" pitchFamily="34" charset="-120"/>
              </a:rPr>
              <a:t>1880</a:t>
            </a:r>
            <a:endParaRPr lang="en-US" sz="1800" dirty="0"/>
          </a:p>
        </p:txBody>
      </p:sp>
      <p:sp>
        <p:nvSpPr>
          <p:cNvPr id="6" name="Shape 4"/>
          <p:cNvSpPr/>
          <p:nvPr/>
        </p:nvSpPr>
        <p:spPr>
          <a:xfrm>
            <a:off x="1682496" y="2084832"/>
            <a:ext cx="164592" cy="164592"/>
          </a:xfrm>
          <a:prstGeom prst="ellipse">
            <a:avLst/>
          </a:prstGeom>
          <a:solidFill>
            <a:srgbClr val="8B2635"/>
          </a:solidFill>
          <a:ln w="25400">
            <a:solidFill>
              <a:srgbClr val="FFFFFF"/>
            </a:solidFill>
            <a:prstDash val="solid"/>
          </a:ln>
        </p:spPr>
      </p:sp>
      <p:sp>
        <p:nvSpPr>
          <p:cNvPr id="7" name="Text 5"/>
          <p:cNvSpPr/>
          <p:nvPr/>
        </p:nvSpPr>
        <p:spPr>
          <a:xfrm>
            <a:off x="2057400" y="1920240"/>
            <a:ext cx="9601200" cy="29260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Jules Cotard describes "Mademoiselle X"</a:t>
            </a:r>
            <a:endParaRPr lang="en-US" sz="1400" dirty="0"/>
          </a:p>
        </p:txBody>
      </p:sp>
      <p:sp>
        <p:nvSpPr>
          <p:cNvPr id="8" name="Text 6"/>
          <p:cNvSpPr/>
          <p:nvPr/>
        </p:nvSpPr>
        <p:spPr>
          <a:xfrm>
            <a:off x="2057400" y="2212848"/>
            <a:ext cx="96012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French neurologist presents a 43-year-old woman who denies the existence of God, the devil, and several parts of her body, and refuses food. He calls it le délire des négations (Berrios &amp; Luque, 1995).</a:t>
            </a:r>
            <a:endParaRPr lang="en-US" sz="1100" dirty="0"/>
          </a:p>
        </p:txBody>
      </p:sp>
      <p:sp>
        <p:nvSpPr>
          <p:cNvPr id="9" name="Text 7"/>
          <p:cNvSpPr/>
          <p:nvPr/>
        </p:nvSpPr>
        <p:spPr>
          <a:xfrm>
            <a:off x="777240" y="2788920"/>
            <a:ext cx="914400" cy="365760"/>
          </a:xfrm>
          <a:prstGeom prst="rect">
            <a:avLst/>
          </a:prstGeom>
          <a:noFill/>
          <a:ln/>
        </p:spPr>
        <p:txBody>
          <a:bodyPr wrap="square" lIns="0" tIns="0" rIns="0" bIns="0" rtlCol="0" anchor="t"/>
          <a:lstStyle/>
          <a:p>
            <a:pPr algn="r" indent="0" marL="0">
              <a:buNone/>
            </a:pPr>
            <a:r>
              <a:rPr lang="en-US" sz="1800" b="1" dirty="0">
                <a:solidFill>
                  <a:srgbClr val="8B2635"/>
                </a:solidFill>
                <a:latin typeface="Georgia" pitchFamily="34" charset="0"/>
                <a:ea typeface="Georgia" pitchFamily="34" charset="-122"/>
                <a:cs typeface="Georgia" pitchFamily="34" charset="-120"/>
              </a:rPr>
              <a:t>1882</a:t>
            </a:r>
            <a:endParaRPr lang="en-US" sz="1800" dirty="0"/>
          </a:p>
        </p:txBody>
      </p:sp>
      <p:sp>
        <p:nvSpPr>
          <p:cNvPr id="10" name="Shape 8"/>
          <p:cNvSpPr/>
          <p:nvPr/>
        </p:nvSpPr>
        <p:spPr>
          <a:xfrm>
            <a:off x="1682496" y="2953512"/>
            <a:ext cx="164592" cy="164592"/>
          </a:xfrm>
          <a:prstGeom prst="ellipse">
            <a:avLst/>
          </a:prstGeom>
          <a:solidFill>
            <a:srgbClr val="8B2635"/>
          </a:solidFill>
          <a:ln w="25400">
            <a:solidFill>
              <a:srgbClr val="FFFFFF"/>
            </a:solidFill>
            <a:prstDash val="solid"/>
          </a:ln>
        </p:spPr>
      </p:sp>
      <p:sp>
        <p:nvSpPr>
          <p:cNvPr id="11" name="Text 9"/>
          <p:cNvSpPr/>
          <p:nvPr/>
        </p:nvSpPr>
        <p:spPr>
          <a:xfrm>
            <a:off x="2057400" y="2788920"/>
            <a:ext cx="9601200" cy="29260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Coined as a syndrome</a:t>
            </a:r>
            <a:endParaRPr lang="en-US" sz="1400" dirty="0"/>
          </a:p>
        </p:txBody>
      </p:sp>
      <p:sp>
        <p:nvSpPr>
          <p:cNvPr id="12" name="Text 10"/>
          <p:cNvSpPr/>
          <p:nvPr/>
        </p:nvSpPr>
        <p:spPr>
          <a:xfrm>
            <a:off x="2057400" y="3081528"/>
            <a:ext cx="96012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Cotard formally separates the condition from melancholia, framing it as a form of agitated, anxious depression rather than a discrete disorder (Debruyne et al., 2009).</a:t>
            </a:r>
            <a:endParaRPr lang="en-US" sz="1100" dirty="0"/>
          </a:p>
        </p:txBody>
      </p:sp>
      <p:sp>
        <p:nvSpPr>
          <p:cNvPr id="13" name="Text 11"/>
          <p:cNvSpPr/>
          <p:nvPr/>
        </p:nvSpPr>
        <p:spPr>
          <a:xfrm>
            <a:off x="777240" y="3657600"/>
            <a:ext cx="914400" cy="365760"/>
          </a:xfrm>
          <a:prstGeom prst="rect">
            <a:avLst/>
          </a:prstGeom>
          <a:noFill/>
          <a:ln/>
        </p:spPr>
        <p:txBody>
          <a:bodyPr wrap="square" lIns="0" tIns="0" rIns="0" bIns="0" rtlCol="0" anchor="t"/>
          <a:lstStyle/>
          <a:p>
            <a:pPr algn="r" indent="0" marL="0">
              <a:buNone/>
            </a:pPr>
            <a:r>
              <a:rPr lang="en-US" sz="1800" b="1" dirty="0">
                <a:solidFill>
                  <a:srgbClr val="8B2635"/>
                </a:solidFill>
                <a:latin typeface="Georgia" pitchFamily="34" charset="0"/>
                <a:ea typeface="Georgia" pitchFamily="34" charset="-122"/>
                <a:cs typeface="Georgia" pitchFamily="34" charset="-120"/>
              </a:rPr>
              <a:t>1893</a:t>
            </a:r>
            <a:endParaRPr lang="en-US" sz="1800" dirty="0"/>
          </a:p>
        </p:txBody>
      </p:sp>
      <p:sp>
        <p:nvSpPr>
          <p:cNvPr id="14" name="Shape 12"/>
          <p:cNvSpPr/>
          <p:nvPr/>
        </p:nvSpPr>
        <p:spPr>
          <a:xfrm>
            <a:off x="1682496" y="3822192"/>
            <a:ext cx="164592" cy="164592"/>
          </a:xfrm>
          <a:prstGeom prst="ellipse">
            <a:avLst/>
          </a:prstGeom>
          <a:solidFill>
            <a:srgbClr val="8B2635"/>
          </a:solidFill>
          <a:ln w="25400">
            <a:solidFill>
              <a:srgbClr val="FFFFFF"/>
            </a:solidFill>
            <a:prstDash val="solid"/>
          </a:ln>
        </p:spPr>
      </p:sp>
      <p:sp>
        <p:nvSpPr>
          <p:cNvPr id="15" name="Text 13"/>
          <p:cNvSpPr/>
          <p:nvPr/>
        </p:nvSpPr>
        <p:spPr>
          <a:xfrm>
            <a:off x="2057400" y="3657600"/>
            <a:ext cx="9601200" cy="29260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Renamed Cotard's Syndrome</a:t>
            </a:r>
            <a:endParaRPr lang="en-US" sz="1400" dirty="0"/>
          </a:p>
        </p:txBody>
      </p:sp>
      <p:sp>
        <p:nvSpPr>
          <p:cNvPr id="16" name="Text 14"/>
          <p:cNvSpPr/>
          <p:nvPr/>
        </p:nvSpPr>
        <p:spPr>
          <a:xfrm>
            <a:off x="2057400" y="3950208"/>
            <a:ext cx="96012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After Cotard's death (1889), Emil Régis names the condition in his honor; adoption spreads through European psychiatry (Berrios &amp; Luque, 1995).</a:t>
            </a:r>
            <a:endParaRPr lang="en-US" sz="1100" dirty="0"/>
          </a:p>
        </p:txBody>
      </p:sp>
      <p:sp>
        <p:nvSpPr>
          <p:cNvPr id="17" name="Text 15"/>
          <p:cNvSpPr/>
          <p:nvPr/>
        </p:nvSpPr>
        <p:spPr>
          <a:xfrm>
            <a:off x="777240" y="4526280"/>
            <a:ext cx="914400" cy="365760"/>
          </a:xfrm>
          <a:prstGeom prst="rect">
            <a:avLst/>
          </a:prstGeom>
          <a:noFill/>
          <a:ln/>
        </p:spPr>
        <p:txBody>
          <a:bodyPr wrap="square" lIns="0" tIns="0" rIns="0" bIns="0" rtlCol="0" anchor="t"/>
          <a:lstStyle/>
          <a:p>
            <a:pPr algn="r" indent="0" marL="0">
              <a:buNone/>
            </a:pPr>
            <a:r>
              <a:rPr lang="en-US" sz="1800" b="1" dirty="0">
                <a:solidFill>
                  <a:srgbClr val="8B2635"/>
                </a:solidFill>
                <a:latin typeface="Georgia" pitchFamily="34" charset="0"/>
                <a:ea typeface="Georgia" pitchFamily="34" charset="-122"/>
                <a:cs typeface="Georgia" pitchFamily="34" charset="-120"/>
              </a:rPr>
              <a:t>1995</a:t>
            </a:r>
            <a:endParaRPr lang="en-US" sz="1800" dirty="0"/>
          </a:p>
        </p:txBody>
      </p:sp>
      <p:sp>
        <p:nvSpPr>
          <p:cNvPr id="18" name="Shape 16"/>
          <p:cNvSpPr/>
          <p:nvPr/>
        </p:nvSpPr>
        <p:spPr>
          <a:xfrm>
            <a:off x="1682496" y="4690872"/>
            <a:ext cx="164592" cy="164592"/>
          </a:xfrm>
          <a:prstGeom prst="ellipse">
            <a:avLst/>
          </a:prstGeom>
          <a:solidFill>
            <a:srgbClr val="8B2635"/>
          </a:solidFill>
          <a:ln w="25400">
            <a:solidFill>
              <a:srgbClr val="FFFFFF"/>
            </a:solidFill>
            <a:prstDash val="solid"/>
          </a:ln>
        </p:spPr>
      </p:sp>
      <p:sp>
        <p:nvSpPr>
          <p:cNvPr id="19" name="Text 17"/>
          <p:cNvSpPr/>
          <p:nvPr/>
        </p:nvSpPr>
        <p:spPr>
          <a:xfrm>
            <a:off x="2057400" y="4526280"/>
            <a:ext cx="9601200" cy="29260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Berrios &amp; Luque reframe it</a:t>
            </a:r>
            <a:endParaRPr lang="en-US" sz="1400" dirty="0"/>
          </a:p>
        </p:txBody>
      </p:sp>
      <p:sp>
        <p:nvSpPr>
          <p:cNvPr id="20" name="Text 18"/>
          <p:cNvSpPr/>
          <p:nvPr/>
        </p:nvSpPr>
        <p:spPr>
          <a:xfrm>
            <a:off x="2057400" y="4818888"/>
            <a:ext cx="96012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 100-case statistical analysis in Acta Psychiatrica Scandinavica identifies three subtypes and treats Cotard's as a syndrome cluster rather than a single disorder.</a:t>
            </a:r>
            <a:endParaRPr lang="en-US" sz="1100" dirty="0"/>
          </a:p>
        </p:txBody>
      </p:sp>
      <p:sp>
        <p:nvSpPr>
          <p:cNvPr id="21" name="Text 19"/>
          <p:cNvSpPr/>
          <p:nvPr/>
        </p:nvSpPr>
        <p:spPr>
          <a:xfrm>
            <a:off x="777240" y="5394960"/>
            <a:ext cx="914400" cy="365760"/>
          </a:xfrm>
          <a:prstGeom prst="rect">
            <a:avLst/>
          </a:prstGeom>
          <a:noFill/>
          <a:ln/>
        </p:spPr>
        <p:txBody>
          <a:bodyPr wrap="square" lIns="0" tIns="0" rIns="0" bIns="0" rtlCol="0" anchor="t"/>
          <a:lstStyle/>
          <a:p>
            <a:pPr algn="r" indent="0" marL="0">
              <a:buNone/>
            </a:pPr>
            <a:r>
              <a:rPr lang="en-US" sz="1800" b="1" dirty="0">
                <a:solidFill>
                  <a:srgbClr val="8B2635"/>
                </a:solidFill>
                <a:latin typeface="Georgia" pitchFamily="34" charset="0"/>
                <a:ea typeface="Georgia" pitchFamily="34" charset="-122"/>
                <a:cs typeface="Georgia" pitchFamily="34" charset="-120"/>
              </a:rPr>
              <a:t>2026</a:t>
            </a:r>
            <a:endParaRPr lang="en-US" sz="1800" dirty="0"/>
          </a:p>
        </p:txBody>
      </p:sp>
      <p:sp>
        <p:nvSpPr>
          <p:cNvPr id="22" name="Shape 20"/>
          <p:cNvSpPr/>
          <p:nvPr/>
        </p:nvSpPr>
        <p:spPr>
          <a:xfrm>
            <a:off x="1682496" y="5559552"/>
            <a:ext cx="164592" cy="164592"/>
          </a:xfrm>
          <a:prstGeom prst="ellipse">
            <a:avLst/>
          </a:prstGeom>
          <a:solidFill>
            <a:srgbClr val="8B2635"/>
          </a:solidFill>
          <a:ln w="25400">
            <a:solidFill>
              <a:srgbClr val="FFFFFF"/>
            </a:solidFill>
            <a:prstDash val="solid"/>
          </a:ln>
        </p:spPr>
      </p:sp>
      <p:sp>
        <p:nvSpPr>
          <p:cNvPr id="23" name="Text 21"/>
          <p:cNvSpPr/>
          <p:nvPr/>
        </p:nvSpPr>
        <p:spPr>
          <a:xfrm>
            <a:off x="2057400" y="5394960"/>
            <a:ext cx="9601200" cy="29260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Still not a DSM diagnosis</a:t>
            </a:r>
            <a:endParaRPr lang="en-US" sz="1400" dirty="0"/>
          </a:p>
        </p:txBody>
      </p:sp>
      <p:sp>
        <p:nvSpPr>
          <p:cNvPr id="24" name="Text 22"/>
          <p:cNvSpPr/>
          <p:nvPr/>
        </p:nvSpPr>
        <p:spPr>
          <a:xfrm>
            <a:off x="2057400" y="5687568"/>
            <a:ext cx="96012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DSM-5-TR and ICD-11 continue to subsume Cotard's under delusional disorder or psychotic depression; debate over standalone status continues (American Psychiatric Association, 2022).</a:t>
            </a:r>
            <a:endParaRPr lang="en-US" sz="1100" dirty="0"/>
          </a:p>
        </p:txBody>
      </p:sp>
      <p:sp>
        <p:nvSpPr>
          <p:cNvPr id="25" name="Text 23"/>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B  ·  HISTORY</a:t>
            </a:r>
            <a:endParaRPr lang="en-US" sz="900" dirty="0"/>
          </a:p>
        </p:txBody>
      </p:sp>
      <p:sp>
        <p:nvSpPr>
          <p:cNvPr id="26" name="Text 24"/>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Epidemiology</a:t>
            </a:r>
            <a:endParaRPr lang="en-US" sz="3600" dirty="0"/>
          </a:p>
        </p:txBody>
      </p:sp>
      <p:sp>
        <p:nvSpPr>
          <p:cNvPr id="4" name="Shape 2"/>
          <p:cNvSpPr/>
          <p:nvPr/>
        </p:nvSpPr>
        <p:spPr>
          <a:xfrm>
            <a:off x="777240" y="1783080"/>
            <a:ext cx="3520440" cy="2194560"/>
          </a:xfrm>
          <a:prstGeom prst="rect">
            <a:avLst/>
          </a:prstGeom>
          <a:solidFill>
            <a:srgbClr val="F0EAE0"/>
          </a:solidFill>
          <a:ln w="12700">
            <a:solidFill>
              <a:srgbClr val="F0EAE0"/>
            </a:solidFill>
            <a:prstDash val="solid"/>
          </a:ln>
        </p:spPr>
      </p:sp>
      <p:sp>
        <p:nvSpPr>
          <p:cNvPr id="5" name="Shape 3"/>
          <p:cNvSpPr/>
          <p:nvPr/>
        </p:nvSpPr>
        <p:spPr>
          <a:xfrm>
            <a:off x="777240" y="1783080"/>
            <a:ext cx="3520440" cy="45720"/>
          </a:xfrm>
          <a:prstGeom prst="rect">
            <a:avLst/>
          </a:prstGeom>
          <a:solidFill>
            <a:srgbClr val="8B2635"/>
          </a:solidFill>
          <a:ln w="12700">
            <a:solidFill>
              <a:srgbClr val="8B2635"/>
            </a:solidFill>
            <a:prstDash val="solid"/>
          </a:ln>
        </p:spPr>
      </p:sp>
      <p:sp>
        <p:nvSpPr>
          <p:cNvPr id="6" name="Text 4"/>
          <p:cNvSpPr/>
          <p:nvPr/>
        </p:nvSpPr>
        <p:spPr>
          <a:xfrm>
            <a:off x="1005840" y="1920240"/>
            <a:ext cx="3108960" cy="777240"/>
          </a:xfrm>
          <a:prstGeom prst="rect">
            <a:avLst/>
          </a:prstGeom>
          <a:noFill/>
          <a:ln/>
        </p:spPr>
        <p:txBody>
          <a:bodyPr wrap="square" lIns="0" tIns="0" rIns="0" bIns="0" rtlCol="0" anchor="ctr"/>
          <a:lstStyle/>
          <a:p>
            <a:pPr indent="0" marL="0">
              <a:buNone/>
            </a:pPr>
            <a:r>
              <a:rPr lang="en-US" sz="4200" b="1" dirty="0">
                <a:solidFill>
                  <a:srgbClr val="8B2635"/>
                </a:solidFill>
                <a:latin typeface="Georgia" pitchFamily="34" charset="0"/>
                <a:ea typeface="Georgia" pitchFamily="34" charset="-122"/>
                <a:cs typeface="Georgia" pitchFamily="34" charset="-120"/>
              </a:rPr>
              <a:t>0.57%</a:t>
            </a:r>
            <a:endParaRPr lang="en-US" sz="4200" dirty="0"/>
          </a:p>
        </p:txBody>
      </p:sp>
      <p:sp>
        <p:nvSpPr>
          <p:cNvPr id="7" name="Text 5"/>
          <p:cNvSpPr/>
          <p:nvPr/>
        </p:nvSpPr>
        <p:spPr>
          <a:xfrm>
            <a:off x="1005840" y="2697480"/>
            <a:ext cx="310896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Overall prevalence</a:t>
            </a:r>
            <a:endParaRPr lang="en-US" sz="1300" dirty="0"/>
          </a:p>
        </p:txBody>
      </p:sp>
      <p:sp>
        <p:nvSpPr>
          <p:cNvPr id="8" name="Text 6"/>
          <p:cNvSpPr/>
          <p:nvPr/>
        </p:nvSpPr>
        <p:spPr>
          <a:xfrm>
            <a:off x="1005840" y="3017520"/>
            <a:ext cx="3108960" cy="640080"/>
          </a:xfrm>
          <a:prstGeom prst="rect">
            <a:avLst/>
          </a:prstGeom>
          <a:noFill/>
          <a:ln/>
        </p:spPr>
        <p:txBody>
          <a:bodyPr wrap="square" lIns="0" tIns="0" rIns="0" bIns="0" rtlCol="0" anchor="t"/>
          <a:lstStyle/>
          <a:p>
            <a:pPr indent="0" marL="0">
              <a:buNone/>
            </a:pPr>
            <a:r>
              <a:rPr lang="en-US" sz="1000" dirty="0">
                <a:solidFill>
                  <a:srgbClr val="4A5563"/>
                </a:solidFill>
                <a:latin typeface="Calibri" pitchFamily="34" charset="0"/>
                <a:ea typeface="Calibri" pitchFamily="34" charset="-122"/>
                <a:cs typeface="Calibri" pitchFamily="34" charset="-120"/>
              </a:rPr>
              <a:t>of psychogeriatric inpatients in Hong Kong (n = 349)</a:t>
            </a:r>
            <a:endParaRPr lang="en-US" sz="1000" dirty="0"/>
          </a:p>
        </p:txBody>
      </p:sp>
      <p:sp>
        <p:nvSpPr>
          <p:cNvPr id="9" name="Text 7"/>
          <p:cNvSpPr/>
          <p:nvPr/>
        </p:nvSpPr>
        <p:spPr>
          <a:xfrm>
            <a:off x="1005840" y="3657600"/>
            <a:ext cx="3108960" cy="274320"/>
          </a:xfrm>
          <a:prstGeom prst="rect">
            <a:avLst/>
          </a:prstGeom>
          <a:noFill/>
          <a:ln/>
        </p:spPr>
        <p:txBody>
          <a:bodyPr wrap="square" lIns="0" tIns="0" rIns="0" bIns="0" rtlCol="0" anchor="ctr"/>
          <a:lstStyle/>
          <a:p>
            <a:pPr indent="0" marL="0">
              <a:buNone/>
            </a:pPr>
            <a:r>
              <a:rPr lang="en-US" sz="900" i="1" dirty="0">
                <a:solidFill>
                  <a:srgbClr val="8A8F9A"/>
                </a:solidFill>
                <a:latin typeface="Calibri" pitchFamily="34" charset="0"/>
                <a:ea typeface="Calibri" pitchFamily="34" charset="-122"/>
                <a:cs typeface="Calibri" pitchFamily="34" charset="-120"/>
              </a:rPr>
              <a:t>Chiu, 1995</a:t>
            </a:r>
            <a:endParaRPr lang="en-US" sz="900" dirty="0"/>
          </a:p>
        </p:txBody>
      </p:sp>
      <p:sp>
        <p:nvSpPr>
          <p:cNvPr id="10" name="Shape 8"/>
          <p:cNvSpPr/>
          <p:nvPr/>
        </p:nvSpPr>
        <p:spPr>
          <a:xfrm>
            <a:off x="4480560" y="1783080"/>
            <a:ext cx="3520440" cy="2194560"/>
          </a:xfrm>
          <a:prstGeom prst="rect">
            <a:avLst/>
          </a:prstGeom>
          <a:solidFill>
            <a:srgbClr val="F0EAE0"/>
          </a:solidFill>
          <a:ln w="12700">
            <a:solidFill>
              <a:srgbClr val="F0EAE0"/>
            </a:solidFill>
            <a:prstDash val="solid"/>
          </a:ln>
        </p:spPr>
      </p:sp>
      <p:sp>
        <p:nvSpPr>
          <p:cNvPr id="11" name="Shape 9"/>
          <p:cNvSpPr/>
          <p:nvPr/>
        </p:nvSpPr>
        <p:spPr>
          <a:xfrm>
            <a:off x="4480560" y="1783080"/>
            <a:ext cx="3520440" cy="45720"/>
          </a:xfrm>
          <a:prstGeom prst="rect">
            <a:avLst/>
          </a:prstGeom>
          <a:solidFill>
            <a:srgbClr val="8B2635"/>
          </a:solidFill>
          <a:ln w="12700">
            <a:solidFill>
              <a:srgbClr val="8B2635"/>
            </a:solidFill>
            <a:prstDash val="solid"/>
          </a:ln>
        </p:spPr>
      </p:sp>
      <p:sp>
        <p:nvSpPr>
          <p:cNvPr id="12" name="Text 10"/>
          <p:cNvSpPr/>
          <p:nvPr/>
        </p:nvSpPr>
        <p:spPr>
          <a:xfrm>
            <a:off x="4709160" y="1920240"/>
            <a:ext cx="3108960" cy="777240"/>
          </a:xfrm>
          <a:prstGeom prst="rect">
            <a:avLst/>
          </a:prstGeom>
          <a:noFill/>
          <a:ln/>
        </p:spPr>
        <p:txBody>
          <a:bodyPr wrap="square" lIns="0" tIns="0" rIns="0" bIns="0" rtlCol="0" anchor="ctr"/>
          <a:lstStyle/>
          <a:p>
            <a:pPr indent="0" marL="0">
              <a:buNone/>
            </a:pPr>
            <a:r>
              <a:rPr lang="en-US" sz="4200" b="1" dirty="0">
                <a:solidFill>
                  <a:srgbClr val="8B2635"/>
                </a:solidFill>
                <a:latin typeface="Georgia" pitchFamily="34" charset="0"/>
                <a:ea typeface="Georgia" pitchFamily="34" charset="-122"/>
                <a:cs typeface="Georgia" pitchFamily="34" charset="-120"/>
              </a:rPr>
              <a:t>3.2%</a:t>
            </a:r>
            <a:endParaRPr lang="en-US" sz="4200" dirty="0"/>
          </a:p>
        </p:txBody>
      </p:sp>
      <p:sp>
        <p:nvSpPr>
          <p:cNvPr id="13" name="Text 11"/>
          <p:cNvSpPr/>
          <p:nvPr/>
        </p:nvSpPr>
        <p:spPr>
          <a:xfrm>
            <a:off x="4709160" y="2697480"/>
            <a:ext cx="310896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In severe late-life depression</a:t>
            </a:r>
            <a:endParaRPr lang="en-US" sz="1300" dirty="0"/>
          </a:p>
        </p:txBody>
      </p:sp>
      <p:sp>
        <p:nvSpPr>
          <p:cNvPr id="14" name="Text 12"/>
          <p:cNvSpPr/>
          <p:nvPr/>
        </p:nvSpPr>
        <p:spPr>
          <a:xfrm>
            <a:off x="4709160" y="3017520"/>
            <a:ext cx="3108960" cy="640080"/>
          </a:xfrm>
          <a:prstGeom prst="rect">
            <a:avLst/>
          </a:prstGeom>
          <a:noFill/>
          <a:ln/>
        </p:spPr>
        <p:txBody>
          <a:bodyPr wrap="square" lIns="0" tIns="0" rIns="0" bIns="0" rtlCol="0" anchor="t"/>
          <a:lstStyle/>
          <a:p>
            <a:pPr indent="0" marL="0">
              <a:buNone/>
            </a:pPr>
            <a:r>
              <a:rPr lang="en-US" sz="1000" dirty="0">
                <a:solidFill>
                  <a:srgbClr val="4A5563"/>
                </a:solidFill>
                <a:latin typeface="Calibri" pitchFamily="34" charset="0"/>
                <a:ea typeface="Calibri" pitchFamily="34" charset="-122"/>
                <a:cs typeface="Calibri" pitchFamily="34" charset="-120"/>
              </a:rPr>
              <a:t>rate climbs sharply with age and depression severity</a:t>
            </a:r>
            <a:endParaRPr lang="en-US" sz="1000" dirty="0"/>
          </a:p>
        </p:txBody>
      </p:sp>
      <p:sp>
        <p:nvSpPr>
          <p:cNvPr id="15" name="Text 13"/>
          <p:cNvSpPr/>
          <p:nvPr/>
        </p:nvSpPr>
        <p:spPr>
          <a:xfrm>
            <a:off x="4709160" y="3657600"/>
            <a:ext cx="3108960" cy="274320"/>
          </a:xfrm>
          <a:prstGeom prst="rect">
            <a:avLst/>
          </a:prstGeom>
          <a:noFill/>
          <a:ln/>
        </p:spPr>
        <p:txBody>
          <a:bodyPr wrap="square" lIns="0" tIns="0" rIns="0" bIns="0" rtlCol="0" anchor="ctr"/>
          <a:lstStyle/>
          <a:p>
            <a:pPr indent="0" marL="0">
              <a:buNone/>
            </a:pPr>
            <a:r>
              <a:rPr lang="en-US" sz="900" i="1" dirty="0">
                <a:solidFill>
                  <a:srgbClr val="8A8F9A"/>
                </a:solidFill>
                <a:latin typeface="Calibri" pitchFamily="34" charset="0"/>
                <a:ea typeface="Calibri" pitchFamily="34" charset="-122"/>
                <a:cs typeface="Calibri" pitchFamily="34" charset="-120"/>
              </a:rPr>
              <a:t>Debruyne et al., 2009</a:t>
            </a:r>
            <a:endParaRPr lang="en-US" sz="900" dirty="0"/>
          </a:p>
        </p:txBody>
      </p:sp>
      <p:sp>
        <p:nvSpPr>
          <p:cNvPr id="16" name="Shape 14"/>
          <p:cNvSpPr/>
          <p:nvPr/>
        </p:nvSpPr>
        <p:spPr>
          <a:xfrm>
            <a:off x="8183880" y="1783080"/>
            <a:ext cx="3520440" cy="2194560"/>
          </a:xfrm>
          <a:prstGeom prst="rect">
            <a:avLst/>
          </a:prstGeom>
          <a:solidFill>
            <a:srgbClr val="F0EAE0"/>
          </a:solidFill>
          <a:ln w="12700">
            <a:solidFill>
              <a:srgbClr val="F0EAE0"/>
            </a:solidFill>
            <a:prstDash val="solid"/>
          </a:ln>
        </p:spPr>
      </p:sp>
      <p:sp>
        <p:nvSpPr>
          <p:cNvPr id="17" name="Shape 15"/>
          <p:cNvSpPr/>
          <p:nvPr/>
        </p:nvSpPr>
        <p:spPr>
          <a:xfrm>
            <a:off x="8183880" y="1783080"/>
            <a:ext cx="3520440" cy="45720"/>
          </a:xfrm>
          <a:prstGeom prst="rect">
            <a:avLst/>
          </a:prstGeom>
          <a:solidFill>
            <a:srgbClr val="8B2635"/>
          </a:solidFill>
          <a:ln w="12700">
            <a:solidFill>
              <a:srgbClr val="8B2635"/>
            </a:solidFill>
            <a:prstDash val="solid"/>
          </a:ln>
        </p:spPr>
      </p:sp>
      <p:sp>
        <p:nvSpPr>
          <p:cNvPr id="18" name="Text 16"/>
          <p:cNvSpPr/>
          <p:nvPr/>
        </p:nvSpPr>
        <p:spPr>
          <a:xfrm>
            <a:off x="8412480" y="1920240"/>
            <a:ext cx="3108960" cy="777240"/>
          </a:xfrm>
          <a:prstGeom prst="rect">
            <a:avLst/>
          </a:prstGeom>
          <a:noFill/>
          <a:ln/>
        </p:spPr>
        <p:txBody>
          <a:bodyPr wrap="square" lIns="0" tIns="0" rIns="0" bIns="0" rtlCol="0" anchor="ctr"/>
          <a:lstStyle/>
          <a:p>
            <a:pPr indent="0" marL="0">
              <a:buNone/>
            </a:pPr>
            <a:r>
              <a:rPr lang="en-US" sz="4200" b="1" dirty="0">
                <a:solidFill>
                  <a:srgbClr val="8B2635"/>
                </a:solidFill>
                <a:latin typeface="Georgia" pitchFamily="34" charset="0"/>
                <a:ea typeface="Georgia" pitchFamily="34" charset="-122"/>
                <a:cs typeface="Georgia" pitchFamily="34" charset="-120"/>
              </a:rPr>
              <a:t>≈ 1 : 1</a:t>
            </a:r>
            <a:endParaRPr lang="en-US" sz="4200" dirty="0"/>
          </a:p>
        </p:txBody>
      </p:sp>
      <p:sp>
        <p:nvSpPr>
          <p:cNvPr id="19" name="Text 17"/>
          <p:cNvSpPr/>
          <p:nvPr/>
        </p:nvSpPr>
        <p:spPr>
          <a:xfrm>
            <a:off x="8412480" y="2697480"/>
            <a:ext cx="3108960" cy="320040"/>
          </a:xfrm>
          <a:prstGeom prst="rect">
            <a:avLst/>
          </a:prstGeom>
          <a:noFill/>
          <a:ln/>
        </p:spPr>
        <p:txBody>
          <a:bodyPr wrap="square" lIns="0" tIns="0" rIns="0" bIns="0"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Male : Female ratio</a:t>
            </a:r>
            <a:endParaRPr lang="en-US" sz="1300" dirty="0"/>
          </a:p>
        </p:txBody>
      </p:sp>
      <p:sp>
        <p:nvSpPr>
          <p:cNvPr id="20" name="Text 18"/>
          <p:cNvSpPr/>
          <p:nvPr/>
        </p:nvSpPr>
        <p:spPr>
          <a:xfrm>
            <a:off x="8412480" y="3017520"/>
            <a:ext cx="3108960" cy="640080"/>
          </a:xfrm>
          <a:prstGeom prst="rect">
            <a:avLst/>
          </a:prstGeom>
          <a:noFill/>
          <a:ln/>
        </p:spPr>
        <p:txBody>
          <a:bodyPr wrap="square" lIns="0" tIns="0" rIns="0" bIns="0" rtlCol="0" anchor="t"/>
          <a:lstStyle/>
          <a:p>
            <a:pPr indent="0" marL="0">
              <a:buNone/>
            </a:pPr>
            <a:r>
              <a:rPr lang="en-US" sz="1000" dirty="0">
                <a:solidFill>
                  <a:srgbClr val="4A5563"/>
                </a:solidFill>
                <a:latin typeface="Calibri" pitchFamily="34" charset="0"/>
                <a:ea typeface="Calibri" pitchFamily="34" charset="-122"/>
                <a:cs typeface="Calibri" pitchFamily="34" charset="-120"/>
              </a:rPr>
              <a:t>no significant gender difference across 100 cases</a:t>
            </a:r>
            <a:endParaRPr lang="en-US" sz="1000" dirty="0"/>
          </a:p>
        </p:txBody>
      </p:sp>
      <p:sp>
        <p:nvSpPr>
          <p:cNvPr id="21" name="Text 19"/>
          <p:cNvSpPr/>
          <p:nvPr/>
        </p:nvSpPr>
        <p:spPr>
          <a:xfrm>
            <a:off x="8412480" y="3657600"/>
            <a:ext cx="3108960" cy="274320"/>
          </a:xfrm>
          <a:prstGeom prst="rect">
            <a:avLst/>
          </a:prstGeom>
          <a:noFill/>
          <a:ln/>
        </p:spPr>
        <p:txBody>
          <a:bodyPr wrap="square" lIns="0" tIns="0" rIns="0" bIns="0" rtlCol="0" anchor="ctr"/>
          <a:lstStyle/>
          <a:p>
            <a:pPr indent="0" marL="0">
              <a:buNone/>
            </a:pPr>
            <a:r>
              <a:rPr lang="en-US" sz="900" i="1" dirty="0">
                <a:solidFill>
                  <a:srgbClr val="8A8F9A"/>
                </a:solidFill>
                <a:latin typeface="Calibri" pitchFamily="34" charset="0"/>
                <a:ea typeface="Calibri" pitchFamily="34" charset="-122"/>
                <a:cs typeface="Calibri" pitchFamily="34" charset="-120"/>
              </a:rPr>
              <a:t>Berrios &amp; Luque, 1995</a:t>
            </a:r>
            <a:endParaRPr lang="en-US" sz="900" dirty="0"/>
          </a:p>
        </p:txBody>
      </p:sp>
      <p:sp>
        <p:nvSpPr>
          <p:cNvPr id="22" name="Text 20"/>
          <p:cNvSpPr/>
          <p:nvPr/>
        </p:nvSpPr>
        <p:spPr>
          <a:xfrm>
            <a:off x="777240" y="4206240"/>
            <a:ext cx="45720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TWO SUBGROUP COMPARISONS</a:t>
            </a:r>
            <a:endParaRPr lang="en-US" sz="1000" dirty="0"/>
          </a:p>
        </p:txBody>
      </p:sp>
      <p:sp>
        <p:nvSpPr>
          <p:cNvPr id="23" name="Text 21"/>
          <p:cNvSpPr/>
          <p:nvPr/>
        </p:nvSpPr>
        <p:spPr>
          <a:xfrm>
            <a:off x="777240" y="4526280"/>
            <a:ext cx="10607040" cy="77724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By age:  </a:t>
            </a:r>
            <a:pPr indent="0" marL="0">
              <a:buNone/>
            </a:pPr>
            <a:r>
              <a:rPr lang="en-US" sz="1200" dirty="0">
                <a:solidFill>
                  <a:srgbClr val="1A2332"/>
                </a:solidFill>
                <a:latin typeface="Calibri" pitchFamily="34" charset="0"/>
                <a:ea typeface="Calibri" pitchFamily="34" charset="-122"/>
                <a:cs typeface="Calibri" pitchFamily="34" charset="-120"/>
              </a:rPr>
              <a:t>Cotard's risk increases with age. Berrios &amp; Luque (1995) and Huarcaya-Victoria et al. (2020) both found major depression and organic brain disorders are significantly more common in older Cotard's cases (p &lt; 0.001). Nearly absent in pre-pubertal children—only a handful of pediatric cases ever reported.</a:t>
            </a:r>
            <a:endParaRPr lang="en-US" sz="1200" dirty="0"/>
          </a:p>
        </p:txBody>
      </p:sp>
      <p:sp>
        <p:nvSpPr>
          <p:cNvPr id="24" name="Text 22"/>
          <p:cNvSpPr/>
          <p:nvPr/>
        </p:nvSpPr>
        <p:spPr>
          <a:xfrm>
            <a:off x="777240" y="5349240"/>
            <a:ext cx="10607040" cy="86868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By underlying diagnosis:  </a:t>
            </a:r>
            <a:pPr indent="0" marL="0">
              <a:buNone/>
            </a:pPr>
            <a:r>
              <a:rPr lang="en-US" sz="1200" dirty="0">
                <a:solidFill>
                  <a:srgbClr val="1A2332"/>
                </a:solidFill>
                <a:latin typeface="Calibri" pitchFamily="34" charset="0"/>
                <a:ea typeface="Calibri" pitchFamily="34" charset="-122"/>
                <a:cs typeface="Calibri" pitchFamily="34" charset="-120"/>
              </a:rPr>
              <a:t>roughly 60–70% of cases occur within psychiatric illness (psychotic depression, schizophrenia spectrum); the remainder are linked to organic neurological conditions including TBI, multiple sclerosis, brain tumors, epilepsy, migraine, and adverse reactions to valacyclovir, bridging psychiatry and neurology (Ramirez-Bermudez et al., 2010).</a:t>
            </a:r>
            <a:endParaRPr lang="en-US" sz="1200" dirty="0"/>
          </a:p>
        </p:txBody>
      </p:sp>
      <p:sp>
        <p:nvSpPr>
          <p:cNvPr id="25" name="Text 23"/>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C  ·  EPIDEMIOLOGY</a:t>
            </a:r>
            <a:endParaRPr lang="en-US" sz="900" dirty="0"/>
          </a:p>
        </p:txBody>
      </p:sp>
      <p:sp>
        <p:nvSpPr>
          <p:cNvPr id="26" name="Text 24"/>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0584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Etiology  ·  Biological Basis</a:t>
            </a:r>
            <a:endParaRPr lang="en-US" sz="3600" dirty="0"/>
          </a:p>
        </p:txBody>
      </p:sp>
      <p:sp>
        <p:nvSpPr>
          <p:cNvPr id="4" name="Shape 2"/>
          <p:cNvSpPr/>
          <p:nvPr/>
        </p:nvSpPr>
        <p:spPr>
          <a:xfrm>
            <a:off x="7863840" y="1828800"/>
            <a:ext cx="3840480" cy="4114800"/>
          </a:xfrm>
          <a:prstGeom prst="rect">
            <a:avLst/>
          </a:prstGeom>
          <a:solidFill>
            <a:srgbClr val="F0EAE0"/>
          </a:solidFill>
          <a:ln w="12700">
            <a:solidFill>
              <a:srgbClr val="F0EAE0"/>
            </a:solidFill>
            <a:prstDash val="solid"/>
          </a:ln>
        </p:spPr>
      </p:sp>
      <p:sp>
        <p:nvSpPr>
          <p:cNvPr id="5" name="Text 3"/>
          <p:cNvSpPr/>
          <p:nvPr/>
        </p:nvSpPr>
        <p:spPr>
          <a:xfrm>
            <a:off x="8046720" y="1965960"/>
            <a:ext cx="347472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IMPLICATED REGIONS</a:t>
            </a:r>
            <a:endParaRPr lang="en-US" sz="1000" dirty="0"/>
          </a:p>
        </p:txBody>
      </p:sp>
      <p:sp>
        <p:nvSpPr>
          <p:cNvPr id="6" name="Shape 4"/>
          <p:cNvSpPr/>
          <p:nvPr/>
        </p:nvSpPr>
        <p:spPr>
          <a:xfrm>
            <a:off x="8321040" y="2423160"/>
            <a:ext cx="2926080" cy="1645920"/>
          </a:xfrm>
          <a:prstGeom prst="ellipse">
            <a:avLst/>
          </a:prstGeom>
          <a:solidFill>
            <a:srgbClr val="FFFFFF"/>
          </a:solidFill>
          <a:ln w="19050">
            <a:solidFill>
              <a:srgbClr val="1A2332"/>
            </a:solidFill>
            <a:prstDash val="solid"/>
          </a:ln>
        </p:spPr>
      </p:sp>
      <p:sp>
        <p:nvSpPr>
          <p:cNvPr id="7" name="Shape 5"/>
          <p:cNvSpPr/>
          <p:nvPr/>
        </p:nvSpPr>
        <p:spPr>
          <a:xfrm>
            <a:off x="8366760" y="2606040"/>
            <a:ext cx="1097280" cy="1280160"/>
          </a:xfrm>
          <a:prstGeom prst="ellipse">
            <a:avLst/>
          </a:prstGeom>
          <a:solidFill>
            <a:srgbClr val="C9899B"/>
          </a:solidFill>
          <a:ln w="12700">
            <a:solidFill>
              <a:srgbClr val="C9899B"/>
            </a:solidFill>
            <a:prstDash val="solid"/>
          </a:ln>
        </p:spPr>
      </p:sp>
      <p:sp>
        <p:nvSpPr>
          <p:cNvPr id="8" name="Shape 6"/>
          <p:cNvSpPr/>
          <p:nvPr/>
        </p:nvSpPr>
        <p:spPr>
          <a:xfrm>
            <a:off x="9326880" y="2514600"/>
            <a:ext cx="1371600" cy="914400"/>
          </a:xfrm>
          <a:prstGeom prst="ellipse">
            <a:avLst/>
          </a:prstGeom>
          <a:solidFill>
            <a:srgbClr val="B85042"/>
          </a:solidFill>
          <a:ln w="12700">
            <a:solidFill>
              <a:srgbClr val="B85042"/>
            </a:solidFill>
            <a:prstDash val="solid"/>
          </a:ln>
        </p:spPr>
      </p:sp>
      <p:sp>
        <p:nvSpPr>
          <p:cNvPr id="9" name="Shape 7"/>
          <p:cNvSpPr/>
          <p:nvPr/>
        </p:nvSpPr>
        <p:spPr>
          <a:xfrm>
            <a:off x="9235440" y="3337560"/>
            <a:ext cx="1463040" cy="594360"/>
          </a:xfrm>
          <a:prstGeom prst="ellipse">
            <a:avLst/>
          </a:prstGeom>
          <a:solidFill>
            <a:srgbClr val="8B4A52"/>
          </a:solidFill>
          <a:ln w="12700">
            <a:solidFill>
              <a:srgbClr val="8B4A52"/>
            </a:solidFill>
            <a:prstDash val="solid"/>
          </a:ln>
        </p:spPr>
      </p:sp>
      <p:sp>
        <p:nvSpPr>
          <p:cNvPr id="10" name="Shape 8"/>
          <p:cNvSpPr/>
          <p:nvPr/>
        </p:nvSpPr>
        <p:spPr>
          <a:xfrm>
            <a:off x="8778240" y="3108960"/>
            <a:ext cx="292608" cy="292608"/>
          </a:xfrm>
          <a:prstGeom prst="ellipse">
            <a:avLst/>
          </a:prstGeom>
          <a:solidFill>
            <a:srgbClr val="FFFFFF"/>
          </a:solidFill>
          <a:ln w="15240">
            <a:solidFill>
              <a:srgbClr val="1A2332"/>
            </a:solidFill>
            <a:prstDash val="solid"/>
          </a:ln>
        </p:spPr>
      </p:sp>
      <p:sp>
        <p:nvSpPr>
          <p:cNvPr id="11" name="Text 9"/>
          <p:cNvSpPr/>
          <p:nvPr/>
        </p:nvSpPr>
        <p:spPr>
          <a:xfrm>
            <a:off x="8778240" y="3108960"/>
            <a:ext cx="292608" cy="292608"/>
          </a:xfrm>
          <a:prstGeom prst="rect">
            <a:avLst/>
          </a:prstGeom>
          <a:noFill/>
          <a:ln/>
        </p:spPr>
        <p:txBody>
          <a:bodyPr wrap="square" lIns="0" tIns="0" rIns="0" bIns="0" rtlCol="0" anchor="ctr"/>
          <a:lstStyle/>
          <a:p>
            <a:pPr algn="ctr" indent="0" marL="0">
              <a:buNone/>
            </a:pPr>
            <a:r>
              <a:rPr lang="en-US" sz="1200" b="1" dirty="0">
                <a:solidFill>
                  <a:srgbClr val="1A2332"/>
                </a:solidFill>
                <a:latin typeface="Calibri" pitchFamily="34" charset="0"/>
                <a:ea typeface="Calibri" pitchFamily="34" charset="-122"/>
                <a:cs typeface="Calibri" pitchFamily="34" charset="-120"/>
              </a:rPr>
              <a:t>1</a:t>
            </a:r>
            <a:endParaRPr lang="en-US" sz="1200" dirty="0"/>
          </a:p>
        </p:txBody>
      </p:sp>
      <p:sp>
        <p:nvSpPr>
          <p:cNvPr id="12" name="Shape 10"/>
          <p:cNvSpPr/>
          <p:nvPr/>
        </p:nvSpPr>
        <p:spPr>
          <a:xfrm>
            <a:off x="9875520" y="2788920"/>
            <a:ext cx="292608" cy="292608"/>
          </a:xfrm>
          <a:prstGeom prst="ellipse">
            <a:avLst/>
          </a:prstGeom>
          <a:solidFill>
            <a:srgbClr val="FFFFFF"/>
          </a:solidFill>
          <a:ln w="15240">
            <a:solidFill>
              <a:srgbClr val="1A2332"/>
            </a:solidFill>
            <a:prstDash val="solid"/>
          </a:ln>
        </p:spPr>
      </p:sp>
      <p:sp>
        <p:nvSpPr>
          <p:cNvPr id="13" name="Text 11"/>
          <p:cNvSpPr/>
          <p:nvPr/>
        </p:nvSpPr>
        <p:spPr>
          <a:xfrm>
            <a:off x="9875520" y="2788920"/>
            <a:ext cx="292608" cy="292608"/>
          </a:xfrm>
          <a:prstGeom prst="rect">
            <a:avLst/>
          </a:prstGeom>
          <a:noFill/>
          <a:ln/>
        </p:spPr>
        <p:txBody>
          <a:bodyPr wrap="square" lIns="0" tIns="0" rIns="0" bIns="0" rtlCol="0" anchor="ctr"/>
          <a:lstStyle/>
          <a:p>
            <a:pPr algn="ctr" indent="0" marL="0">
              <a:buNone/>
            </a:pPr>
            <a:r>
              <a:rPr lang="en-US" sz="1200" b="1" dirty="0">
                <a:solidFill>
                  <a:srgbClr val="1A2332"/>
                </a:solidFill>
                <a:latin typeface="Calibri" pitchFamily="34" charset="0"/>
                <a:ea typeface="Calibri" pitchFamily="34" charset="-122"/>
                <a:cs typeface="Calibri" pitchFamily="34" charset="-120"/>
              </a:rPr>
              <a:t>2</a:t>
            </a:r>
            <a:endParaRPr lang="en-US" sz="1200" dirty="0"/>
          </a:p>
        </p:txBody>
      </p:sp>
      <p:sp>
        <p:nvSpPr>
          <p:cNvPr id="14" name="Shape 12"/>
          <p:cNvSpPr/>
          <p:nvPr/>
        </p:nvSpPr>
        <p:spPr>
          <a:xfrm>
            <a:off x="9784080" y="3520440"/>
            <a:ext cx="292608" cy="292608"/>
          </a:xfrm>
          <a:prstGeom prst="ellipse">
            <a:avLst/>
          </a:prstGeom>
          <a:solidFill>
            <a:srgbClr val="FFFFFF"/>
          </a:solidFill>
          <a:ln w="15240">
            <a:solidFill>
              <a:srgbClr val="1A2332"/>
            </a:solidFill>
            <a:prstDash val="solid"/>
          </a:ln>
        </p:spPr>
      </p:sp>
      <p:sp>
        <p:nvSpPr>
          <p:cNvPr id="15" name="Text 13"/>
          <p:cNvSpPr/>
          <p:nvPr/>
        </p:nvSpPr>
        <p:spPr>
          <a:xfrm>
            <a:off x="9784080" y="3520440"/>
            <a:ext cx="292608" cy="292608"/>
          </a:xfrm>
          <a:prstGeom prst="rect">
            <a:avLst/>
          </a:prstGeom>
          <a:noFill/>
          <a:ln/>
        </p:spPr>
        <p:txBody>
          <a:bodyPr wrap="square" lIns="0" tIns="0" rIns="0" bIns="0" rtlCol="0" anchor="ctr"/>
          <a:lstStyle/>
          <a:p>
            <a:pPr algn="ctr" indent="0" marL="0">
              <a:buNone/>
            </a:pPr>
            <a:r>
              <a:rPr lang="en-US" sz="1200" b="1" dirty="0">
                <a:solidFill>
                  <a:srgbClr val="1A2332"/>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8138160" y="4160520"/>
            <a:ext cx="1280160" cy="228600"/>
          </a:xfrm>
          <a:prstGeom prst="rect">
            <a:avLst/>
          </a:prstGeom>
          <a:noFill/>
          <a:ln/>
        </p:spPr>
        <p:txBody>
          <a:bodyPr wrap="square" lIns="0" tIns="0" rIns="0" bIns="0" rtlCol="0" anchor="ctr"/>
          <a:lstStyle/>
          <a:p>
            <a:pPr indent="0" marL="0">
              <a:buNone/>
            </a:pPr>
            <a:r>
              <a:rPr lang="en-US" sz="800" i="1" dirty="0">
                <a:solidFill>
                  <a:srgbClr val="8A8F9A"/>
                </a:solidFill>
                <a:latin typeface="Calibri" pitchFamily="34" charset="0"/>
                <a:ea typeface="Calibri" pitchFamily="34" charset="-122"/>
                <a:cs typeface="Calibri" pitchFamily="34" charset="-120"/>
              </a:rPr>
              <a:t>← Anterior</a:t>
            </a:r>
            <a:endParaRPr lang="en-US" sz="800" dirty="0"/>
          </a:p>
        </p:txBody>
      </p:sp>
      <p:sp>
        <p:nvSpPr>
          <p:cNvPr id="17" name="Text 15"/>
          <p:cNvSpPr/>
          <p:nvPr/>
        </p:nvSpPr>
        <p:spPr>
          <a:xfrm>
            <a:off x="10241280" y="4160520"/>
            <a:ext cx="1280160" cy="228600"/>
          </a:xfrm>
          <a:prstGeom prst="rect">
            <a:avLst/>
          </a:prstGeom>
          <a:noFill/>
          <a:ln/>
        </p:spPr>
        <p:txBody>
          <a:bodyPr wrap="square" lIns="0" tIns="0" rIns="0" bIns="0" rtlCol="0" anchor="ctr"/>
          <a:lstStyle/>
          <a:p>
            <a:pPr algn="r" indent="0" marL="0">
              <a:buNone/>
            </a:pPr>
            <a:r>
              <a:rPr lang="en-US" sz="800" i="1" dirty="0">
                <a:solidFill>
                  <a:srgbClr val="8A8F9A"/>
                </a:solidFill>
                <a:latin typeface="Calibri" pitchFamily="34" charset="0"/>
                <a:ea typeface="Calibri" pitchFamily="34" charset="-122"/>
                <a:cs typeface="Calibri" pitchFamily="34" charset="-120"/>
              </a:rPr>
              <a:t>Posterior →</a:t>
            </a:r>
            <a:endParaRPr lang="en-US" sz="800" dirty="0"/>
          </a:p>
        </p:txBody>
      </p:sp>
      <p:sp>
        <p:nvSpPr>
          <p:cNvPr id="18" name="Text 16"/>
          <p:cNvSpPr/>
          <p:nvPr/>
        </p:nvSpPr>
        <p:spPr>
          <a:xfrm>
            <a:off x="8092440" y="4526280"/>
            <a:ext cx="274320" cy="320040"/>
          </a:xfrm>
          <a:prstGeom prst="rect">
            <a:avLst/>
          </a:prstGeom>
          <a:noFill/>
          <a:ln/>
        </p:spPr>
        <p:txBody>
          <a:bodyPr wrap="square" lIns="0" tIns="0" rIns="0" bIns="0" rtlCol="0" anchor="ctr"/>
          <a:lstStyle/>
          <a:p>
            <a:pPr algn="ctr" indent="0" marL="0">
              <a:buNone/>
            </a:pPr>
            <a:r>
              <a:rPr lang="en-US" sz="1300" b="1" dirty="0">
                <a:solidFill>
                  <a:srgbClr val="8B2635"/>
                </a:solidFill>
                <a:latin typeface="Georgia" pitchFamily="34" charset="0"/>
                <a:ea typeface="Georgia" pitchFamily="34" charset="-122"/>
                <a:cs typeface="Georgia" pitchFamily="34" charset="-120"/>
              </a:rPr>
              <a:t>1</a:t>
            </a:r>
            <a:endParaRPr lang="en-US" sz="1300" dirty="0"/>
          </a:p>
        </p:txBody>
      </p:sp>
      <p:sp>
        <p:nvSpPr>
          <p:cNvPr id="19" name="Text 17"/>
          <p:cNvSpPr/>
          <p:nvPr/>
        </p:nvSpPr>
        <p:spPr>
          <a:xfrm>
            <a:off x="8366760" y="4526280"/>
            <a:ext cx="3154680" cy="32004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Frontal lobe</a:t>
            </a:r>
            <a:pPr indent="0" marL="0">
              <a:buNone/>
            </a:pPr>
            <a:r>
              <a:rPr lang="en-US" sz="1000" dirty="0">
                <a:solidFill>
                  <a:srgbClr val="4A5563"/>
                </a:solidFill>
                <a:latin typeface="Calibri" pitchFamily="34" charset="0"/>
                <a:ea typeface="Calibri" pitchFamily="34" charset="-122"/>
                <a:cs typeface="Calibri" pitchFamily="34" charset="-120"/>
              </a:rPr>
              <a:t>  median atrophy &amp; hypoperfusion</a:t>
            </a:r>
            <a:endParaRPr lang="en-US" sz="1100" dirty="0"/>
          </a:p>
        </p:txBody>
      </p:sp>
      <p:sp>
        <p:nvSpPr>
          <p:cNvPr id="20" name="Text 18"/>
          <p:cNvSpPr/>
          <p:nvPr/>
        </p:nvSpPr>
        <p:spPr>
          <a:xfrm>
            <a:off x="8092440" y="4937760"/>
            <a:ext cx="274320" cy="320040"/>
          </a:xfrm>
          <a:prstGeom prst="rect">
            <a:avLst/>
          </a:prstGeom>
          <a:noFill/>
          <a:ln/>
        </p:spPr>
        <p:txBody>
          <a:bodyPr wrap="square" lIns="0" tIns="0" rIns="0" bIns="0" rtlCol="0" anchor="ctr"/>
          <a:lstStyle/>
          <a:p>
            <a:pPr algn="ctr" indent="0" marL="0">
              <a:buNone/>
            </a:pPr>
            <a:r>
              <a:rPr lang="en-US" sz="1300" b="1" dirty="0">
                <a:solidFill>
                  <a:srgbClr val="8B2635"/>
                </a:solidFill>
                <a:latin typeface="Georgia" pitchFamily="34" charset="0"/>
                <a:ea typeface="Georgia" pitchFamily="34" charset="-122"/>
                <a:cs typeface="Georgia" pitchFamily="34" charset="-120"/>
              </a:rPr>
              <a:t>2</a:t>
            </a:r>
            <a:endParaRPr lang="en-US" sz="1300" dirty="0"/>
          </a:p>
        </p:txBody>
      </p:sp>
      <p:sp>
        <p:nvSpPr>
          <p:cNvPr id="21" name="Text 19"/>
          <p:cNvSpPr/>
          <p:nvPr/>
        </p:nvSpPr>
        <p:spPr>
          <a:xfrm>
            <a:off x="8366760" y="4937760"/>
            <a:ext cx="3154680" cy="32004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Parietal lobe</a:t>
            </a:r>
            <a:pPr indent="0" marL="0">
              <a:buNone/>
            </a:pPr>
            <a:r>
              <a:rPr lang="en-US" sz="1000" dirty="0">
                <a:solidFill>
                  <a:srgbClr val="4A5563"/>
                </a:solidFill>
                <a:latin typeface="Calibri" pitchFamily="34" charset="0"/>
                <a:ea typeface="Calibri" pitchFamily="34" charset="-122"/>
                <a:cs typeface="Calibri" pitchFamily="34" charset="-120"/>
              </a:rPr>
              <a:t>  right &gt; left lesion concentration</a:t>
            </a:r>
            <a:endParaRPr lang="en-US" sz="1100" dirty="0"/>
          </a:p>
        </p:txBody>
      </p:sp>
      <p:sp>
        <p:nvSpPr>
          <p:cNvPr id="22" name="Text 20"/>
          <p:cNvSpPr/>
          <p:nvPr/>
        </p:nvSpPr>
        <p:spPr>
          <a:xfrm>
            <a:off x="8092440" y="5349240"/>
            <a:ext cx="274320" cy="320040"/>
          </a:xfrm>
          <a:prstGeom prst="rect">
            <a:avLst/>
          </a:prstGeom>
          <a:noFill/>
          <a:ln/>
        </p:spPr>
        <p:txBody>
          <a:bodyPr wrap="square" lIns="0" tIns="0" rIns="0" bIns="0" rtlCol="0" anchor="ctr"/>
          <a:lstStyle/>
          <a:p>
            <a:pPr algn="ctr" indent="0" marL="0">
              <a:buNone/>
            </a:pPr>
            <a:r>
              <a:rPr lang="en-US" sz="1300" b="1" dirty="0">
                <a:solidFill>
                  <a:srgbClr val="8B2635"/>
                </a:solidFill>
                <a:latin typeface="Georgia" pitchFamily="34" charset="0"/>
                <a:ea typeface="Georgia" pitchFamily="34" charset="-122"/>
                <a:cs typeface="Georgia" pitchFamily="34" charset="-120"/>
              </a:rPr>
              <a:t>3</a:t>
            </a:r>
            <a:endParaRPr lang="en-US" sz="1300" dirty="0"/>
          </a:p>
        </p:txBody>
      </p:sp>
      <p:sp>
        <p:nvSpPr>
          <p:cNvPr id="23" name="Text 21"/>
          <p:cNvSpPr/>
          <p:nvPr/>
        </p:nvSpPr>
        <p:spPr>
          <a:xfrm>
            <a:off x="8366760" y="5349240"/>
            <a:ext cx="3154680" cy="32004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Temporal lobe</a:t>
            </a:r>
            <a:pPr indent="0" marL="0">
              <a:buNone/>
            </a:pPr>
            <a:r>
              <a:rPr lang="en-US" sz="1000" dirty="0">
                <a:solidFill>
                  <a:srgbClr val="4A5563"/>
                </a:solidFill>
                <a:latin typeface="Calibri" pitchFamily="34" charset="0"/>
                <a:ea typeface="Calibri" pitchFamily="34" charset="-122"/>
                <a:cs typeface="Calibri" pitchFamily="34" charset="-120"/>
              </a:rPr>
              <a:t>  secondary involvement</a:t>
            </a:r>
            <a:endParaRPr lang="en-US" sz="1100" dirty="0"/>
          </a:p>
        </p:txBody>
      </p:sp>
      <p:sp>
        <p:nvSpPr>
          <p:cNvPr id="24" name="Text 22"/>
          <p:cNvSpPr/>
          <p:nvPr/>
        </p:nvSpPr>
        <p:spPr>
          <a:xfrm>
            <a:off x="8046720" y="5715000"/>
            <a:ext cx="3474720" cy="228600"/>
          </a:xfrm>
          <a:prstGeom prst="rect">
            <a:avLst/>
          </a:prstGeom>
          <a:noFill/>
          <a:ln/>
        </p:spPr>
        <p:txBody>
          <a:bodyPr wrap="square" lIns="0" tIns="0" rIns="0" bIns="0" rtlCol="0" anchor="t"/>
          <a:lstStyle/>
          <a:p>
            <a:pPr indent="0" marL="0">
              <a:buNone/>
            </a:pPr>
            <a:r>
              <a:rPr lang="en-US" sz="800" i="1" dirty="0">
                <a:solidFill>
                  <a:srgbClr val="8A8F9A"/>
                </a:solidFill>
                <a:latin typeface="Calibri" pitchFamily="34" charset="0"/>
                <a:ea typeface="Calibri" pitchFamily="34" charset="-122"/>
                <a:cs typeface="Calibri" pitchFamily="34" charset="-120"/>
              </a:rPr>
              <a:t>Non-dominant hemisphere bias across studies (Joseph &amp; O'Leary, 1986; Petracca et al., 1995).</a:t>
            </a:r>
            <a:endParaRPr lang="en-US" sz="800" dirty="0"/>
          </a:p>
        </p:txBody>
      </p:sp>
      <p:sp>
        <p:nvSpPr>
          <p:cNvPr id="25" name="Text 23"/>
          <p:cNvSpPr/>
          <p:nvPr/>
        </p:nvSpPr>
        <p:spPr>
          <a:xfrm>
            <a:off x="777240" y="1783080"/>
            <a:ext cx="64008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STRUCTURAL &amp; FUNCTIONAL</a:t>
            </a:r>
            <a:endParaRPr lang="en-US" sz="1000" dirty="0"/>
          </a:p>
        </p:txBody>
      </p:sp>
      <p:sp>
        <p:nvSpPr>
          <p:cNvPr id="26" name="Text 24"/>
          <p:cNvSpPr/>
          <p:nvPr/>
        </p:nvSpPr>
        <p:spPr>
          <a:xfrm>
            <a:off x="777240" y="2103120"/>
            <a:ext cx="6858000" cy="2560320"/>
          </a:xfrm>
          <a:prstGeom prst="rect">
            <a:avLst/>
          </a:prstGeom>
          <a:noFill/>
          <a:ln/>
        </p:spPr>
        <p:txBody>
          <a:bodyPr wrap="square" rtlCol="0" anchor="t"/>
          <a:lstStyle/>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Frontal–parietal–temporal hypoperfusion</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SPECT scans show reduced blood flow in non-dominant hemisphere; abnormalities resolve after ECT (Petracca et al., 1995).</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Median frontal lobe atrophy</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Higher rates of cerebral atrophy than controls (Joseph &amp; O'Leary, 1986).</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Fusiform gyrus involvement</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Disrupts self-recognition; sister mechanism to Capgras delusion.</a:t>
            </a:r>
            <a:endParaRPr lang="en-US" sz="1200" dirty="0"/>
          </a:p>
        </p:txBody>
      </p:sp>
      <p:sp>
        <p:nvSpPr>
          <p:cNvPr id="27" name="Text 25"/>
          <p:cNvSpPr/>
          <p:nvPr/>
        </p:nvSpPr>
        <p:spPr>
          <a:xfrm>
            <a:off x="777240" y="4754880"/>
            <a:ext cx="64008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NEUROCHEMISTRY</a:t>
            </a:r>
            <a:endParaRPr lang="en-US" sz="1000" dirty="0"/>
          </a:p>
        </p:txBody>
      </p:sp>
      <p:sp>
        <p:nvSpPr>
          <p:cNvPr id="28" name="Text 26"/>
          <p:cNvSpPr/>
          <p:nvPr/>
        </p:nvSpPr>
        <p:spPr>
          <a:xfrm>
            <a:off x="777240" y="5074920"/>
            <a:ext cx="6858000" cy="137160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Dopamine:</a:t>
            </a:r>
            <a:pPr indent="0" marL="0">
              <a:buNone/>
            </a:pPr>
            <a:r>
              <a:rPr lang="en-US" sz="1200" dirty="0">
                <a:solidFill>
                  <a:srgbClr val="1A2332"/>
                </a:solidFill>
                <a:latin typeface="Calibri" pitchFamily="34" charset="0"/>
                <a:ea typeface="Calibri" pitchFamily="34" charset="-122"/>
                <a:cs typeface="Calibri" pitchFamily="34" charset="-120"/>
              </a:rPr>
              <a:t> reduced striatal D2 receptor binding; Cotard's responds to dopamine-modulating antipsychotics like clozapine (De Risio et al., 2004).  </a:t>
            </a:r>
            <a:pPr indent="0" marL="0">
              <a:buNone/>
            </a:pPr>
            <a:r>
              <a:rPr lang="en-US" sz="1200" b="1" dirty="0">
                <a:solidFill>
                  <a:srgbClr val="1A2332"/>
                </a:solidFill>
                <a:latin typeface="Calibri" pitchFamily="34" charset="0"/>
                <a:ea typeface="Calibri" pitchFamily="34" charset="-122"/>
                <a:cs typeface="Calibri" pitchFamily="34" charset="-120"/>
              </a:rPr>
              <a:t>Serotonin:</a:t>
            </a:r>
            <a:pPr indent="0" marL="0">
              <a:buNone/>
            </a:pPr>
            <a:r>
              <a:rPr lang="en-US" sz="1200" dirty="0">
                <a:solidFill>
                  <a:srgbClr val="1A2332"/>
                </a:solidFill>
                <a:latin typeface="Calibri" pitchFamily="34" charset="0"/>
                <a:ea typeface="Calibri" pitchFamily="34" charset="-122"/>
                <a:cs typeface="Calibri" pitchFamily="34" charset="-120"/>
              </a:rPr>
              <a:t> low serotonin tone consistent with the strong depression overlap; SSRIs help in depressive subtypes.</a:t>
            </a:r>
            <a:endParaRPr lang="en-US" sz="1200" dirty="0"/>
          </a:p>
        </p:txBody>
      </p:sp>
      <p:sp>
        <p:nvSpPr>
          <p:cNvPr id="29" name="Text 27"/>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D  ·  ETIOLOGY</a:t>
            </a:r>
            <a:endParaRPr lang="en-US" sz="900" dirty="0"/>
          </a:p>
        </p:txBody>
      </p:sp>
      <p:sp>
        <p:nvSpPr>
          <p:cNvPr id="30" name="Text 2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0584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Etiology  ·  Cognitive Models</a:t>
            </a:r>
            <a:endParaRPr lang="en-US" sz="3600" dirty="0"/>
          </a:p>
        </p:txBody>
      </p:sp>
      <p:sp>
        <p:nvSpPr>
          <p:cNvPr id="4" name="Text 2"/>
          <p:cNvSpPr/>
          <p:nvPr/>
        </p:nvSpPr>
        <p:spPr>
          <a:xfrm>
            <a:off x="777240" y="1783080"/>
            <a:ext cx="10607040" cy="274320"/>
          </a:xfrm>
          <a:prstGeom prst="rect">
            <a:avLst/>
          </a:prstGeom>
          <a:noFill/>
          <a:ln/>
        </p:spPr>
        <p:txBody>
          <a:bodyPr wrap="square" lIns="0" tIns="0" rIns="0" bIns="0" rtlCol="0" anchor="ctr"/>
          <a:lstStyle/>
          <a:p>
            <a:pPr indent="0" marL="0">
              <a:buNone/>
            </a:pPr>
            <a:r>
              <a:rPr lang="en-US" sz="1100" b="1" dirty="0">
                <a:solidFill>
                  <a:srgbClr val="8B2635"/>
                </a:solidFill>
                <a:latin typeface="Calibri" pitchFamily="34" charset="0"/>
                <a:ea typeface="Calibri" pitchFamily="34" charset="-122"/>
                <a:cs typeface="Calibri" pitchFamily="34" charset="-120"/>
              </a:rPr>
              <a:t>THE “MIRROR” MODEL  ·  Young &amp; Leafhead (1996)</a:t>
            </a:r>
            <a:endParaRPr lang="en-US" sz="1100" dirty="0"/>
          </a:p>
        </p:txBody>
      </p:sp>
      <p:sp>
        <p:nvSpPr>
          <p:cNvPr id="5" name="Text 3"/>
          <p:cNvSpPr/>
          <p:nvPr/>
        </p:nvSpPr>
        <p:spPr>
          <a:xfrm>
            <a:off x="777240" y="2057400"/>
            <a:ext cx="10607040" cy="548640"/>
          </a:xfrm>
          <a:prstGeom prst="rect">
            <a:avLst/>
          </a:prstGeom>
          <a:noFill/>
          <a:ln/>
        </p:spPr>
        <p:txBody>
          <a:bodyPr wrap="square" lIns="0" tIns="0" rIns="0" bIns="0" rtlCol="0" anchor="ctr"/>
          <a:lstStyle/>
          <a:p>
            <a:pPr indent="0" marL="0">
              <a:buNone/>
            </a:pPr>
            <a:r>
              <a:rPr lang="en-US" sz="1200" i="1" dirty="0">
                <a:solidFill>
                  <a:srgbClr val="4A5563"/>
                </a:solidFill>
                <a:latin typeface="Calibri" pitchFamily="34" charset="0"/>
                <a:ea typeface="Calibri" pitchFamily="34" charset="-122"/>
                <a:cs typeface="Calibri" pitchFamily="34" charset="-120"/>
              </a:rPr>
              <a:t>Both Cotard's and Capgras delusions follow when perceptual recognition is intact but the limbic emotional response is disconnected—the brain confabulates an explanation.</a:t>
            </a:r>
            <a:endParaRPr lang="en-US" sz="1200" dirty="0"/>
          </a:p>
        </p:txBody>
      </p:sp>
      <p:sp>
        <p:nvSpPr>
          <p:cNvPr id="6" name="Shape 4"/>
          <p:cNvSpPr/>
          <p:nvPr/>
        </p:nvSpPr>
        <p:spPr>
          <a:xfrm>
            <a:off x="777240" y="2743200"/>
            <a:ext cx="5212080" cy="2286000"/>
          </a:xfrm>
          <a:prstGeom prst="rect">
            <a:avLst/>
          </a:prstGeom>
          <a:solidFill>
            <a:srgbClr val="F0EAE0"/>
          </a:solidFill>
          <a:ln w="12700">
            <a:solidFill>
              <a:srgbClr val="F0EAE0"/>
            </a:solidFill>
            <a:prstDash val="solid"/>
          </a:ln>
        </p:spPr>
      </p:sp>
      <p:sp>
        <p:nvSpPr>
          <p:cNvPr id="7" name="Shape 5"/>
          <p:cNvSpPr/>
          <p:nvPr/>
        </p:nvSpPr>
        <p:spPr>
          <a:xfrm>
            <a:off x="777240" y="2743200"/>
            <a:ext cx="45720" cy="2286000"/>
          </a:xfrm>
          <a:prstGeom prst="rect">
            <a:avLst/>
          </a:prstGeom>
          <a:solidFill>
            <a:srgbClr val="4A6670"/>
          </a:solidFill>
          <a:ln w="12700">
            <a:solidFill>
              <a:srgbClr val="4A6670"/>
            </a:solidFill>
            <a:prstDash val="solid"/>
          </a:ln>
        </p:spPr>
      </p:sp>
      <p:sp>
        <p:nvSpPr>
          <p:cNvPr id="8" name="Text 6"/>
          <p:cNvSpPr/>
          <p:nvPr/>
        </p:nvSpPr>
        <p:spPr>
          <a:xfrm>
            <a:off x="960120" y="2880360"/>
            <a:ext cx="4937760" cy="274320"/>
          </a:xfrm>
          <a:prstGeom prst="rect">
            <a:avLst/>
          </a:prstGeom>
          <a:noFill/>
          <a:ln/>
        </p:spPr>
        <p:txBody>
          <a:bodyPr wrap="square" lIns="0" tIns="0" rIns="0" bIns="0" rtlCol="0" anchor="ctr"/>
          <a:lstStyle/>
          <a:p>
            <a:pPr indent="0" marL="0">
              <a:buNone/>
            </a:pPr>
            <a:r>
              <a:rPr lang="en-US" sz="1000" b="1" spc="400" kern="0" dirty="0">
                <a:solidFill>
                  <a:srgbClr val="4A6670"/>
                </a:solidFill>
                <a:latin typeface="Calibri" pitchFamily="34" charset="0"/>
                <a:ea typeface="Calibri" pitchFamily="34" charset="-122"/>
                <a:cs typeface="Calibri" pitchFamily="34" charset="-120"/>
              </a:rPr>
              <a:t>CAPGRAS DELUSION</a:t>
            </a:r>
            <a:endParaRPr lang="en-US" sz="1000" dirty="0"/>
          </a:p>
        </p:txBody>
      </p:sp>
      <p:sp>
        <p:nvSpPr>
          <p:cNvPr id="9" name="Text 7"/>
          <p:cNvSpPr/>
          <p:nvPr/>
        </p:nvSpPr>
        <p:spPr>
          <a:xfrm>
            <a:off x="960120" y="3200400"/>
            <a:ext cx="4937760" cy="822960"/>
          </a:xfrm>
          <a:prstGeom prst="rect">
            <a:avLst/>
          </a:prstGeom>
          <a:noFill/>
          <a:ln/>
        </p:spPr>
        <p:txBody>
          <a:bodyPr wrap="square" lIns="0" tIns="0" rIns="0" bIns="0" rtlCol="0" anchor="t"/>
          <a:lstStyle/>
          <a:p>
            <a:pPr indent="0" marL="0">
              <a:buNone/>
            </a:pPr>
            <a:r>
              <a:rPr lang="en-US" sz="1300" i="1" dirty="0">
                <a:solidFill>
                  <a:srgbClr val="1A2332"/>
                </a:solidFill>
                <a:latin typeface="Georgia" pitchFamily="34" charset="0"/>
                <a:ea typeface="Georgia" pitchFamily="34" charset="-122"/>
                <a:cs typeface="Georgia" pitchFamily="34" charset="-120"/>
              </a:rPr>
              <a:t>“This person looks like my mother—but feels unfamiliar. So she must be an impostor.”</a:t>
            </a:r>
            <a:endParaRPr lang="en-US" sz="1300" dirty="0"/>
          </a:p>
        </p:txBody>
      </p:sp>
      <p:sp>
        <p:nvSpPr>
          <p:cNvPr id="10" name="Text 8"/>
          <p:cNvSpPr/>
          <p:nvPr/>
        </p:nvSpPr>
        <p:spPr>
          <a:xfrm>
            <a:off x="960120" y="4069080"/>
            <a:ext cx="4937760" cy="365760"/>
          </a:xfrm>
          <a:prstGeom prst="rect">
            <a:avLst/>
          </a:prstGeom>
          <a:noFill/>
          <a:ln/>
        </p:spPr>
        <p:txBody>
          <a:bodyPr wrap="square" lIns="0" tIns="0" rIns="0" bIns="0" rtlCol="0" anchor="t"/>
          <a:lstStyle/>
          <a:p>
            <a:pPr indent="0" marL="0">
              <a:buNone/>
            </a:pPr>
            <a:r>
              <a:rPr lang="en-US" sz="1100" b="1" dirty="0">
                <a:solidFill>
                  <a:srgbClr val="4A5563"/>
                </a:solidFill>
                <a:latin typeface="Calibri" pitchFamily="34" charset="0"/>
                <a:ea typeface="Calibri" pitchFamily="34" charset="-122"/>
                <a:cs typeface="Calibri" pitchFamily="34" charset="-120"/>
              </a:rPr>
              <a:t>Trigger: </a:t>
            </a:r>
            <a:pPr indent="0" marL="0">
              <a:buNone/>
            </a:pPr>
            <a:r>
              <a:rPr lang="en-US" sz="1100" dirty="0">
                <a:solidFill>
                  <a:srgbClr val="4A5563"/>
                </a:solidFill>
                <a:latin typeface="Calibri" pitchFamily="34" charset="0"/>
                <a:ea typeface="Calibri" pitchFamily="34" charset="-122"/>
                <a:cs typeface="Calibri" pitchFamily="34" charset="-120"/>
              </a:rPr>
              <a:t>loss of emotional response to </a:t>
            </a:r>
            <a:pPr indent="0" marL="0">
              <a:buNone/>
            </a:pPr>
            <a:r>
              <a:rPr lang="en-US" sz="1100" i="1" dirty="0">
                <a:solidFill>
                  <a:srgbClr val="4A5563"/>
                </a:solidFill>
                <a:latin typeface="Calibri" pitchFamily="34" charset="0"/>
                <a:ea typeface="Calibri" pitchFamily="34" charset="-122"/>
                <a:cs typeface="Calibri" pitchFamily="34" charset="-120"/>
              </a:rPr>
              <a:t>external</a:t>
            </a:r>
            <a:pPr indent="0" marL="0">
              <a:buNone/>
            </a:pPr>
            <a:r>
              <a:rPr lang="en-US" sz="1100" dirty="0">
                <a:solidFill>
                  <a:srgbClr val="4A5563"/>
                </a:solidFill>
                <a:latin typeface="Calibri" pitchFamily="34" charset="0"/>
                <a:ea typeface="Calibri" pitchFamily="34" charset="-122"/>
                <a:cs typeface="Calibri" pitchFamily="34" charset="-120"/>
              </a:rPr>
              <a:t> familiar faces.</a:t>
            </a:r>
            <a:endParaRPr lang="en-US" sz="1100" dirty="0"/>
          </a:p>
        </p:txBody>
      </p:sp>
      <p:sp>
        <p:nvSpPr>
          <p:cNvPr id="11" name="Text 9"/>
          <p:cNvSpPr/>
          <p:nvPr/>
        </p:nvSpPr>
        <p:spPr>
          <a:xfrm>
            <a:off x="960120" y="4434840"/>
            <a:ext cx="4937760" cy="365760"/>
          </a:xfrm>
          <a:prstGeom prst="rect">
            <a:avLst/>
          </a:prstGeom>
          <a:noFill/>
          <a:ln/>
        </p:spPr>
        <p:txBody>
          <a:bodyPr wrap="square" lIns="0" tIns="0" rIns="0" bIns="0" rtlCol="0" anchor="t"/>
          <a:lstStyle/>
          <a:p>
            <a:pPr indent="0" marL="0">
              <a:buNone/>
            </a:pPr>
            <a:r>
              <a:rPr lang="en-US" sz="1100" b="1" dirty="0">
                <a:solidFill>
                  <a:srgbClr val="4A5563"/>
                </a:solidFill>
                <a:latin typeface="Calibri" pitchFamily="34" charset="0"/>
                <a:ea typeface="Calibri" pitchFamily="34" charset="-122"/>
                <a:cs typeface="Calibri" pitchFamily="34" charset="-120"/>
              </a:rPr>
              <a:t>Confabulation: </a:t>
            </a:r>
            <a:pPr indent="0" marL="0">
              <a:buNone/>
            </a:pPr>
            <a:r>
              <a:rPr lang="en-US" sz="1100" dirty="0">
                <a:solidFill>
                  <a:srgbClr val="4A5563"/>
                </a:solidFill>
                <a:latin typeface="Calibri" pitchFamily="34" charset="0"/>
                <a:ea typeface="Calibri" pitchFamily="34" charset="-122"/>
                <a:cs typeface="Calibri" pitchFamily="34" charset="-120"/>
              </a:rPr>
              <a:t>blame the world—“she's been replaced.”</a:t>
            </a:r>
            <a:endParaRPr lang="en-US" sz="1100" dirty="0"/>
          </a:p>
        </p:txBody>
      </p:sp>
      <p:sp>
        <p:nvSpPr>
          <p:cNvPr id="12" name="Shape 10"/>
          <p:cNvSpPr/>
          <p:nvPr/>
        </p:nvSpPr>
        <p:spPr>
          <a:xfrm>
            <a:off x="6172200" y="2743200"/>
            <a:ext cx="5212080" cy="2286000"/>
          </a:xfrm>
          <a:prstGeom prst="rect">
            <a:avLst/>
          </a:prstGeom>
          <a:solidFill>
            <a:srgbClr val="E8DCD9"/>
          </a:solidFill>
          <a:ln w="12700">
            <a:solidFill>
              <a:srgbClr val="E8DCD9"/>
            </a:solidFill>
            <a:prstDash val="solid"/>
          </a:ln>
        </p:spPr>
      </p:sp>
      <p:sp>
        <p:nvSpPr>
          <p:cNvPr id="13" name="Shape 11"/>
          <p:cNvSpPr/>
          <p:nvPr/>
        </p:nvSpPr>
        <p:spPr>
          <a:xfrm>
            <a:off x="6172200" y="2743200"/>
            <a:ext cx="45720" cy="2286000"/>
          </a:xfrm>
          <a:prstGeom prst="rect">
            <a:avLst/>
          </a:prstGeom>
          <a:solidFill>
            <a:srgbClr val="8B2635"/>
          </a:solidFill>
          <a:ln w="12700">
            <a:solidFill>
              <a:srgbClr val="8B2635"/>
            </a:solidFill>
            <a:prstDash val="solid"/>
          </a:ln>
        </p:spPr>
      </p:sp>
      <p:sp>
        <p:nvSpPr>
          <p:cNvPr id="14" name="Text 12"/>
          <p:cNvSpPr/>
          <p:nvPr/>
        </p:nvSpPr>
        <p:spPr>
          <a:xfrm>
            <a:off x="6355080" y="2880360"/>
            <a:ext cx="493776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COTARD'S DELUSION</a:t>
            </a:r>
            <a:endParaRPr lang="en-US" sz="1000" dirty="0"/>
          </a:p>
        </p:txBody>
      </p:sp>
      <p:sp>
        <p:nvSpPr>
          <p:cNvPr id="15" name="Text 13"/>
          <p:cNvSpPr/>
          <p:nvPr/>
        </p:nvSpPr>
        <p:spPr>
          <a:xfrm>
            <a:off x="6355080" y="3200400"/>
            <a:ext cx="4937760" cy="822960"/>
          </a:xfrm>
          <a:prstGeom prst="rect">
            <a:avLst/>
          </a:prstGeom>
          <a:noFill/>
          <a:ln/>
        </p:spPr>
        <p:txBody>
          <a:bodyPr wrap="square" lIns="0" tIns="0" rIns="0" bIns="0" rtlCol="0" anchor="t"/>
          <a:lstStyle/>
          <a:p>
            <a:pPr indent="0" marL="0">
              <a:buNone/>
            </a:pPr>
            <a:r>
              <a:rPr lang="en-US" sz="1300" i="1" dirty="0">
                <a:solidFill>
                  <a:srgbClr val="1A2332"/>
                </a:solidFill>
                <a:latin typeface="Georgia" pitchFamily="34" charset="0"/>
                <a:ea typeface="Georgia" pitchFamily="34" charset="-122"/>
                <a:cs typeface="Georgia" pitchFamily="34" charset="-120"/>
              </a:rPr>
              <a:t>“This face in the mirror looks like mine—but I feel nothing. So I must be dead.”</a:t>
            </a:r>
            <a:endParaRPr lang="en-US" sz="1300" dirty="0"/>
          </a:p>
        </p:txBody>
      </p:sp>
      <p:sp>
        <p:nvSpPr>
          <p:cNvPr id="16" name="Text 14"/>
          <p:cNvSpPr/>
          <p:nvPr/>
        </p:nvSpPr>
        <p:spPr>
          <a:xfrm>
            <a:off x="6355080" y="4069080"/>
            <a:ext cx="4937760" cy="365760"/>
          </a:xfrm>
          <a:prstGeom prst="rect">
            <a:avLst/>
          </a:prstGeom>
          <a:noFill/>
          <a:ln/>
        </p:spPr>
        <p:txBody>
          <a:bodyPr wrap="square" lIns="0" tIns="0" rIns="0" bIns="0" rtlCol="0" anchor="t"/>
          <a:lstStyle/>
          <a:p>
            <a:pPr indent="0" marL="0">
              <a:buNone/>
            </a:pPr>
            <a:r>
              <a:rPr lang="en-US" sz="1100" b="1" dirty="0">
                <a:solidFill>
                  <a:srgbClr val="4A5563"/>
                </a:solidFill>
                <a:latin typeface="Calibri" pitchFamily="34" charset="0"/>
                <a:ea typeface="Calibri" pitchFamily="34" charset="-122"/>
                <a:cs typeface="Calibri" pitchFamily="34" charset="-120"/>
              </a:rPr>
              <a:t>Trigger: </a:t>
            </a:r>
            <a:pPr indent="0" marL="0">
              <a:buNone/>
            </a:pPr>
            <a:r>
              <a:rPr lang="en-US" sz="1100" dirty="0">
                <a:solidFill>
                  <a:srgbClr val="4A5563"/>
                </a:solidFill>
                <a:latin typeface="Calibri" pitchFamily="34" charset="0"/>
                <a:ea typeface="Calibri" pitchFamily="34" charset="-122"/>
                <a:cs typeface="Calibri" pitchFamily="34" charset="-120"/>
              </a:rPr>
              <a:t>loss of emotional response to the </a:t>
            </a:r>
            <a:pPr indent="0" marL="0">
              <a:buNone/>
            </a:pPr>
            <a:r>
              <a:rPr lang="en-US" sz="1100" i="1" dirty="0">
                <a:solidFill>
                  <a:srgbClr val="4A5563"/>
                </a:solidFill>
                <a:latin typeface="Calibri" pitchFamily="34" charset="0"/>
                <a:ea typeface="Calibri" pitchFamily="34" charset="-122"/>
                <a:cs typeface="Calibri" pitchFamily="34" charset="-120"/>
              </a:rPr>
              <a:t>self</a:t>
            </a:r>
            <a:pPr indent="0" marL="0">
              <a:buNone/>
            </a:pPr>
            <a:r>
              <a:rPr lang="en-US" sz="1100" dirty="0">
                <a:solidFill>
                  <a:srgbClr val="4A5563"/>
                </a:solidFill>
                <a:latin typeface="Calibri" pitchFamily="34" charset="0"/>
                <a:ea typeface="Calibri" pitchFamily="34" charset="-122"/>
                <a:cs typeface="Calibri" pitchFamily="34" charset="-120"/>
              </a:rPr>
              <a:t> (“my own body feels alien”).</a:t>
            </a:r>
            <a:endParaRPr lang="en-US" sz="1100" dirty="0"/>
          </a:p>
        </p:txBody>
      </p:sp>
      <p:sp>
        <p:nvSpPr>
          <p:cNvPr id="17" name="Text 15"/>
          <p:cNvSpPr/>
          <p:nvPr/>
        </p:nvSpPr>
        <p:spPr>
          <a:xfrm>
            <a:off x="6355080" y="4434840"/>
            <a:ext cx="4937760" cy="365760"/>
          </a:xfrm>
          <a:prstGeom prst="rect">
            <a:avLst/>
          </a:prstGeom>
          <a:noFill/>
          <a:ln/>
        </p:spPr>
        <p:txBody>
          <a:bodyPr wrap="square" lIns="0" tIns="0" rIns="0" bIns="0" rtlCol="0" anchor="t"/>
          <a:lstStyle/>
          <a:p>
            <a:pPr indent="0" marL="0">
              <a:buNone/>
            </a:pPr>
            <a:r>
              <a:rPr lang="en-US" sz="1100" b="1" dirty="0">
                <a:solidFill>
                  <a:srgbClr val="4A5563"/>
                </a:solidFill>
                <a:latin typeface="Calibri" pitchFamily="34" charset="0"/>
                <a:ea typeface="Calibri" pitchFamily="34" charset="-122"/>
                <a:cs typeface="Calibri" pitchFamily="34" charset="-120"/>
              </a:rPr>
              <a:t>Confabulation: </a:t>
            </a:r>
            <a:pPr indent="0" marL="0">
              <a:buNone/>
            </a:pPr>
            <a:r>
              <a:rPr lang="en-US" sz="1100" dirty="0">
                <a:solidFill>
                  <a:srgbClr val="4A5563"/>
                </a:solidFill>
                <a:latin typeface="Calibri" pitchFamily="34" charset="0"/>
                <a:ea typeface="Calibri" pitchFamily="34" charset="-122"/>
                <a:cs typeface="Calibri" pitchFamily="34" charset="-120"/>
              </a:rPr>
              <a:t>blame the self—“I must be dead.”</a:t>
            </a:r>
            <a:endParaRPr lang="en-US" sz="1100" dirty="0"/>
          </a:p>
        </p:txBody>
      </p:sp>
      <p:sp>
        <p:nvSpPr>
          <p:cNvPr id="18" name="Text 16"/>
          <p:cNvSpPr/>
          <p:nvPr/>
        </p:nvSpPr>
        <p:spPr>
          <a:xfrm>
            <a:off x="777240" y="5212080"/>
            <a:ext cx="10607040" cy="502920"/>
          </a:xfrm>
          <a:prstGeom prst="rect">
            <a:avLst/>
          </a:prstGeom>
          <a:noFill/>
          <a:ln/>
        </p:spPr>
        <p:txBody>
          <a:bodyPr wrap="square" lIns="0" tIns="0" rIns="0" bIns="0" rtlCol="0" anchor="t"/>
          <a:lstStyle/>
          <a:p>
            <a:pPr indent="0" marL="0">
              <a:buNone/>
            </a:pPr>
            <a:r>
              <a:rPr lang="en-US" sz="1200" b="1" dirty="0">
                <a:solidFill>
                  <a:srgbClr val="8B2635"/>
                </a:solidFill>
                <a:latin typeface="Calibri" pitchFamily="34" charset="0"/>
                <a:ea typeface="Calibri" pitchFamily="34" charset="-122"/>
                <a:cs typeface="Calibri" pitchFamily="34" charset="-120"/>
              </a:rPr>
              <a:t>Internalized attributional style  </a:t>
            </a:r>
            <a:pPr indent="0" marL="0">
              <a:buNone/>
            </a:pPr>
            <a:r>
              <a:rPr lang="en-US" sz="1200" i="1" dirty="0">
                <a:solidFill>
                  <a:srgbClr val="8B2635"/>
                </a:solidFill>
                <a:latin typeface="Calibri" pitchFamily="34" charset="0"/>
                <a:ea typeface="Calibri" pitchFamily="34" charset="-122"/>
                <a:cs typeface="Calibri" pitchFamily="34" charset="-120"/>
              </a:rPr>
              <a:t>(Young &amp; Leafhead, 1996):</a:t>
            </a:r>
            <a:pPr indent="0" marL="0">
              <a:buNone/>
            </a:pPr>
            <a:r>
              <a:rPr lang="en-US" sz="1200" dirty="0">
                <a:solidFill>
                  <a:srgbClr val="4A5563"/>
                </a:solidFill>
                <a:latin typeface="Calibri" pitchFamily="34" charset="0"/>
                <a:ea typeface="Calibri" pitchFamily="34" charset="-122"/>
                <a:cs typeface="Calibri" pitchFamily="34" charset="-120"/>
              </a:rPr>
              <a:t> patients with depression already attribute everything to themselves; this cognitive bias channels the disconnection signal toward “I am dead” rather than “the world is fake.”</a:t>
            </a:r>
            <a:endParaRPr lang="en-US" sz="1200" dirty="0"/>
          </a:p>
        </p:txBody>
      </p:sp>
      <p:sp>
        <p:nvSpPr>
          <p:cNvPr id="19" name="Text 17"/>
          <p:cNvSpPr/>
          <p:nvPr/>
        </p:nvSpPr>
        <p:spPr>
          <a:xfrm>
            <a:off x="777240" y="5760720"/>
            <a:ext cx="10607040" cy="502920"/>
          </a:xfrm>
          <a:prstGeom prst="rect">
            <a:avLst/>
          </a:prstGeom>
          <a:noFill/>
          <a:ln/>
        </p:spPr>
        <p:txBody>
          <a:bodyPr wrap="square" lIns="0" tIns="0" rIns="0" bIns="0" rtlCol="0" anchor="t"/>
          <a:lstStyle/>
          <a:p>
            <a:pPr indent="0" marL="0">
              <a:buNone/>
            </a:pPr>
            <a:r>
              <a:rPr lang="en-US" sz="1200" b="1" dirty="0">
                <a:solidFill>
                  <a:srgbClr val="8B2635"/>
                </a:solidFill>
                <a:latin typeface="Calibri" pitchFamily="34" charset="0"/>
                <a:ea typeface="Calibri" pitchFamily="34" charset="-122"/>
                <a:cs typeface="Calibri" pitchFamily="34" charset="-120"/>
              </a:rPr>
              <a:t>Psychodynamic view:  </a:t>
            </a:r>
            <a:pPr indent="0" marL="0">
              <a:buNone/>
            </a:pPr>
            <a:r>
              <a:rPr lang="en-US" sz="1200" dirty="0">
                <a:solidFill>
                  <a:srgbClr val="4A5563"/>
                </a:solidFill>
                <a:latin typeface="Calibri" pitchFamily="34" charset="0"/>
                <a:ea typeface="Calibri" pitchFamily="34" charset="-122"/>
                <a:cs typeface="Calibri" pitchFamily="34" charset="-120"/>
              </a:rPr>
              <a:t>extreme guilt and self-loathing produce a defensive “death of the self,” a symbolic punishment for imagined moral failure (Debruyne et al., 2009).</a:t>
            </a:r>
            <a:endParaRPr lang="en-US" sz="1200" dirty="0"/>
          </a:p>
        </p:txBody>
      </p:sp>
      <p:sp>
        <p:nvSpPr>
          <p:cNvPr id="20" name="Text 18"/>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D  ·  ETIOLOGY</a:t>
            </a:r>
            <a:endParaRPr lang="en-US" sz="900" dirty="0"/>
          </a:p>
        </p:txBody>
      </p:sp>
      <p:sp>
        <p:nvSpPr>
          <p:cNvPr id="21" name="Text 1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0584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Treatment Approaches</a:t>
            </a:r>
            <a:endParaRPr lang="en-US" sz="3600" dirty="0"/>
          </a:p>
        </p:txBody>
      </p:sp>
      <p:sp>
        <p:nvSpPr>
          <p:cNvPr id="4" name="Shape 2"/>
          <p:cNvSpPr/>
          <p:nvPr/>
        </p:nvSpPr>
        <p:spPr>
          <a:xfrm>
            <a:off x="777240" y="1783080"/>
            <a:ext cx="5212080" cy="4389120"/>
          </a:xfrm>
          <a:prstGeom prst="rect">
            <a:avLst/>
          </a:prstGeom>
          <a:solidFill>
            <a:srgbClr val="FFFFFF"/>
          </a:solidFill>
          <a:ln w="12700">
            <a:solidFill>
              <a:srgbClr val="D8D4CB"/>
            </a:solidFill>
            <a:prstDash val="solid"/>
          </a:ln>
        </p:spPr>
      </p:sp>
      <p:sp>
        <p:nvSpPr>
          <p:cNvPr id="5" name="Shape 3"/>
          <p:cNvSpPr/>
          <p:nvPr/>
        </p:nvSpPr>
        <p:spPr>
          <a:xfrm>
            <a:off x="777240" y="1783080"/>
            <a:ext cx="54864" cy="4389120"/>
          </a:xfrm>
          <a:prstGeom prst="rect">
            <a:avLst/>
          </a:prstGeom>
          <a:solidFill>
            <a:srgbClr val="4A6670"/>
          </a:solidFill>
          <a:ln w="12700">
            <a:solidFill>
              <a:srgbClr val="4A6670"/>
            </a:solidFill>
            <a:prstDash val="solid"/>
          </a:ln>
        </p:spPr>
      </p:sp>
      <p:sp>
        <p:nvSpPr>
          <p:cNvPr id="6" name="Text 4"/>
          <p:cNvSpPr/>
          <p:nvPr/>
        </p:nvSpPr>
        <p:spPr>
          <a:xfrm>
            <a:off x="1005840" y="1920240"/>
            <a:ext cx="640080" cy="457200"/>
          </a:xfrm>
          <a:prstGeom prst="rect">
            <a:avLst/>
          </a:prstGeom>
          <a:noFill/>
          <a:ln/>
        </p:spPr>
        <p:txBody>
          <a:bodyPr wrap="square" lIns="0" tIns="0" rIns="0" bIns="0" rtlCol="0" anchor="ctr"/>
          <a:lstStyle/>
          <a:p>
            <a:pPr indent="0" marL="0">
              <a:buNone/>
            </a:pPr>
            <a:r>
              <a:rPr lang="en-US" sz="2800" b="1" dirty="0">
                <a:solidFill>
                  <a:srgbClr val="4A6670"/>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1691640" y="1920240"/>
            <a:ext cx="4114800" cy="457200"/>
          </a:xfrm>
          <a:prstGeom prst="rect">
            <a:avLst/>
          </a:prstGeom>
          <a:noFill/>
          <a:ln/>
        </p:spPr>
        <p:txBody>
          <a:bodyPr wrap="square" lIns="0" tIns="0" rIns="0" bIns="0" rtlCol="0" anchor="ctr"/>
          <a:lstStyle/>
          <a:p>
            <a:pPr indent="0" marL="0">
              <a:buNone/>
            </a:pPr>
            <a:r>
              <a:rPr lang="en-US" sz="2200" b="1" dirty="0">
                <a:solidFill>
                  <a:srgbClr val="1A2332"/>
                </a:solidFill>
                <a:latin typeface="Georgia" pitchFamily="34" charset="0"/>
                <a:ea typeface="Georgia" pitchFamily="34" charset="-122"/>
                <a:cs typeface="Georgia" pitchFamily="34" charset="-120"/>
              </a:rPr>
              <a:t>Pharmacotherapy</a:t>
            </a:r>
            <a:endParaRPr lang="en-US" sz="2200" dirty="0"/>
          </a:p>
        </p:txBody>
      </p:sp>
      <p:sp>
        <p:nvSpPr>
          <p:cNvPr id="8" name="Text 6"/>
          <p:cNvSpPr/>
          <p:nvPr/>
        </p:nvSpPr>
        <p:spPr>
          <a:xfrm>
            <a:off x="1691640" y="2331720"/>
            <a:ext cx="4114800" cy="274320"/>
          </a:xfrm>
          <a:prstGeom prst="rect">
            <a:avLst/>
          </a:prstGeom>
          <a:noFill/>
          <a:ln/>
        </p:spPr>
        <p:txBody>
          <a:bodyPr wrap="square" lIns="0" tIns="0" rIns="0" bIns="0" rtlCol="0" anchor="ctr"/>
          <a:lstStyle/>
          <a:p>
            <a:pPr indent="0" marL="0">
              <a:buNone/>
            </a:pPr>
            <a:r>
              <a:rPr lang="en-US" sz="1100" i="1" dirty="0">
                <a:solidFill>
                  <a:srgbClr val="4A6670"/>
                </a:solidFill>
                <a:latin typeface="Calibri" pitchFamily="34" charset="0"/>
                <a:ea typeface="Calibri" pitchFamily="34" charset="-122"/>
                <a:cs typeface="Calibri" pitchFamily="34" charset="-120"/>
              </a:rPr>
              <a:t>Combination strategy</a:t>
            </a:r>
            <a:endParaRPr lang="en-US" sz="1100" dirty="0"/>
          </a:p>
        </p:txBody>
      </p:sp>
      <p:sp>
        <p:nvSpPr>
          <p:cNvPr id="9" name="Text 7"/>
          <p:cNvSpPr/>
          <p:nvPr/>
        </p:nvSpPr>
        <p:spPr>
          <a:xfrm>
            <a:off x="1005840" y="2834640"/>
            <a:ext cx="4846320" cy="3200400"/>
          </a:xfrm>
          <a:prstGeom prst="rect">
            <a:avLst/>
          </a:prstGeom>
          <a:noFill/>
          <a:ln/>
        </p:spPr>
        <p:txBody>
          <a:bodyPr wrap="square" rtlCol="0" anchor="t"/>
          <a:lstStyle/>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Antidepressant + Antipsychotic</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SSRI (e.g. sertraline) paired with olanzapine or clozapine; targets both mood and delusion.</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Lithium augmentation</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Effective in depressive Cotard's (Terao et al., 1994).</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Mechanism</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Restores serotonin / dopamine balance; lifts depression so the delusion follows.</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Limitation</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Effective in only ~50% of severe cases—many are treatment-resistant.</a:t>
            </a:r>
            <a:endParaRPr lang="en-US" sz="1200" dirty="0"/>
          </a:p>
        </p:txBody>
      </p:sp>
      <p:sp>
        <p:nvSpPr>
          <p:cNvPr id="10" name="Shape 8"/>
          <p:cNvSpPr/>
          <p:nvPr/>
        </p:nvSpPr>
        <p:spPr>
          <a:xfrm>
            <a:off x="6172200" y="1783080"/>
            <a:ext cx="5212080" cy="4389120"/>
          </a:xfrm>
          <a:prstGeom prst="rect">
            <a:avLst/>
          </a:prstGeom>
          <a:solidFill>
            <a:srgbClr val="F0EAE0"/>
          </a:solidFill>
          <a:ln w="12700">
            <a:solidFill>
              <a:srgbClr val="F0EAE0"/>
            </a:solidFill>
            <a:prstDash val="solid"/>
          </a:ln>
        </p:spPr>
      </p:sp>
      <p:sp>
        <p:nvSpPr>
          <p:cNvPr id="11" name="Shape 9"/>
          <p:cNvSpPr/>
          <p:nvPr/>
        </p:nvSpPr>
        <p:spPr>
          <a:xfrm>
            <a:off x="6172200" y="1783080"/>
            <a:ext cx="54864" cy="4389120"/>
          </a:xfrm>
          <a:prstGeom prst="rect">
            <a:avLst/>
          </a:prstGeom>
          <a:solidFill>
            <a:srgbClr val="8B2635"/>
          </a:solidFill>
          <a:ln w="12700">
            <a:solidFill>
              <a:srgbClr val="8B2635"/>
            </a:solidFill>
            <a:prstDash val="solid"/>
          </a:ln>
        </p:spPr>
      </p:sp>
      <p:sp>
        <p:nvSpPr>
          <p:cNvPr id="12" name="Text 10"/>
          <p:cNvSpPr/>
          <p:nvPr/>
        </p:nvSpPr>
        <p:spPr>
          <a:xfrm>
            <a:off x="6400800" y="1920240"/>
            <a:ext cx="640080" cy="457200"/>
          </a:xfrm>
          <a:prstGeom prst="rect">
            <a:avLst/>
          </a:prstGeom>
          <a:noFill/>
          <a:ln/>
        </p:spPr>
        <p:txBody>
          <a:bodyPr wrap="square" lIns="0" tIns="0" rIns="0" bIns="0" rtlCol="0" anchor="ctr"/>
          <a:lstStyle/>
          <a:p>
            <a:pPr indent="0" marL="0">
              <a:buNone/>
            </a:pPr>
            <a:r>
              <a:rPr lang="en-US" sz="2800" b="1" dirty="0">
                <a:solidFill>
                  <a:srgbClr val="8B2635"/>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7040880" y="1920240"/>
            <a:ext cx="4572000" cy="457200"/>
          </a:xfrm>
          <a:prstGeom prst="rect">
            <a:avLst/>
          </a:prstGeom>
          <a:noFill/>
          <a:ln/>
        </p:spPr>
        <p:txBody>
          <a:bodyPr wrap="square" lIns="0" tIns="0" rIns="0" bIns="0" rtlCol="0" anchor="ctr"/>
          <a:lstStyle/>
          <a:p>
            <a:pPr indent="0" marL="0">
              <a:buNone/>
            </a:pPr>
            <a:r>
              <a:rPr lang="en-US" sz="2200" b="1" dirty="0">
                <a:solidFill>
                  <a:srgbClr val="1A2332"/>
                </a:solidFill>
                <a:latin typeface="Georgia" pitchFamily="34" charset="0"/>
                <a:ea typeface="Georgia" pitchFamily="34" charset="-122"/>
                <a:cs typeface="Georgia" pitchFamily="34" charset="-120"/>
              </a:rPr>
              <a:t>Electroconvulsive Therapy</a:t>
            </a:r>
            <a:endParaRPr lang="en-US" sz="2200" dirty="0"/>
          </a:p>
        </p:txBody>
      </p:sp>
      <p:sp>
        <p:nvSpPr>
          <p:cNvPr id="14" name="Text 12"/>
          <p:cNvSpPr/>
          <p:nvPr/>
        </p:nvSpPr>
        <p:spPr>
          <a:xfrm>
            <a:off x="7040880" y="2331720"/>
            <a:ext cx="4572000" cy="274320"/>
          </a:xfrm>
          <a:prstGeom prst="rect">
            <a:avLst/>
          </a:prstGeom>
          <a:noFill/>
          <a:ln/>
        </p:spPr>
        <p:txBody>
          <a:bodyPr wrap="square" lIns="0" tIns="0" rIns="0" bIns="0" rtlCol="0" anchor="ctr"/>
          <a:lstStyle/>
          <a:p>
            <a:pPr indent="0" marL="0">
              <a:buNone/>
            </a:pPr>
            <a:r>
              <a:rPr lang="en-US" sz="1100" i="1" dirty="0">
                <a:solidFill>
                  <a:srgbClr val="8B2635"/>
                </a:solidFill>
                <a:latin typeface="Calibri" pitchFamily="34" charset="0"/>
                <a:ea typeface="Calibri" pitchFamily="34" charset="-122"/>
                <a:cs typeface="Calibri" pitchFamily="34" charset="-120"/>
              </a:rPr>
              <a:t>Most reliably effective treatment</a:t>
            </a:r>
            <a:endParaRPr lang="en-US" sz="1100" dirty="0"/>
          </a:p>
        </p:txBody>
      </p:sp>
      <p:sp>
        <p:nvSpPr>
          <p:cNvPr id="15" name="Text 13"/>
          <p:cNvSpPr/>
          <p:nvPr/>
        </p:nvSpPr>
        <p:spPr>
          <a:xfrm>
            <a:off x="6400800" y="2834640"/>
            <a:ext cx="4846320" cy="3200400"/>
          </a:xfrm>
          <a:prstGeom prst="rect">
            <a:avLst/>
          </a:prstGeom>
          <a:noFill/>
          <a:ln/>
        </p:spPr>
        <p:txBody>
          <a:bodyPr wrap="square" rtlCol="0" anchor="t"/>
          <a:lstStyle/>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What it does</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Brief generalized seizure under anesthesia; restores frontal-parietal-temporal blood flow on follow-up SPECT.</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First-line for treatment-resistant cases</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Particularly effective in severe psychotic depression with Cotard's features (Moschopoulos et al., 2016).</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Course</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Typically 6–12 sessions over 2–4 weeks; remission often within days.</a:t>
            </a:r>
            <a:endParaRPr lang="en-US" sz="1200" dirty="0"/>
          </a:p>
          <a:p>
            <a:pPr marL="342900" indent="-342900">
              <a:spcAft>
                <a:spcPts val="400"/>
              </a:spcAft>
              <a:buSzPct val="100000"/>
              <a:buChar char="•"/>
            </a:pPr>
            <a:r>
              <a:rPr lang="en-US" sz="1200" b="1" dirty="0">
                <a:solidFill>
                  <a:srgbClr val="1A2332"/>
                </a:solidFill>
                <a:latin typeface="Calibri" pitchFamily="34" charset="0"/>
                <a:ea typeface="Calibri" pitchFamily="34" charset="-122"/>
                <a:cs typeface="Calibri" pitchFamily="34" charset="-120"/>
              </a:rPr>
              <a:t>Side effects</a:t>
            </a:r>
            <a:endParaRPr lang="en-US" sz="1200" dirty="0"/>
          </a:p>
          <a:p>
            <a:pPr indent="0" marL="0">
              <a:spcAft>
                <a:spcPts val="400"/>
              </a:spcAft>
              <a:buNone/>
            </a:pPr>
            <a:r>
              <a:rPr lang="en-US" sz="1100" dirty="0">
                <a:solidFill>
                  <a:srgbClr val="4A5563"/>
                </a:solidFill>
                <a:latin typeface="Calibri" pitchFamily="34" charset="0"/>
                <a:ea typeface="Calibri" pitchFamily="34" charset="-122"/>
                <a:cs typeface="Calibri" pitchFamily="34" charset="-120"/>
              </a:rPr>
              <a:t>      Short-term memory loss, headache; reversible in most cases.</a:t>
            </a:r>
            <a:endParaRPr lang="en-US" sz="1200" dirty="0"/>
          </a:p>
        </p:txBody>
      </p:sp>
      <p:sp>
        <p:nvSpPr>
          <p:cNvPr id="16" name="Text 14"/>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E  ·  TREATMENT</a:t>
            </a:r>
            <a:endParaRPr lang="en-US" sz="900" dirty="0"/>
          </a:p>
        </p:txBody>
      </p:sp>
      <p:sp>
        <p:nvSpPr>
          <p:cNvPr id="17" name="Text 15"/>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972800" cy="640080"/>
          </a:xfrm>
          <a:prstGeom prst="rect">
            <a:avLst/>
          </a:prstGeom>
          <a:noFill/>
          <a:ln/>
        </p:spPr>
        <p:txBody>
          <a:bodyPr wrap="square" lIns="0" tIns="0" rIns="0" bIns="0" rtlCol="0" anchor="ctr"/>
          <a:lstStyle/>
          <a:p>
            <a:pPr indent="0" marL="0">
              <a:buNone/>
            </a:pPr>
            <a:r>
              <a:rPr lang="en-US" sz="3200" b="1" dirty="0">
                <a:solidFill>
                  <a:srgbClr val="1A2332"/>
                </a:solidFill>
                <a:latin typeface="Georgia" pitchFamily="34" charset="0"/>
                <a:ea typeface="Georgia" pitchFamily="34" charset="-122"/>
                <a:cs typeface="Georgia" pitchFamily="34" charset="-120"/>
              </a:rPr>
              <a:t>Case Study &amp; Long-Term Outlook</a:t>
            </a:r>
            <a:endParaRPr lang="en-US" sz="3200" dirty="0"/>
          </a:p>
        </p:txBody>
      </p:sp>
      <p:sp>
        <p:nvSpPr>
          <p:cNvPr id="4" name="Shape 2"/>
          <p:cNvSpPr/>
          <p:nvPr/>
        </p:nvSpPr>
        <p:spPr>
          <a:xfrm>
            <a:off x="777240" y="1691640"/>
            <a:ext cx="6766560" cy="4572000"/>
          </a:xfrm>
          <a:prstGeom prst="rect">
            <a:avLst/>
          </a:prstGeom>
          <a:solidFill>
            <a:srgbClr val="F0EAE0"/>
          </a:solidFill>
          <a:ln w="12700">
            <a:solidFill>
              <a:srgbClr val="F0EAE0"/>
            </a:solidFill>
            <a:prstDash val="solid"/>
          </a:ln>
        </p:spPr>
      </p:sp>
      <p:sp>
        <p:nvSpPr>
          <p:cNvPr id="5" name="Text 3"/>
          <p:cNvSpPr/>
          <p:nvPr/>
        </p:nvSpPr>
        <p:spPr>
          <a:xfrm>
            <a:off x="960120" y="1828800"/>
            <a:ext cx="64008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CASE  ·  COTARD'S SYNDROME  ·  Petracca et al. (1995)</a:t>
            </a:r>
            <a:endParaRPr lang="en-US" sz="1000" dirty="0"/>
          </a:p>
        </p:txBody>
      </p:sp>
      <p:sp>
        <p:nvSpPr>
          <p:cNvPr id="6" name="Text 4"/>
          <p:cNvSpPr/>
          <p:nvPr/>
        </p:nvSpPr>
        <p:spPr>
          <a:xfrm>
            <a:off x="960120" y="2148840"/>
            <a:ext cx="6400800" cy="457200"/>
          </a:xfrm>
          <a:prstGeom prst="rect">
            <a:avLst/>
          </a:prstGeom>
          <a:noFill/>
          <a:ln/>
        </p:spPr>
        <p:txBody>
          <a:bodyPr wrap="square" lIns="0" tIns="0" rIns="0" bIns="0" rtlCol="0" anchor="ctr"/>
          <a:lstStyle/>
          <a:p>
            <a:pPr indent="0" marL="0">
              <a:buNone/>
            </a:pPr>
            <a:r>
              <a:rPr lang="en-US" sz="1800" b="1" i="1" dirty="0">
                <a:solidFill>
                  <a:srgbClr val="1A2332"/>
                </a:solidFill>
                <a:latin typeface="Georgia" pitchFamily="34" charset="0"/>
                <a:ea typeface="Georgia" pitchFamily="34" charset="-122"/>
                <a:cs typeface="Georgia" pitchFamily="34" charset="-120"/>
              </a:rPr>
              <a:t>“He believed his stomach had vanished.”</a:t>
            </a:r>
            <a:endParaRPr lang="en-US" sz="1800" dirty="0"/>
          </a:p>
        </p:txBody>
      </p:sp>
      <p:sp>
        <p:nvSpPr>
          <p:cNvPr id="7" name="Text 5"/>
          <p:cNvSpPr/>
          <p:nvPr/>
        </p:nvSpPr>
        <p:spPr>
          <a:xfrm>
            <a:off x="960120" y="2697480"/>
            <a:ext cx="6400800" cy="64008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Patient: </a:t>
            </a:r>
            <a:pPr indent="0" marL="0">
              <a:buNone/>
            </a:pPr>
            <a:r>
              <a:rPr lang="en-US" sz="1200" dirty="0">
                <a:solidFill>
                  <a:srgbClr val="1A2332"/>
                </a:solidFill>
                <a:latin typeface="Calibri" pitchFamily="34" charset="0"/>
                <a:ea typeface="Calibri" pitchFamily="34" charset="-122"/>
                <a:cs typeface="Calibri" pitchFamily="34" charset="-120"/>
              </a:rPr>
              <a:t>27-year-old man presenting with Cotard's syndrome arising in schizophreniform disorder (Cotard's is not its own DSM diagnosis—it sits within an underlying disorder).</a:t>
            </a:r>
            <a:endParaRPr lang="en-US" sz="1200" dirty="0"/>
          </a:p>
        </p:txBody>
      </p:sp>
      <p:sp>
        <p:nvSpPr>
          <p:cNvPr id="8" name="Text 6"/>
          <p:cNvSpPr/>
          <p:nvPr/>
        </p:nvSpPr>
        <p:spPr>
          <a:xfrm>
            <a:off x="960120" y="3337560"/>
            <a:ext cx="6400800" cy="59436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Cotard's features: </a:t>
            </a:r>
            <a:pPr indent="0" marL="0">
              <a:buNone/>
            </a:pPr>
            <a:r>
              <a:rPr lang="en-US" sz="1200" dirty="0">
                <a:solidFill>
                  <a:srgbClr val="1A2332"/>
                </a:solidFill>
                <a:latin typeface="Calibri" pitchFamily="34" charset="0"/>
                <a:ea typeface="Calibri" pitchFamily="34" charset="-122"/>
                <a:cs typeface="Calibri" pitchFamily="34" charset="-120"/>
              </a:rPr>
              <a:t>nihilistic somatic delusions (“no stomach,” “no cardiovascular function”); refused food; lost 12 kg in 1 month from self-neglect.</a:t>
            </a:r>
            <a:endParaRPr lang="en-US" sz="1200" dirty="0"/>
          </a:p>
        </p:txBody>
      </p:sp>
      <p:sp>
        <p:nvSpPr>
          <p:cNvPr id="9" name="Text 7"/>
          <p:cNvSpPr/>
          <p:nvPr/>
        </p:nvSpPr>
        <p:spPr>
          <a:xfrm>
            <a:off x="960120" y="3977640"/>
            <a:ext cx="6400800" cy="59436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Imaging: </a:t>
            </a:r>
            <a:pPr indent="0" marL="0">
              <a:buNone/>
            </a:pPr>
            <a:r>
              <a:rPr lang="en-US" sz="1200" dirty="0">
                <a:solidFill>
                  <a:srgbClr val="1A2332"/>
                </a:solidFill>
                <a:latin typeface="Calibri" pitchFamily="34" charset="0"/>
                <a:ea typeface="Calibri" pitchFamily="34" charset="-122"/>
                <a:cs typeface="Calibri" pitchFamily="34" charset="-120"/>
              </a:rPr>
              <a:t>MRI showed lateral ventricle enlargement; SPECT revealed hypoperfusion in left frontal, parietal, and temporal lobes.</a:t>
            </a:r>
            <a:endParaRPr lang="en-US" sz="1200" dirty="0"/>
          </a:p>
        </p:txBody>
      </p:sp>
      <p:sp>
        <p:nvSpPr>
          <p:cNvPr id="10" name="Text 8"/>
          <p:cNvSpPr/>
          <p:nvPr/>
        </p:nvSpPr>
        <p:spPr>
          <a:xfrm>
            <a:off x="960120" y="4617720"/>
            <a:ext cx="6400800" cy="640080"/>
          </a:xfrm>
          <a:prstGeom prst="rect">
            <a:avLst/>
          </a:prstGeom>
          <a:noFill/>
          <a:ln/>
        </p:spPr>
        <p:txBody>
          <a:bodyPr wrap="square" lIns="0" tIns="0" rIns="0" bIns="0" rtlCol="0" anchor="t"/>
          <a:lstStyle/>
          <a:p>
            <a:pPr indent="0" marL="0">
              <a:buNone/>
            </a:pPr>
            <a:r>
              <a:rPr lang="en-US" sz="1200" b="1" dirty="0">
                <a:solidFill>
                  <a:srgbClr val="1A2332"/>
                </a:solidFill>
                <a:latin typeface="Calibri" pitchFamily="34" charset="0"/>
                <a:ea typeface="Calibri" pitchFamily="34" charset="-122"/>
                <a:cs typeface="Calibri" pitchFamily="34" charset="-120"/>
              </a:rPr>
              <a:t>Course: </a:t>
            </a:r>
            <a:pPr indent="0" marL="0">
              <a:buNone/>
            </a:pPr>
            <a:r>
              <a:rPr lang="en-US" sz="1200" dirty="0">
                <a:solidFill>
                  <a:srgbClr val="1A2332"/>
                </a:solidFill>
                <a:latin typeface="Calibri" pitchFamily="34" charset="0"/>
                <a:ea typeface="Calibri" pitchFamily="34" charset="-122"/>
                <a:cs typeface="Calibri" pitchFamily="34" charset="-120"/>
              </a:rPr>
              <a:t>antipsychotics failed → ECT initiated → full remission of nihilistic delusions. Follow-up SPECT showed normalized perfusion. Maintained on olanzapine.</a:t>
            </a:r>
            <a:endParaRPr lang="en-US" sz="1200" dirty="0"/>
          </a:p>
        </p:txBody>
      </p:sp>
      <p:sp>
        <p:nvSpPr>
          <p:cNvPr id="11" name="Text 9"/>
          <p:cNvSpPr/>
          <p:nvPr/>
        </p:nvSpPr>
        <p:spPr>
          <a:xfrm>
            <a:off x="960120" y="5349240"/>
            <a:ext cx="6400800" cy="457200"/>
          </a:xfrm>
          <a:prstGeom prst="rect">
            <a:avLst/>
          </a:prstGeom>
          <a:noFill/>
          <a:ln/>
        </p:spPr>
        <p:txBody>
          <a:bodyPr wrap="square" lIns="0" tIns="0" rIns="0" bIns="0" rtlCol="0" anchor="t"/>
          <a:lstStyle/>
          <a:p>
            <a:pPr indent="0" marL="0">
              <a:buNone/>
            </a:pPr>
            <a:r>
              <a:rPr lang="en-US" sz="1200" b="1" i="1" dirty="0">
                <a:solidFill>
                  <a:srgbClr val="8B2635"/>
                </a:solidFill>
                <a:latin typeface="Calibri" pitchFamily="34" charset="0"/>
                <a:ea typeface="Calibri" pitchFamily="34" charset="-122"/>
                <a:cs typeface="Calibri" pitchFamily="34" charset="-120"/>
              </a:rPr>
              <a:t>Outcome: </a:t>
            </a:r>
            <a:pPr indent="0" marL="0">
              <a:buNone/>
            </a:pPr>
            <a:r>
              <a:rPr lang="en-US" sz="1200" i="1" dirty="0">
                <a:solidFill>
                  <a:srgbClr val="8B2635"/>
                </a:solidFill>
                <a:latin typeface="Calibri" pitchFamily="34" charset="0"/>
                <a:ea typeface="Calibri" pitchFamily="34" charset="-122"/>
                <a:cs typeface="Calibri" pitchFamily="34" charset="-120"/>
              </a:rPr>
              <a:t>remission at 4-month follow-up; no recurrence; returned to work and social functioning.</a:t>
            </a:r>
            <a:endParaRPr lang="en-US" sz="1200" dirty="0"/>
          </a:p>
        </p:txBody>
      </p:sp>
      <p:sp>
        <p:nvSpPr>
          <p:cNvPr id="12" name="Text 10"/>
          <p:cNvSpPr/>
          <p:nvPr/>
        </p:nvSpPr>
        <p:spPr>
          <a:xfrm>
            <a:off x="960120" y="5806440"/>
            <a:ext cx="6400800" cy="457200"/>
          </a:xfrm>
          <a:prstGeom prst="rect">
            <a:avLst/>
          </a:prstGeom>
          <a:noFill/>
          <a:ln/>
        </p:spPr>
        <p:txBody>
          <a:bodyPr wrap="square" lIns="0" tIns="0" rIns="0" bIns="0" rtlCol="0" anchor="t"/>
          <a:lstStyle/>
          <a:p>
            <a:pPr indent="0" marL="0">
              <a:buNone/>
            </a:pPr>
            <a:r>
              <a:rPr lang="en-US" sz="1000" i="1" dirty="0">
                <a:solidFill>
                  <a:srgbClr val="4A5563"/>
                </a:solidFill>
                <a:latin typeface="Calibri" pitchFamily="34" charset="0"/>
                <a:ea typeface="Calibri" pitchFamily="34" charset="-122"/>
                <a:cs typeface="Calibri" pitchFamily="34" charset="-120"/>
              </a:rPr>
              <a:t>Significance: first case to document brain perfusion changes before AND after ECT, providing direct evidence that the treatment normalizes the underlying neural dysfunction.</a:t>
            </a:r>
            <a:endParaRPr lang="en-US" sz="1000" dirty="0"/>
          </a:p>
        </p:txBody>
      </p:sp>
      <p:sp>
        <p:nvSpPr>
          <p:cNvPr id="13" name="Text 11"/>
          <p:cNvSpPr/>
          <p:nvPr/>
        </p:nvSpPr>
        <p:spPr>
          <a:xfrm>
            <a:off x="7818120" y="1783080"/>
            <a:ext cx="393192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FINDING TREATMENT</a:t>
            </a:r>
            <a:endParaRPr lang="en-US" sz="1000" dirty="0"/>
          </a:p>
        </p:txBody>
      </p:sp>
      <p:sp>
        <p:nvSpPr>
          <p:cNvPr id="14" name="Text 12"/>
          <p:cNvSpPr/>
          <p:nvPr/>
        </p:nvSpPr>
        <p:spPr>
          <a:xfrm>
            <a:off x="7818120" y="2103120"/>
            <a:ext cx="3931920" cy="1280160"/>
          </a:xfrm>
          <a:prstGeom prst="rect">
            <a:avLst/>
          </a:prstGeom>
          <a:noFill/>
          <a:ln/>
        </p:spPr>
        <p:txBody>
          <a:bodyPr wrap="square" lIns="0" tIns="0" rIns="0" bIns="0" rtlCol="0" anchor="t"/>
          <a:lstStyle/>
          <a:p>
            <a:pPr indent="0" marL="0">
              <a:buNone/>
            </a:pPr>
            <a:r>
              <a:rPr lang="en-US" sz="1100" dirty="0">
                <a:solidFill>
                  <a:srgbClr val="1A2332"/>
                </a:solidFill>
                <a:latin typeface="Calibri" pitchFamily="34" charset="0"/>
                <a:ea typeface="Calibri" pitchFamily="34" charset="-122"/>
                <a:cs typeface="Calibri" pitchFamily="34" charset="-120"/>
              </a:rPr>
              <a:t>Often presents as a psychiatric </a:t>
            </a:r>
            <a:pPr indent="0" marL="0">
              <a:buNone/>
            </a:pPr>
            <a:r>
              <a:rPr lang="en-US" sz="1100" b="1" dirty="0">
                <a:solidFill>
                  <a:srgbClr val="1A2332"/>
                </a:solidFill>
                <a:latin typeface="Calibri" pitchFamily="34" charset="0"/>
                <a:ea typeface="Calibri" pitchFamily="34" charset="-122"/>
                <a:cs typeface="Calibri" pitchFamily="34" charset="-120"/>
              </a:rPr>
              <a:t>emergency</a:t>
            </a:r>
            <a:pPr indent="0" marL="0">
              <a:buNone/>
            </a:pPr>
            <a:r>
              <a:rPr lang="en-US" sz="1100" dirty="0">
                <a:solidFill>
                  <a:srgbClr val="1A2332"/>
                </a:solidFill>
                <a:latin typeface="Calibri" pitchFamily="34" charset="0"/>
                <a:ea typeface="Calibri" pitchFamily="34" charset="-122"/>
                <a:cs typeface="Calibri" pitchFamily="34" charset="-120"/>
              </a:rPr>
              <a:t>—refusal to eat or suicidality. Care path: primary care or ER  →  inpatient psychiatry  →  ECT referral if treatment-resistant.</a:t>
            </a:r>
            <a:endParaRPr lang="en-US" sz="1100" dirty="0"/>
          </a:p>
        </p:txBody>
      </p:sp>
      <p:sp>
        <p:nvSpPr>
          <p:cNvPr id="15" name="Text 13"/>
          <p:cNvSpPr/>
          <p:nvPr/>
        </p:nvSpPr>
        <p:spPr>
          <a:xfrm>
            <a:off x="7818120" y="3520440"/>
            <a:ext cx="393192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LONG-TERM HEALTH RISKS</a:t>
            </a:r>
            <a:endParaRPr lang="en-US" sz="1000" dirty="0"/>
          </a:p>
        </p:txBody>
      </p:sp>
      <p:sp>
        <p:nvSpPr>
          <p:cNvPr id="16" name="Text 14"/>
          <p:cNvSpPr/>
          <p:nvPr/>
        </p:nvSpPr>
        <p:spPr>
          <a:xfrm>
            <a:off x="7818120" y="3840480"/>
            <a:ext cx="3931920" cy="1828800"/>
          </a:xfrm>
          <a:prstGeom prst="rect">
            <a:avLst/>
          </a:prstGeom>
          <a:noFill/>
          <a:ln/>
        </p:spPr>
        <p:txBody>
          <a:bodyPr wrap="square" rtlCol="0" anchor="t"/>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Malnutrition, dehydration</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Suicide (paradox: "already dead"  +  unbearable suffering)</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Cognitive decline if untreated</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Recurrence with depression relapse</a:t>
            </a:r>
            <a:endParaRPr lang="en-US" sz="1100" dirty="0"/>
          </a:p>
        </p:txBody>
      </p:sp>
      <p:sp>
        <p:nvSpPr>
          <p:cNvPr id="17" name="Text 15"/>
          <p:cNvSpPr/>
          <p:nvPr/>
        </p:nvSpPr>
        <p:spPr>
          <a:xfrm>
            <a:off x="7818120" y="5669280"/>
            <a:ext cx="3931920" cy="640080"/>
          </a:xfrm>
          <a:prstGeom prst="rect">
            <a:avLst/>
          </a:prstGeom>
          <a:noFill/>
          <a:ln/>
        </p:spPr>
        <p:txBody>
          <a:bodyPr wrap="square" lIns="0" tIns="0" rIns="0" bIns="0" rtlCol="0" anchor="t"/>
          <a:lstStyle/>
          <a:p>
            <a:pPr indent="0" marL="0">
              <a:buNone/>
            </a:pPr>
            <a:r>
              <a:rPr lang="en-US" sz="1100" b="1" i="1" dirty="0">
                <a:solidFill>
                  <a:srgbClr val="4A6670"/>
                </a:solidFill>
                <a:latin typeface="Calibri" pitchFamily="34" charset="0"/>
                <a:ea typeface="Calibri" pitchFamily="34" charset="-122"/>
                <a:cs typeface="Calibri" pitchFamily="34" charset="-120"/>
              </a:rPr>
              <a:t>Prognosis: </a:t>
            </a:r>
            <a:pPr indent="0" marL="0">
              <a:buNone/>
            </a:pPr>
            <a:r>
              <a:rPr lang="en-US" sz="1100" i="1" dirty="0">
                <a:solidFill>
                  <a:srgbClr val="4A6670"/>
                </a:solidFill>
                <a:latin typeface="Calibri" pitchFamily="34" charset="0"/>
                <a:ea typeface="Calibri" pitchFamily="34" charset="-122"/>
                <a:cs typeface="Calibri" pitchFamily="34" charset="-120"/>
              </a:rPr>
              <a:t>good when treated early—psychiatric origins respond well; organic lesions may leave residual symptoms.</a:t>
            </a:r>
            <a:endParaRPr lang="en-US" sz="1100" dirty="0"/>
          </a:p>
        </p:txBody>
      </p:sp>
      <p:sp>
        <p:nvSpPr>
          <p:cNvPr id="18" name="Text 16"/>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E  ·  TREATMENT</a:t>
            </a:r>
            <a:endParaRPr lang="en-US" sz="900" dirty="0"/>
          </a:p>
        </p:txBody>
      </p:sp>
      <p:sp>
        <p:nvSpPr>
          <p:cNvPr id="19" name="Text 17"/>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109728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Media &amp; Stigma</a:t>
            </a:r>
            <a:endParaRPr lang="en-US" sz="3600" dirty="0"/>
          </a:p>
        </p:txBody>
      </p:sp>
      <p:sp>
        <p:nvSpPr>
          <p:cNvPr id="4" name="Text 2"/>
          <p:cNvSpPr/>
          <p:nvPr/>
        </p:nvSpPr>
        <p:spPr>
          <a:xfrm>
            <a:off x="777240" y="1234440"/>
            <a:ext cx="54864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IN POPULAR CULTURE</a:t>
            </a:r>
            <a:endParaRPr lang="en-US" sz="1000" dirty="0"/>
          </a:p>
        </p:txBody>
      </p:sp>
      <p:sp>
        <p:nvSpPr>
          <p:cNvPr id="5" name="Text 3"/>
          <p:cNvSpPr/>
          <p:nvPr/>
        </p:nvSpPr>
        <p:spPr>
          <a:xfrm>
            <a:off x="777240" y="1554480"/>
            <a:ext cx="3520440" cy="22860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Figure 2</a:t>
            </a:r>
            <a:endParaRPr lang="en-US" sz="1100" dirty="0"/>
          </a:p>
        </p:txBody>
      </p:sp>
      <p:sp>
        <p:nvSpPr>
          <p:cNvPr id="6" name="Text 4"/>
          <p:cNvSpPr/>
          <p:nvPr/>
        </p:nvSpPr>
        <p:spPr>
          <a:xfrm>
            <a:off x="777240" y="1783080"/>
            <a:ext cx="3520440" cy="274320"/>
          </a:xfrm>
          <a:prstGeom prst="rect">
            <a:avLst/>
          </a:prstGeom>
          <a:noFill/>
          <a:ln/>
        </p:spPr>
        <p:txBody>
          <a:bodyPr wrap="square" lIns="0" tIns="0" rIns="0" bIns="0" rtlCol="0" anchor="ctr"/>
          <a:lstStyle/>
          <a:p>
            <a:pPr indent="0" marL="0">
              <a:buNone/>
            </a:pPr>
            <a:r>
              <a:rPr lang="en-US" sz="1100" i="1" dirty="0">
                <a:solidFill>
                  <a:srgbClr val="1A2332"/>
                </a:solidFill>
                <a:latin typeface="Calibri" pitchFamily="34" charset="0"/>
                <a:ea typeface="Calibri" pitchFamily="34" charset="-122"/>
                <a:cs typeface="Calibri" pitchFamily="34" charset="-120"/>
              </a:rPr>
              <a:t>Hannibal: "Buffet Froid"</a:t>
            </a:r>
            <a:endParaRPr lang="en-US" sz="1100" dirty="0"/>
          </a:p>
        </p:txBody>
      </p:sp>
      <p:sp>
        <p:nvSpPr>
          <p:cNvPr id="7" name="Shape 5"/>
          <p:cNvSpPr/>
          <p:nvPr/>
        </p:nvSpPr>
        <p:spPr>
          <a:xfrm>
            <a:off x="777240" y="2103120"/>
            <a:ext cx="3520440" cy="1554480"/>
          </a:xfrm>
          <a:prstGeom prst="rect">
            <a:avLst/>
          </a:prstGeom>
          <a:solidFill>
            <a:srgbClr val="EFEAE2"/>
          </a:solidFill>
          <a:ln w="12700">
            <a:solidFill>
              <a:srgbClr val="8A8F9A"/>
            </a:solidFill>
            <a:prstDash val="dash"/>
          </a:ln>
        </p:spPr>
      </p:sp>
      <p:sp>
        <p:nvSpPr>
          <p:cNvPr id="8" name="Text 6"/>
          <p:cNvSpPr/>
          <p:nvPr/>
        </p:nvSpPr>
        <p:spPr>
          <a:xfrm>
            <a:off x="777240" y="2606040"/>
            <a:ext cx="3520440" cy="365760"/>
          </a:xfrm>
          <a:prstGeom prst="rect">
            <a:avLst/>
          </a:prstGeom>
          <a:noFill/>
          <a:ln/>
        </p:spPr>
        <p:txBody>
          <a:bodyPr wrap="square" lIns="0" tIns="0" rIns="0" bIns="0" rtlCol="0" anchor="ctr"/>
          <a:lstStyle/>
          <a:p>
            <a:pPr algn="ctr" indent="0" marL="0">
              <a:buNone/>
            </a:pPr>
            <a:r>
              <a:rPr lang="en-US" sz="1100" i="1" dirty="0">
                <a:solidFill>
                  <a:srgbClr val="8A8F9A"/>
                </a:solidFill>
                <a:latin typeface="Calibri" pitchFamily="34" charset="0"/>
                <a:ea typeface="Calibri" pitchFamily="34" charset="-122"/>
                <a:cs typeface="Calibri" pitchFamily="34" charset="-120"/>
              </a:rPr>
              <a:t>[ Insert image here ]</a:t>
            </a:r>
            <a:endParaRPr lang="en-US" sz="1100" dirty="0"/>
          </a:p>
        </p:txBody>
      </p:sp>
      <p:sp>
        <p:nvSpPr>
          <p:cNvPr id="9" name="Text 7"/>
          <p:cNvSpPr/>
          <p:nvPr/>
        </p:nvSpPr>
        <p:spPr>
          <a:xfrm>
            <a:off x="960120" y="2971800"/>
            <a:ext cx="3154680" cy="274320"/>
          </a:xfrm>
          <a:prstGeom prst="rect">
            <a:avLst/>
          </a:prstGeom>
          <a:noFill/>
          <a:ln/>
        </p:spPr>
        <p:txBody>
          <a:bodyPr wrap="square" lIns="0" tIns="0" rIns="0" bIns="0" rtlCol="0" anchor="ctr"/>
          <a:lstStyle/>
          <a:p>
            <a:pPr algn="ctr" indent="0" marL="0">
              <a:buNone/>
            </a:pPr>
            <a:r>
              <a:rPr lang="en-US" sz="900" dirty="0">
                <a:solidFill>
                  <a:srgbClr val="8A8F9A"/>
                </a:solidFill>
                <a:latin typeface="Calibri" pitchFamily="34" charset="0"/>
                <a:ea typeface="Calibri" pitchFamily="34" charset="-122"/>
                <a:cs typeface="Calibri" pitchFamily="34" charset="-120"/>
              </a:rPr>
              <a:t>Hannibal: "Buffet Froid"</a:t>
            </a:r>
            <a:endParaRPr lang="en-US" sz="900" dirty="0"/>
          </a:p>
        </p:txBody>
      </p:sp>
      <p:sp>
        <p:nvSpPr>
          <p:cNvPr id="10" name="Text 8"/>
          <p:cNvSpPr/>
          <p:nvPr/>
        </p:nvSpPr>
        <p:spPr>
          <a:xfrm>
            <a:off x="777240" y="3703320"/>
            <a:ext cx="3520440" cy="365760"/>
          </a:xfrm>
          <a:prstGeom prst="rect">
            <a:avLst/>
          </a:prstGeom>
          <a:noFill/>
          <a:ln/>
        </p:spPr>
        <p:txBody>
          <a:bodyPr wrap="square" lIns="0" tIns="0" rIns="0" bIns="0" rtlCol="0" anchor="t"/>
          <a:lstStyle/>
          <a:p>
            <a:pPr indent="0" marL="0">
              <a:buNone/>
            </a:pPr>
            <a:r>
              <a:rPr lang="en-US" sz="900" i="1" dirty="0">
                <a:solidFill>
                  <a:srgbClr val="8A8F9A"/>
                </a:solidFill>
                <a:latin typeface="Calibri" pitchFamily="34" charset="0"/>
                <a:ea typeface="Calibri" pitchFamily="34" charset="-122"/>
                <a:cs typeface="Calibri" pitchFamily="34" charset="-120"/>
              </a:rPr>
              <a:t>Note. </a:t>
            </a:r>
            <a:pPr indent="0" marL="0">
              <a:buNone/>
            </a:pPr>
            <a:r>
              <a:rPr lang="en-US" sz="900" dirty="0">
                <a:solidFill>
                  <a:srgbClr val="8A8F9A"/>
                </a:solidFill>
                <a:latin typeface="Calibri" pitchFamily="34" charset="0"/>
                <a:ea typeface="Calibri" pitchFamily="34" charset="-122"/>
                <a:cs typeface="Calibri" pitchFamily="34" charset="-120"/>
              </a:rPr>
              <a:t>From (Fuller, 2013, NBC, S1 E10).</a:t>
            </a:r>
            <a:endParaRPr lang="en-US" sz="900" dirty="0"/>
          </a:p>
        </p:txBody>
      </p:sp>
      <p:sp>
        <p:nvSpPr>
          <p:cNvPr id="11" name="Text 9"/>
          <p:cNvSpPr/>
          <p:nvPr/>
        </p:nvSpPr>
        <p:spPr>
          <a:xfrm>
            <a:off x="777240" y="4160520"/>
            <a:ext cx="3520440" cy="777240"/>
          </a:xfrm>
          <a:prstGeom prst="rect">
            <a:avLst/>
          </a:prstGeom>
          <a:noFill/>
          <a:ln/>
        </p:spPr>
        <p:txBody>
          <a:bodyPr wrap="square" lIns="0" tIns="0" rIns="0" bIns="0" rtlCol="0" anchor="t"/>
          <a:lstStyle/>
          <a:p>
            <a:pPr indent="0" marL="0">
              <a:buNone/>
            </a:pPr>
            <a:r>
              <a:rPr lang="en-US" sz="1000" b="1" dirty="0">
                <a:solidFill>
                  <a:srgbClr val="4A6670"/>
                </a:solidFill>
                <a:latin typeface="Calibri" pitchFamily="34" charset="0"/>
                <a:ea typeface="Calibri" pitchFamily="34" charset="-122"/>
                <a:cs typeface="Calibri" pitchFamily="34" charset="-120"/>
              </a:rPr>
              <a:t>✓ Right: </a:t>
            </a:r>
            <a:pPr indent="0" marL="0">
              <a:buNone/>
            </a:pPr>
            <a:r>
              <a:rPr lang="en-US" sz="1000" dirty="0">
                <a:solidFill>
                  <a:srgbClr val="1A2332"/>
                </a:solidFill>
                <a:latin typeface="Calibri" pitchFamily="34" charset="0"/>
                <a:ea typeface="Calibri" pitchFamily="34" charset="-122"/>
                <a:cs typeface="Calibri" pitchFamily="34" charset="-120"/>
              </a:rPr>
              <a:t>Captures appetite loss, ECT as treatment, dissociation from one's own face.</a:t>
            </a:r>
            <a:endParaRPr lang="en-US" sz="1000" dirty="0"/>
          </a:p>
        </p:txBody>
      </p:sp>
      <p:sp>
        <p:nvSpPr>
          <p:cNvPr id="12" name="Text 10"/>
          <p:cNvSpPr/>
          <p:nvPr/>
        </p:nvSpPr>
        <p:spPr>
          <a:xfrm>
            <a:off x="777240" y="4983480"/>
            <a:ext cx="3520440" cy="777240"/>
          </a:xfrm>
          <a:prstGeom prst="rect">
            <a:avLst/>
          </a:prstGeom>
          <a:noFill/>
          <a:ln/>
        </p:spPr>
        <p:txBody>
          <a:bodyPr wrap="square" lIns="0" tIns="0" rIns="0" bIns="0" rtlCol="0" anchor="t"/>
          <a:lstStyle/>
          <a:p>
            <a:pPr indent="0" marL="0">
              <a:buNone/>
            </a:pPr>
            <a:r>
              <a:rPr lang="en-US" sz="1000" b="1" dirty="0">
                <a:solidFill>
                  <a:srgbClr val="8B2635"/>
                </a:solidFill>
                <a:latin typeface="Calibri" pitchFamily="34" charset="0"/>
                <a:ea typeface="Calibri" pitchFamily="34" charset="-122"/>
                <a:cs typeface="Calibri" pitchFamily="34" charset="-120"/>
              </a:rPr>
              <a:t>✗ Wrong: </a:t>
            </a:r>
            <a:pPr indent="0" marL="0">
              <a:buNone/>
            </a:pPr>
            <a:r>
              <a:rPr lang="en-US" sz="1000" dirty="0">
                <a:solidFill>
                  <a:srgbClr val="1A2332"/>
                </a:solidFill>
                <a:latin typeface="Calibri" pitchFamily="34" charset="0"/>
                <a:ea typeface="Calibri" pitchFamily="34" charset="-122"/>
                <a:cs typeface="Calibri" pitchFamily="34" charset="-120"/>
              </a:rPr>
              <a:t>Conflates Cotard's with violent murder; links a rare delusion to dangerousness.</a:t>
            </a:r>
            <a:endParaRPr lang="en-US" sz="1000" dirty="0"/>
          </a:p>
        </p:txBody>
      </p:sp>
      <p:sp>
        <p:nvSpPr>
          <p:cNvPr id="13" name="Text 11"/>
          <p:cNvSpPr/>
          <p:nvPr/>
        </p:nvSpPr>
        <p:spPr>
          <a:xfrm>
            <a:off x="4480560" y="1554480"/>
            <a:ext cx="3520440" cy="22860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Figure 3</a:t>
            </a:r>
            <a:endParaRPr lang="en-US" sz="1100" dirty="0"/>
          </a:p>
        </p:txBody>
      </p:sp>
      <p:sp>
        <p:nvSpPr>
          <p:cNvPr id="14" name="Text 12"/>
          <p:cNvSpPr/>
          <p:nvPr/>
        </p:nvSpPr>
        <p:spPr>
          <a:xfrm>
            <a:off x="4480560" y="1783080"/>
            <a:ext cx="3520440" cy="274320"/>
          </a:xfrm>
          <a:prstGeom prst="rect">
            <a:avLst/>
          </a:prstGeom>
          <a:noFill/>
          <a:ln/>
        </p:spPr>
        <p:txBody>
          <a:bodyPr wrap="square" lIns="0" tIns="0" rIns="0" bIns="0" rtlCol="0" anchor="ctr"/>
          <a:lstStyle/>
          <a:p>
            <a:pPr indent="0" marL="0">
              <a:buNone/>
            </a:pPr>
            <a:r>
              <a:rPr lang="en-US" sz="1100" i="1" dirty="0">
                <a:solidFill>
                  <a:srgbClr val="1A2332"/>
                </a:solidFill>
                <a:latin typeface="Calibri" pitchFamily="34" charset="0"/>
                <a:ea typeface="Calibri" pitchFamily="34" charset="-122"/>
                <a:cs typeface="Calibri" pitchFamily="34" charset="-120"/>
              </a:rPr>
              <a:t>Synecdoche, New York</a:t>
            </a:r>
            <a:endParaRPr lang="en-US" sz="1100" dirty="0"/>
          </a:p>
        </p:txBody>
      </p:sp>
      <p:sp>
        <p:nvSpPr>
          <p:cNvPr id="15" name="Shape 13"/>
          <p:cNvSpPr/>
          <p:nvPr/>
        </p:nvSpPr>
        <p:spPr>
          <a:xfrm>
            <a:off x="4480560" y="2103120"/>
            <a:ext cx="3520440" cy="1554480"/>
          </a:xfrm>
          <a:prstGeom prst="rect">
            <a:avLst/>
          </a:prstGeom>
          <a:solidFill>
            <a:srgbClr val="EFEAE2"/>
          </a:solidFill>
          <a:ln w="12700">
            <a:solidFill>
              <a:srgbClr val="8A8F9A"/>
            </a:solidFill>
            <a:prstDash val="dash"/>
          </a:ln>
        </p:spPr>
      </p:sp>
      <p:sp>
        <p:nvSpPr>
          <p:cNvPr id="16" name="Text 14"/>
          <p:cNvSpPr/>
          <p:nvPr/>
        </p:nvSpPr>
        <p:spPr>
          <a:xfrm>
            <a:off x="4480560" y="2606040"/>
            <a:ext cx="3520440" cy="365760"/>
          </a:xfrm>
          <a:prstGeom prst="rect">
            <a:avLst/>
          </a:prstGeom>
          <a:noFill/>
          <a:ln/>
        </p:spPr>
        <p:txBody>
          <a:bodyPr wrap="square" lIns="0" tIns="0" rIns="0" bIns="0" rtlCol="0" anchor="ctr"/>
          <a:lstStyle/>
          <a:p>
            <a:pPr algn="ctr" indent="0" marL="0">
              <a:buNone/>
            </a:pPr>
            <a:r>
              <a:rPr lang="en-US" sz="1100" i="1" dirty="0">
                <a:solidFill>
                  <a:srgbClr val="8A8F9A"/>
                </a:solidFill>
                <a:latin typeface="Calibri" pitchFamily="34" charset="0"/>
                <a:ea typeface="Calibri" pitchFamily="34" charset="-122"/>
                <a:cs typeface="Calibri" pitchFamily="34" charset="-120"/>
              </a:rPr>
              <a:t>[ Insert image here ]</a:t>
            </a:r>
            <a:endParaRPr lang="en-US" sz="1100" dirty="0"/>
          </a:p>
        </p:txBody>
      </p:sp>
      <p:sp>
        <p:nvSpPr>
          <p:cNvPr id="17" name="Text 15"/>
          <p:cNvSpPr/>
          <p:nvPr/>
        </p:nvSpPr>
        <p:spPr>
          <a:xfrm>
            <a:off x="4663440" y="2971800"/>
            <a:ext cx="3154680" cy="274320"/>
          </a:xfrm>
          <a:prstGeom prst="rect">
            <a:avLst/>
          </a:prstGeom>
          <a:noFill/>
          <a:ln/>
        </p:spPr>
        <p:txBody>
          <a:bodyPr wrap="square" lIns="0" tIns="0" rIns="0" bIns="0" rtlCol="0" anchor="ctr"/>
          <a:lstStyle/>
          <a:p>
            <a:pPr algn="ctr" indent="0" marL="0">
              <a:buNone/>
            </a:pPr>
            <a:r>
              <a:rPr lang="en-US" sz="900" dirty="0">
                <a:solidFill>
                  <a:srgbClr val="8A8F9A"/>
                </a:solidFill>
                <a:latin typeface="Calibri" pitchFamily="34" charset="0"/>
                <a:ea typeface="Calibri" pitchFamily="34" charset="-122"/>
                <a:cs typeface="Calibri" pitchFamily="34" charset="-120"/>
              </a:rPr>
              <a:t>Synecdoche, New York</a:t>
            </a:r>
            <a:endParaRPr lang="en-US" sz="900" dirty="0"/>
          </a:p>
        </p:txBody>
      </p:sp>
      <p:sp>
        <p:nvSpPr>
          <p:cNvPr id="18" name="Text 16"/>
          <p:cNvSpPr/>
          <p:nvPr/>
        </p:nvSpPr>
        <p:spPr>
          <a:xfrm>
            <a:off x="4480560" y="3703320"/>
            <a:ext cx="3520440" cy="365760"/>
          </a:xfrm>
          <a:prstGeom prst="rect">
            <a:avLst/>
          </a:prstGeom>
          <a:noFill/>
          <a:ln/>
        </p:spPr>
        <p:txBody>
          <a:bodyPr wrap="square" lIns="0" tIns="0" rIns="0" bIns="0" rtlCol="0" anchor="t"/>
          <a:lstStyle/>
          <a:p>
            <a:pPr indent="0" marL="0">
              <a:buNone/>
            </a:pPr>
            <a:r>
              <a:rPr lang="en-US" sz="900" i="1" dirty="0">
                <a:solidFill>
                  <a:srgbClr val="8A8F9A"/>
                </a:solidFill>
                <a:latin typeface="Calibri" pitchFamily="34" charset="0"/>
                <a:ea typeface="Calibri" pitchFamily="34" charset="-122"/>
                <a:cs typeface="Calibri" pitchFamily="34" charset="-120"/>
              </a:rPr>
              <a:t>Note. </a:t>
            </a:r>
            <a:pPr indent="0" marL="0">
              <a:buNone/>
            </a:pPr>
            <a:r>
              <a:rPr lang="en-US" sz="900" dirty="0">
                <a:solidFill>
                  <a:srgbClr val="8A8F9A"/>
                </a:solidFill>
                <a:latin typeface="Calibri" pitchFamily="34" charset="0"/>
                <a:ea typeface="Calibri" pitchFamily="34" charset="-122"/>
                <a:cs typeface="Calibri" pitchFamily="34" charset="-120"/>
              </a:rPr>
              <a:t>From (Kaufman, 2008, film).</a:t>
            </a:r>
            <a:endParaRPr lang="en-US" sz="900" dirty="0"/>
          </a:p>
        </p:txBody>
      </p:sp>
      <p:sp>
        <p:nvSpPr>
          <p:cNvPr id="19" name="Text 17"/>
          <p:cNvSpPr/>
          <p:nvPr/>
        </p:nvSpPr>
        <p:spPr>
          <a:xfrm>
            <a:off x="4480560" y="4160520"/>
            <a:ext cx="3520440" cy="777240"/>
          </a:xfrm>
          <a:prstGeom prst="rect">
            <a:avLst/>
          </a:prstGeom>
          <a:noFill/>
          <a:ln/>
        </p:spPr>
        <p:txBody>
          <a:bodyPr wrap="square" lIns="0" tIns="0" rIns="0" bIns="0" rtlCol="0" anchor="t"/>
          <a:lstStyle/>
          <a:p>
            <a:pPr indent="0" marL="0">
              <a:buNone/>
            </a:pPr>
            <a:r>
              <a:rPr lang="en-US" sz="1000" b="1" dirty="0">
                <a:solidFill>
                  <a:srgbClr val="4A6670"/>
                </a:solidFill>
                <a:latin typeface="Calibri" pitchFamily="34" charset="0"/>
                <a:ea typeface="Calibri" pitchFamily="34" charset="-122"/>
                <a:cs typeface="Calibri" pitchFamily="34" charset="-120"/>
              </a:rPr>
              <a:t>✓ Right: </a:t>
            </a:r>
            <a:pPr indent="0" marL="0">
              <a:buNone/>
            </a:pPr>
            <a:r>
              <a:rPr lang="en-US" sz="1000" dirty="0">
                <a:solidFill>
                  <a:srgbClr val="1A2332"/>
                </a:solidFill>
                <a:latin typeface="Calibri" pitchFamily="34" charset="0"/>
                <a:ea typeface="Calibri" pitchFamily="34" charset="-122"/>
                <a:cs typeface="Calibri" pitchFamily="34" charset="-120"/>
              </a:rPr>
              <a:t>Protagonist named Caden Cotard; captures existential despair and dissolution of self.</a:t>
            </a:r>
            <a:endParaRPr lang="en-US" sz="1000" dirty="0"/>
          </a:p>
        </p:txBody>
      </p:sp>
      <p:sp>
        <p:nvSpPr>
          <p:cNvPr id="20" name="Text 18"/>
          <p:cNvSpPr/>
          <p:nvPr/>
        </p:nvSpPr>
        <p:spPr>
          <a:xfrm>
            <a:off x="4480560" y="4983480"/>
            <a:ext cx="3520440" cy="777240"/>
          </a:xfrm>
          <a:prstGeom prst="rect">
            <a:avLst/>
          </a:prstGeom>
          <a:noFill/>
          <a:ln/>
        </p:spPr>
        <p:txBody>
          <a:bodyPr wrap="square" lIns="0" tIns="0" rIns="0" bIns="0" rtlCol="0" anchor="t"/>
          <a:lstStyle/>
          <a:p>
            <a:pPr indent="0" marL="0">
              <a:buNone/>
            </a:pPr>
            <a:r>
              <a:rPr lang="en-US" sz="1000" b="1" dirty="0">
                <a:solidFill>
                  <a:srgbClr val="8B2635"/>
                </a:solidFill>
                <a:latin typeface="Calibri" pitchFamily="34" charset="0"/>
                <a:ea typeface="Calibri" pitchFamily="34" charset="-122"/>
                <a:cs typeface="Calibri" pitchFamily="34" charset="-120"/>
              </a:rPr>
              <a:t>✗ Wrong: </a:t>
            </a:r>
            <a:pPr indent="0" marL="0">
              <a:buNone/>
            </a:pPr>
            <a:r>
              <a:rPr lang="en-US" sz="1000" dirty="0">
                <a:solidFill>
                  <a:srgbClr val="1A2332"/>
                </a:solidFill>
                <a:latin typeface="Calibri" pitchFamily="34" charset="0"/>
                <a:ea typeface="Calibri" pitchFamily="34" charset="-122"/>
                <a:cs typeface="Calibri" pitchFamily="34" charset="-120"/>
              </a:rPr>
              <a:t>Metaphorical rather than clinical; viewers may not recognize it as a real disorder.</a:t>
            </a:r>
            <a:endParaRPr lang="en-US" sz="1000" dirty="0"/>
          </a:p>
        </p:txBody>
      </p:sp>
      <p:sp>
        <p:nvSpPr>
          <p:cNvPr id="21" name="Text 19"/>
          <p:cNvSpPr/>
          <p:nvPr/>
        </p:nvSpPr>
        <p:spPr>
          <a:xfrm>
            <a:off x="8183880" y="1554480"/>
            <a:ext cx="3520440" cy="228600"/>
          </a:xfrm>
          <a:prstGeom prst="rect">
            <a:avLst/>
          </a:prstGeom>
          <a:noFill/>
          <a:ln/>
        </p:spPr>
        <p:txBody>
          <a:bodyPr wrap="square" lIns="0" tIns="0" rIns="0" bIns="0" rtlCol="0" anchor="ctr"/>
          <a:lstStyle/>
          <a:p>
            <a:pPr indent="0" marL="0">
              <a:buNone/>
            </a:pPr>
            <a:r>
              <a:rPr lang="en-US" sz="1100" b="1" dirty="0">
                <a:solidFill>
                  <a:srgbClr val="1A2332"/>
                </a:solidFill>
                <a:latin typeface="Calibri" pitchFamily="34" charset="0"/>
                <a:ea typeface="Calibri" pitchFamily="34" charset="-122"/>
                <a:cs typeface="Calibri" pitchFamily="34" charset="-120"/>
              </a:rPr>
              <a:t>Figure 4</a:t>
            </a:r>
            <a:endParaRPr lang="en-US" sz="1100" dirty="0"/>
          </a:p>
        </p:txBody>
      </p:sp>
      <p:sp>
        <p:nvSpPr>
          <p:cNvPr id="22" name="Text 20"/>
          <p:cNvSpPr/>
          <p:nvPr/>
        </p:nvSpPr>
        <p:spPr>
          <a:xfrm>
            <a:off x="8183880" y="1783080"/>
            <a:ext cx="3520440" cy="274320"/>
          </a:xfrm>
          <a:prstGeom prst="rect">
            <a:avLst/>
          </a:prstGeom>
          <a:noFill/>
          <a:ln/>
        </p:spPr>
        <p:txBody>
          <a:bodyPr wrap="square" lIns="0" tIns="0" rIns="0" bIns="0" rtlCol="0" anchor="ctr"/>
          <a:lstStyle/>
          <a:p>
            <a:pPr indent="0" marL="0">
              <a:buNone/>
            </a:pPr>
            <a:r>
              <a:rPr lang="en-US" sz="1100" i="1" dirty="0">
                <a:solidFill>
                  <a:srgbClr val="1A2332"/>
                </a:solidFill>
                <a:latin typeface="Calibri" pitchFamily="34" charset="0"/>
                <a:ea typeface="Calibri" pitchFamily="34" charset="-122"/>
                <a:cs typeface="Calibri" pitchFamily="34" charset="-120"/>
              </a:rPr>
              <a:t>Scrubs: "My Bright Idea"</a:t>
            </a:r>
            <a:endParaRPr lang="en-US" sz="1100" dirty="0"/>
          </a:p>
        </p:txBody>
      </p:sp>
      <p:sp>
        <p:nvSpPr>
          <p:cNvPr id="23" name="Shape 21"/>
          <p:cNvSpPr/>
          <p:nvPr/>
        </p:nvSpPr>
        <p:spPr>
          <a:xfrm>
            <a:off x="8183880" y="2103120"/>
            <a:ext cx="3520440" cy="1554480"/>
          </a:xfrm>
          <a:prstGeom prst="rect">
            <a:avLst/>
          </a:prstGeom>
          <a:solidFill>
            <a:srgbClr val="EFEAE2"/>
          </a:solidFill>
          <a:ln w="12700">
            <a:solidFill>
              <a:srgbClr val="8A8F9A"/>
            </a:solidFill>
            <a:prstDash val="dash"/>
          </a:ln>
        </p:spPr>
      </p:sp>
      <p:sp>
        <p:nvSpPr>
          <p:cNvPr id="24" name="Text 22"/>
          <p:cNvSpPr/>
          <p:nvPr/>
        </p:nvSpPr>
        <p:spPr>
          <a:xfrm>
            <a:off x="8183880" y="2606040"/>
            <a:ext cx="3520440" cy="365760"/>
          </a:xfrm>
          <a:prstGeom prst="rect">
            <a:avLst/>
          </a:prstGeom>
          <a:noFill/>
          <a:ln/>
        </p:spPr>
        <p:txBody>
          <a:bodyPr wrap="square" lIns="0" tIns="0" rIns="0" bIns="0" rtlCol="0" anchor="ctr"/>
          <a:lstStyle/>
          <a:p>
            <a:pPr algn="ctr" indent="0" marL="0">
              <a:buNone/>
            </a:pPr>
            <a:r>
              <a:rPr lang="en-US" sz="1100" i="1" dirty="0">
                <a:solidFill>
                  <a:srgbClr val="8A8F9A"/>
                </a:solidFill>
                <a:latin typeface="Calibri" pitchFamily="34" charset="0"/>
                <a:ea typeface="Calibri" pitchFamily="34" charset="-122"/>
                <a:cs typeface="Calibri" pitchFamily="34" charset="-120"/>
              </a:rPr>
              <a:t>[ Insert image here ]</a:t>
            </a:r>
            <a:endParaRPr lang="en-US" sz="1100" dirty="0"/>
          </a:p>
        </p:txBody>
      </p:sp>
      <p:sp>
        <p:nvSpPr>
          <p:cNvPr id="25" name="Text 23"/>
          <p:cNvSpPr/>
          <p:nvPr/>
        </p:nvSpPr>
        <p:spPr>
          <a:xfrm>
            <a:off x="8366760" y="2971800"/>
            <a:ext cx="3154680" cy="274320"/>
          </a:xfrm>
          <a:prstGeom prst="rect">
            <a:avLst/>
          </a:prstGeom>
          <a:noFill/>
          <a:ln/>
        </p:spPr>
        <p:txBody>
          <a:bodyPr wrap="square" lIns="0" tIns="0" rIns="0" bIns="0" rtlCol="0" anchor="ctr"/>
          <a:lstStyle/>
          <a:p>
            <a:pPr algn="ctr" indent="0" marL="0">
              <a:buNone/>
            </a:pPr>
            <a:r>
              <a:rPr lang="en-US" sz="900" dirty="0">
                <a:solidFill>
                  <a:srgbClr val="8A8F9A"/>
                </a:solidFill>
                <a:latin typeface="Calibri" pitchFamily="34" charset="0"/>
                <a:ea typeface="Calibri" pitchFamily="34" charset="-122"/>
                <a:cs typeface="Calibri" pitchFamily="34" charset="-120"/>
              </a:rPr>
              <a:t>Scrubs: "My Bright Idea"</a:t>
            </a:r>
            <a:endParaRPr lang="en-US" sz="900" dirty="0"/>
          </a:p>
        </p:txBody>
      </p:sp>
      <p:sp>
        <p:nvSpPr>
          <p:cNvPr id="26" name="Text 24"/>
          <p:cNvSpPr/>
          <p:nvPr/>
        </p:nvSpPr>
        <p:spPr>
          <a:xfrm>
            <a:off x="8183880" y="3703320"/>
            <a:ext cx="3520440" cy="365760"/>
          </a:xfrm>
          <a:prstGeom prst="rect">
            <a:avLst/>
          </a:prstGeom>
          <a:noFill/>
          <a:ln/>
        </p:spPr>
        <p:txBody>
          <a:bodyPr wrap="square" lIns="0" tIns="0" rIns="0" bIns="0" rtlCol="0" anchor="t"/>
          <a:lstStyle/>
          <a:p>
            <a:pPr indent="0" marL="0">
              <a:buNone/>
            </a:pPr>
            <a:r>
              <a:rPr lang="en-US" sz="900" i="1" dirty="0">
                <a:solidFill>
                  <a:srgbClr val="8A8F9A"/>
                </a:solidFill>
                <a:latin typeface="Calibri" pitchFamily="34" charset="0"/>
                <a:ea typeface="Calibri" pitchFamily="34" charset="-122"/>
                <a:cs typeface="Calibri" pitchFamily="34" charset="-120"/>
              </a:rPr>
              <a:t>Note. </a:t>
            </a:r>
            <a:pPr indent="0" marL="0">
              <a:buNone/>
            </a:pPr>
            <a:r>
              <a:rPr lang="en-US" sz="900" dirty="0">
                <a:solidFill>
                  <a:srgbClr val="8A8F9A"/>
                </a:solidFill>
                <a:latin typeface="Calibri" pitchFamily="34" charset="0"/>
                <a:ea typeface="Calibri" pitchFamily="34" charset="-122"/>
                <a:cs typeface="Calibri" pitchFamily="34" charset="-120"/>
              </a:rPr>
              <a:t>From (Lawrence, 2005, ABC, S4 E14).</a:t>
            </a:r>
            <a:endParaRPr lang="en-US" sz="900" dirty="0"/>
          </a:p>
        </p:txBody>
      </p:sp>
      <p:sp>
        <p:nvSpPr>
          <p:cNvPr id="27" name="Text 25"/>
          <p:cNvSpPr/>
          <p:nvPr/>
        </p:nvSpPr>
        <p:spPr>
          <a:xfrm>
            <a:off x="8183880" y="4160520"/>
            <a:ext cx="3520440" cy="777240"/>
          </a:xfrm>
          <a:prstGeom prst="rect">
            <a:avLst/>
          </a:prstGeom>
          <a:noFill/>
          <a:ln/>
        </p:spPr>
        <p:txBody>
          <a:bodyPr wrap="square" lIns="0" tIns="0" rIns="0" bIns="0" rtlCol="0" anchor="t"/>
          <a:lstStyle/>
          <a:p>
            <a:pPr indent="0" marL="0">
              <a:buNone/>
            </a:pPr>
            <a:r>
              <a:rPr lang="en-US" sz="1000" b="1" dirty="0">
                <a:solidFill>
                  <a:srgbClr val="4A6670"/>
                </a:solidFill>
                <a:latin typeface="Calibri" pitchFamily="34" charset="0"/>
                <a:ea typeface="Calibri" pitchFamily="34" charset="-122"/>
                <a:cs typeface="Calibri" pitchFamily="34" charset="-120"/>
              </a:rPr>
              <a:t>✓ Right: </a:t>
            </a:r>
            <a:pPr indent="0" marL="0">
              <a:buNone/>
            </a:pPr>
            <a:r>
              <a:rPr lang="en-US" sz="1000" dirty="0">
                <a:solidFill>
                  <a:srgbClr val="1A2332"/>
                </a:solidFill>
                <a:latin typeface="Calibri" pitchFamily="34" charset="0"/>
                <a:ea typeface="Calibri" pitchFamily="34" charset="-122"/>
                <a:cs typeface="Calibri" pitchFamily="34" charset="-120"/>
              </a:rPr>
              <a:t>Brief but accurate mention of a patient who believes he died years earlier.</a:t>
            </a:r>
            <a:endParaRPr lang="en-US" sz="1000" dirty="0"/>
          </a:p>
        </p:txBody>
      </p:sp>
      <p:sp>
        <p:nvSpPr>
          <p:cNvPr id="28" name="Text 26"/>
          <p:cNvSpPr/>
          <p:nvPr/>
        </p:nvSpPr>
        <p:spPr>
          <a:xfrm>
            <a:off x="8183880" y="4983480"/>
            <a:ext cx="3520440" cy="777240"/>
          </a:xfrm>
          <a:prstGeom prst="rect">
            <a:avLst/>
          </a:prstGeom>
          <a:noFill/>
          <a:ln/>
        </p:spPr>
        <p:txBody>
          <a:bodyPr wrap="square" lIns="0" tIns="0" rIns="0" bIns="0" rtlCol="0" anchor="t"/>
          <a:lstStyle/>
          <a:p>
            <a:pPr indent="0" marL="0">
              <a:buNone/>
            </a:pPr>
            <a:r>
              <a:rPr lang="en-US" sz="1000" b="1" dirty="0">
                <a:solidFill>
                  <a:srgbClr val="8B2635"/>
                </a:solidFill>
                <a:latin typeface="Calibri" pitchFamily="34" charset="0"/>
                <a:ea typeface="Calibri" pitchFamily="34" charset="-122"/>
                <a:cs typeface="Calibri" pitchFamily="34" charset="-120"/>
              </a:rPr>
              <a:t>✗ Wrong: </a:t>
            </a:r>
            <a:pPr indent="0" marL="0">
              <a:buNone/>
            </a:pPr>
            <a:r>
              <a:rPr lang="en-US" sz="1000" dirty="0">
                <a:solidFill>
                  <a:srgbClr val="1A2332"/>
                </a:solidFill>
                <a:latin typeface="Calibri" pitchFamily="34" charset="0"/>
                <a:ea typeface="Calibri" pitchFamily="34" charset="-122"/>
                <a:cs typeface="Calibri" pitchFamily="34" charset="-120"/>
              </a:rPr>
              <a:t>Used as a one-line gag, no exploration of treatment or lived experience.</a:t>
            </a:r>
            <a:endParaRPr lang="en-US" sz="1000" dirty="0"/>
          </a:p>
        </p:txBody>
      </p:sp>
      <p:sp>
        <p:nvSpPr>
          <p:cNvPr id="29" name="Text 27"/>
          <p:cNvSpPr/>
          <p:nvPr/>
        </p:nvSpPr>
        <p:spPr>
          <a:xfrm>
            <a:off x="777240" y="5806440"/>
            <a:ext cx="5486400" cy="274320"/>
          </a:xfrm>
          <a:prstGeom prst="rect">
            <a:avLst/>
          </a:prstGeom>
          <a:noFill/>
          <a:ln/>
        </p:spPr>
        <p:txBody>
          <a:bodyPr wrap="square" lIns="0" tIns="0" rIns="0" bIns="0" rtlCol="0" anchor="ctr"/>
          <a:lstStyle/>
          <a:p>
            <a:pPr indent="0" marL="0">
              <a:buNone/>
            </a:pPr>
            <a:r>
              <a:rPr lang="en-US" sz="1000" b="1" spc="400" kern="0" dirty="0">
                <a:solidFill>
                  <a:srgbClr val="8B2635"/>
                </a:solidFill>
                <a:latin typeface="Calibri" pitchFamily="34" charset="0"/>
                <a:ea typeface="Calibri" pitchFamily="34" charset="-122"/>
                <a:cs typeface="Calibri" pitchFamily="34" charset="-120"/>
              </a:rPr>
              <a:t>STIGMA TODAY</a:t>
            </a:r>
            <a:endParaRPr lang="en-US" sz="1000" dirty="0"/>
          </a:p>
        </p:txBody>
      </p:sp>
      <p:sp>
        <p:nvSpPr>
          <p:cNvPr id="30" name="Text 28"/>
          <p:cNvSpPr/>
          <p:nvPr/>
        </p:nvSpPr>
        <p:spPr>
          <a:xfrm>
            <a:off x="777240" y="6126480"/>
            <a:ext cx="10927080" cy="457200"/>
          </a:xfrm>
          <a:prstGeom prst="rect">
            <a:avLst/>
          </a:prstGeom>
          <a:noFill/>
          <a:ln/>
        </p:spPr>
        <p:txBody>
          <a:bodyPr wrap="square" lIns="0" tIns="0" rIns="0" bIns="0" rtlCol="0" anchor="t"/>
          <a:lstStyle/>
          <a:p>
            <a:pPr indent="0" marL="0">
              <a:buNone/>
            </a:pPr>
            <a:r>
              <a:rPr lang="en-US" sz="1000" b="1" dirty="0">
                <a:solidFill>
                  <a:srgbClr val="1A2332"/>
                </a:solidFill>
                <a:latin typeface="Calibri" pitchFamily="34" charset="0"/>
                <a:ea typeface="Calibri" pitchFamily="34" charset="-122"/>
                <a:cs typeface="Calibri" pitchFamily="34" charset="-120"/>
              </a:rPr>
              <a:t>Decreasing: </a:t>
            </a:r>
            <a:pPr indent="0" marL="0">
              <a:buNone/>
            </a:pPr>
            <a:r>
              <a:rPr lang="en-US" sz="1000" dirty="0">
                <a:solidFill>
                  <a:srgbClr val="4A5563"/>
                </a:solidFill>
                <a:latin typeface="Calibri" pitchFamily="34" charset="0"/>
                <a:ea typeface="Calibri" pitchFamily="34" charset="-122"/>
                <a:cs typeface="Calibri" pitchFamily="34" charset="-120"/>
              </a:rPr>
              <a:t>Cotard's is too rare to carry a strong public stereotype, and popular neuroscience writing (Eagleman, 2011; Sacks, 1985) frames it as a window into self-awareness rather than horror. </a:t>
            </a:r>
            <a:pPr indent="0" marL="0">
              <a:buNone/>
            </a:pPr>
            <a:r>
              <a:rPr lang="en-US" sz="1000" b="1" dirty="0">
                <a:solidFill>
                  <a:srgbClr val="1A2332"/>
                </a:solidFill>
                <a:latin typeface="Calibri" pitchFamily="34" charset="0"/>
                <a:ea typeface="Calibri" pitchFamily="34" charset="-122"/>
                <a:cs typeface="Calibri" pitchFamily="34" charset="-120"/>
              </a:rPr>
              <a:t>Still needed: </a:t>
            </a:r>
            <a:pPr indent="0" marL="0">
              <a:buNone/>
            </a:pPr>
            <a:r>
              <a:rPr lang="en-US" sz="1000" dirty="0">
                <a:solidFill>
                  <a:srgbClr val="4A5563"/>
                </a:solidFill>
                <a:latin typeface="Calibri" pitchFamily="34" charset="0"/>
                <a:ea typeface="Calibri" pitchFamily="34" charset="-122"/>
                <a:cs typeface="Calibri" pitchFamily="34" charset="-120"/>
              </a:rPr>
              <a:t>depictions of recovery (not just symptoms), reducing ECT stigma, and teaching that delusions are clinical symptoms rather than character failings.</a:t>
            </a:r>
            <a:endParaRPr lang="en-US" sz="1000" dirty="0"/>
          </a:p>
        </p:txBody>
      </p:sp>
      <p:sp>
        <p:nvSpPr>
          <p:cNvPr id="31" name="Text 29"/>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E  ·  STIGMA &amp; MEDIA</a:t>
            </a:r>
            <a:endParaRPr lang="en-US" sz="900" dirty="0"/>
          </a:p>
        </p:txBody>
      </p:sp>
      <p:sp>
        <p:nvSpPr>
          <p:cNvPr id="32" name="Text 3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640080" y="640080"/>
            <a:ext cx="45720" cy="5029200"/>
          </a:xfrm>
          <a:prstGeom prst="rect">
            <a:avLst/>
          </a:prstGeom>
          <a:solidFill>
            <a:srgbClr val="8B2635"/>
          </a:solidFill>
          <a:ln w="12700">
            <a:solidFill>
              <a:srgbClr val="8B2635"/>
            </a:solidFill>
            <a:prstDash val="solid"/>
          </a:ln>
        </p:spPr>
      </p:sp>
      <p:sp>
        <p:nvSpPr>
          <p:cNvPr id="3" name="Text 1"/>
          <p:cNvSpPr/>
          <p:nvPr/>
        </p:nvSpPr>
        <p:spPr>
          <a:xfrm>
            <a:off x="868680" y="640080"/>
            <a:ext cx="10058400" cy="365760"/>
          </a:xfrm>
          <a:prstGeom prst="rect">
            <a:avLst/>
          </a:prstGeom>
          <a:noFill/>
          <a:ln/>
        </p:spPr>
        <p:txBody>
          <a:bodyPr wrap="square" lIns="0" tIns="0" rIns="0" bIns="0" rtlCol="0" anchor="ctr"/>
          <a:lstStyle/>
          <a:p>
            <a:pPr indent="0" marL="0">
              <a:buNone/>
            </a:pPr>
            <a:r>
              <a:rPr lang="en-US" sz="1100" b="1" spc="600" kern="0" dirty="0">
                <a:solidFill>
                  <a:srgbClr val="B0B6C0"/>
                </a:solidFill>
                <a:latin typeface="Calibri" pitchFamily="34" charset="0"/>
                <a:ea typeface="Calibri" pitchFamily="34" charset="-122"/>
                <a:cs typeface="Calibri" pitchFamily="34" charset="-120"/>
              </a:rPr>
              <a:t>KEY TAKEAWAYS</a:t>
            </a:r>
            <a:endParaRPr lang="en-US" sz="1100" dirty="0"/>
          </a:p>
        </p:txBody>
      </p:sp>
      <p:sp>
        <p:nvSpPr>
          <p:cNvPr id="4" name="Text 2"/>
          <p:cNvSpPr/>
          <p:nvPr/>
        </p:nvSpPr>
        <p:spPr>
          <a:xfrm>
            <a:off x="868680" y="105156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Five things to remember about Cotard's Syndrome</a:t>
            </a:r>
            <a:endParaRPr lang="en-US" sz="2800" dirty="0"/>
          </a:p>
        </p:txBody>
      </p:sp>
      <p:sp>
        <p:nvSpPr>
          <p:cNvPr id="5" name="Text 3"/>
          <p:cNvSpPr/>
          <p:nvPr/>
        </p:nvSpPr>
        <p:spPr>
          <a:xfrm>
            <a:off x="868680" y="1920240"/>
            <a:ext cx="731520" cy="640080"/>
          </a:xfrm>
          <a:prstGeom prst="rect">
            <a:avLst/>
          </a:prstGeom>
          <a:noFill/>
          <a:ln/>
        </p:spPr>
        <p:txBody>
          <a:bodyPr wrap="square" lIns="0" tIns="0" rIns="0" bIns="0" rtlCol="0" anchor="t"/>
          <a:lstStyle/>
          <a:p>
            <a:pPr indent="0" marL="0">
              <a:buNone/>
            </a:pPr>
            <a:r>
              <a:rPr lang="en-US" sz="2400" b="1" dirty="0">
                <a:solidFill>
                  <a:srgbClr val="8B2635"/>
                </a:solidFill>
                <a:latin typeface="Georgia" pitchFamily="34" charset="0"/>
                <a:ea typeface="Georgia" pitchFamily="34" charset="-122"/>
                <a:cs typeface="Georgia" pitchFamily="34" charset="-120"/>
              </a:rPr>
              <a:t>01</a:t>
            </a:r>
            <a:endParaRPr lang="en-US" sz="2400" dirty="0"/>
          </a:p>
        </p:txBody>
      </p:sp>
      <p:sp>
        <p:nvSpPr>
          <p:cNvPr id="6" name="Text 4"/>
          <p:cNvSpPr/>
          <p:nvPr/>
        </p:nvSpPr>
        <p:spPr>
          <a:xfrm>
            <a:off x="1691640" y="1920240"/>
            <a:ext cx="100584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It is a syndrome, not a DSM diagnosis</a:t>
            </a:r>
            <a:endParaRPr lang="en-US" sz="1500" dirty="0"/>
          </a:p>
        </p:txBody>
      </p:sp>
      <p:sp>
        <p:nvSpPr>
          <p:cNvPr id="7" name="Text 5"/>
          <p:cNvSpPr/>
          <p:nvPr/>
        </p:nvSpPr>
        <p:spPr>
          <a:xfrm>
            <a:off x="1691640" y="2212848"/>
            <a:ext cx="10058400" cy="457200"/>
          </a:xfrm>
          <a:prstGeom prst="rect">
            <a:avLst/>
          </a:prstGeom>
          <a:noFill/>
          <a:ln/>
        </p:spPr>
        <p:txBody>
          <a:bodyPr wrap="square" lIns="0" tIns="0" rIns="0" bIns="0" rtlCol="0" anchor="t"/>
          <a:lstStyle/>
          <a:p>
            <a:pPr indent="0" marL="0">
              <a:buNone/>
            </a:pPr>
            <a:r>
              <a:rPr lang="en-US" sz="1100" dirty="0">
                <a:solidFill>
                  <a:srgbClr val="B0B6C0"/>
                </a:solidFill>
                <a:latin typeface="Calibri" pitchFamily="34" charset="0"/>
                <a:ea typeface="Calibri" pitchFamily="34" charset="-122"/>
                <a:cs typeface="Calibri" pitchFamily="34" charset="-120"/>
              </a:rPr>
              <a:t>Always sits beneath delusional disorder, psychotic depression, or organic psychosis.</a:t>
            </a:r>
            <a:endParaRPr lang="en-US" sz="1100" dirty="0"/>
          </a:p>
        </p:txBody>
      </p:sp>
      <p:sp>
        <p:nvSpPr>
          <p:cNvPr id="8" name="Text 6"/>
          <p:cNvSpPr/>
          <p:nvPr/>
        </p:nvSpPr>
        <p:spPr>
          <a:xfrm>
            <a:off x="868680" y="2697480"/>
            <a:ext cx="731520" cy="640080"/>
          </a:xfrm>
          <a:prstGeom prst="rect">
            <a:avLst/>
          </a:prstGeom>
          <a:noFill/>
          <a:ln/>
        </p:spPr>
        <p:txBody>
          <a:bodyPr wrap="square" lIns="0" tIns="0" rIns="0" bIns="0" rtlCol="0" anchor="t"/>
          <a:lstStyle/>
          <a:p>
            <a:pPr indent="0" marL="0">
              <a:buNone/>
            </a:pPr>
            <a:r>
              <a:rPr lang="en-US" sz="2400" b="1" dirty="0">
                <a:solidFill>
                  <a:srgbClr val="8B2635"/>
                </a:solidFill>
                <a:latin typeface="Georgia" pitchFamily="34" charset="0"/>
                <a:ea typeface="Georgia" pitchFamily="34" charset="-122"/>
                <a:cs typeface="Georgia" pitchFamily="34" charset="-120"/>
              </a:rPr>
              <a:t>02</a:t>
            </a:r>
            <a:endParaRPr lang="en-US" sz="2400" dirty="0"/>
          </a:p>
        </p:txBody>
      </p:sp>
      <p:sp>
        <p:nvSpPr>
          <p:cNvPr id="9" name="Text 7"/>
          <p:cNvSpPr/>
          <p:nvPr/>
        </p:nvSpPr>
        <p:spPr>
          <a:xfrm>
            <a:off x="1691640" y="2697480"/>
            <a:ext cx="100584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signature is paradox</a:t>
            </a:r>
            <a:endParaRPr lang="en-US" sz="1500" dirty="0"/>
          </a:p>
        </p:txBody>
      </p:sp>
      <p:sp>
        <p:nvSpPr>
          <p:cNvPr id="10" name="Text 8"/>
          <p:cNvSpPr/>
          <p:nvPr/>
        </p:nvSpPr>
        <p:spPr>
          <a:xfrm>
            <a:off x="1691640" y="2990088"/>
            <a:ext cx="10058400" cy="457200"/>
          </a:xfrm>
          <a:prstGeom prst="rect">
            <a:avLst/>
          </a:prstGeom>
          <a:noFill/>
          <a:ln/>
        </p:spPr>
        <p:txBody>
          <a:bodyPr wrap="square" lIns="0" tIns="0" rIns="0" bIns="0" rtlCol="0" anchor="t"/>
          <a:lstStyle/>
          <a:p>
            <a:pPr indent="0" marL="0">
              <a:buNone/>
            </a:pPr>
            <a:r>
              <a:rPr lang="en-US" sz="1100" dirty="0">
                <a:solidFill>
                  <a:srgbClr val="B0B6C0"/>
                </a:solidFill>
                <a:latin typeface="Calibri" pitchFamily="34" charset="0"/>
                <a:ea typeface="Calibri" pitchFamily="34" charset="-122"/>
                <a:cs typeface="Calibri" pitchFamily="34" charset="-120"/>
              </a:rPr>
              <a:t>“I am dead” + “I cannot die”—the contradiction is what distinguishes it from depression alone.</a:t>
            </a:r>
            <a:endParaRPr lang="en-US" sz="1100" dirty="0"/>
          </a:p>
        </p:txBody>
      </p:sp>
      <p:sp>
        <p:nvSpPr>
          <p:cNvPr id="11" name="Text 9"/>
          <p:cNvSpPr/>
          <p:nvPr/>
        </p:nvSpPr>
        <p:spPr>
          <a:xfrm>
            <a:off x="868680" y="3474720"/>
            <a:ext cx="731520" cy="640080"/>
          </a:xfrm>
          <a:prstGeom prst="rect">
            <a:avLst/>
          </a:prstGeom>
          <a:noFill/>
          <a:ln/>
        </p:spPr>
        <p:txBody>
          <a:bodyPr wrap="square" lIns="0" tIns="0" rIns="0" bIns="0" rtlCol="0" anchor="t"/>
          <a:lstStyle/>
          <a:p>
            <a:pPr indent="0" marL="0">
              <a:buNone/>
            </a:pPr>
            <a:r>
              <a:rPr lang="en-US" sz="2400" b="1" dirty="0">
                <a:solidFill>
                  <a:srgbClr val="8B2635"/>
                </a:solidFill>
                <a:latin typeface="Georgia" pitchFamily="34" charset="0"/>
                <a:ea typeface="Georgia" pitchFamily="34" charset="-122"/>
                <a:cs typeface="Georgia" pitchFamily="34" charset="-120"/>
              </a:rPr>
              <a:t>03</a:t>
            </a:r>
            <a:endParaRPr lang="en-US" sz="2400" dirty="0"/>
          </a:p>
        </p:txBody>
      </p:sp>
      <p:sp>
        <p:nvSpPr>
          <p:cNvPr id="12" name="Text 10"/>
          <p:cNvSpPr/>
          <p:nvPr/>
        </p:nvSpPr>
        <p:spPr>
          <a:xfrm>
            <a:off x="1691640" y="3474720"/>
            <a:ext cx="100584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It bridges psychiatry and neurology</a:t>
            </a:r>
            <a:endParaRPr lang="en-US" sz="1500" dirty="0"/>
          </a:p>
        </p:txBody>
      </p:sp>
      <p:sp>
        <p:nvSpPr>
          <p:cNvPr id="13" name="Text 11"/>
          <p:cNvSpPr/>
          <p:nvPr/>
        </p:nvSpPr>
        <p:spPr>
          <a:xfrm>
            <a:off x="1691640" y="3767328"/>
            <a:ext cx="10058400" cy="457200"/>
          </a:xfrm>
          <a:prstGeom prst="rect">
            <a:avLst/>
          </a:prstGeom>
          <a:noFill/>
          <a:ln/>
        </p:spPr>
        <p:txBody>
          <a:bodyPr wrap="square" lIns="0" tIns="0" rIns="0" bIns="0" rtlCol="0" anchor="t"/>
          <a:lstStyle/>
          <a:p>
            <a:pPr indent="0" marL="0">
              <a:buNone/>
            </a:pPr>
            <a:r>
              <a:rPr lang="en-US" sz="1100" dirty="0">
                <a:solidFill>
                  <a:srgbClr val="B0B6C0"/>
                </a:solidFill>
                <a:latin typeface="Calibri" pitchFamily="34" charset="0"/>
                <a:ea typeface="Calibri" pitchFamily="34" charset="-122"/>
                <a:cs typeface="Calibri" pitchFamily="34" charset="-120"/>
              </a:rPr>
              <a:t>Two-thirds psychiatric, one-third organic—rare clinical evidence of mind/brain unity.</a:t>
            </a:r>
            <a:endParaRPr lang="en-US" sz="1100" dirty="0"/>
          </a:p>
        </p:txBody>
      </p:sp>
      <p:sp>
        <p:nvSpPr>
          <p:cNvPr id="14" name="Text 12"/>
          <p:cNvSpPr/>
          <p:nvPr/>
        </p:nvSpPr>
        <p:spPr>
          <a:xfrm>
            <a:off x="868680" y="4251960"/>
            <a:ext cx="731520" cy="640080"/>
          </a:xfrm>
          <a:prstGeom prst="rect">
            <a:avLst/>
          </a:prstGeom>
          <a:noFill/>
          <a:ln/>
        </p:spPr>
        <p:txBody>
          <a:bodyPr wrap="square" lIns="0" tIns="0" rIns="0" bIns="0" rtlCol="0" anchor="t"/>
          <a:lstStyle/>
          <a:p>
            <a:pPr indent="0" marL="0">
              <a:buNone/>
            </a:pPr>
            <a:r>
              <a:rPr lang="en-US" sz="2400" b="1" dirty="0">
                <a:solidFill>
                  <a:srgbClr val="8B2635"/>
                </a:solidFill>
                <a:latin typeface="Georgia" pitchFamily="34" charset="0"/>
                <a:ea typeface="Georgia" pitchFamily="34" charset="-122"/>
                <a:cs typeface="Georgia" pitchFamily="34" charset="-120"/>
              </a:rPr>
              <a:t>04</a:t>
            </a:r>
            <a:endParaRPr lang="en-US" sz="2400" dirty="0"/>
          </a:p>
        </p:txBody>
      </p:sp>
      <p:sp>
        <p:nvSpPr>
          <p:cNvPr id="15" name="Text 13"/>
          <p:cNvSpPr/>
          <p:nvPr/>
        </p:nvSpPr>
        <p:spPr>
          <a:xfrm>
            <a:off x="1691640" y="4251960"/>
            <a:ext cx="100584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Cotard's mirrors Capgras</a:t>
            </a:r>
            <a:endParaRPr lang="en-US" sz="1500" dirty="0"/>
          </a:p>
        </p:txBody>
      </p:sp>
      <p:sp>
        <p:nvSpPr>
          <p:cNvPr id="16" name="Text 14"/>
          <p:cNvSpPr/>
          <p:nvPr/>
        </p:nvSpPr>
        <p:spPr>
          <a:xfrm>
            <a:off x="1691640" y="4544568"/>
            <a:ext cx="10058400" cy="457200"/>
          </a:xfrm>
          <a:prstGeom prst="rect">
            <a:avLst/>
          </a:prstGeom>
          <a:noFill/>
          <a:ln/>
        </p:spPr>
        <p:txBody>
          <a:bodyPr wrap="square" lIns="0" tIns="0" rIns="0" bIns="0" rtlCol="0" anchor="t"/>
          <a:lstStyle/>
          <a:p>
            <a:pPr indent="0" marL="0">
              <a:buNone/>
            </a:pPr>
            <a:r>
              <a:rPr lang="en-US" sz="1100" dirty="0">
                <a:solidFill>
                  <a:srgbClr val="B0B6C0"/>
                </a:solidFill>
                <a:latin typeface="Calibri" pitchFamily="34" charset="0"/>
                <a:ea typeface="Calibri" pitchFamily="34" charset="-122"/>
                <a:cs typeface="Calibri" pitchFamily="34" charset="-120"/>
              </a:rPr>
              <a:t>Same disconnection between recognition and emotion, pointed inward instead of outward.</a:t>
            </a:r>
            <a:endParaRPr lang="en-US" sz="1100" dirty="0"/>
          </a:p>
        </p:txBody>
      </p:sp>
      <p:sp>
        <p:nvSpPr>
          <p:cNvPr id="17" name="Text 15"/>
          <p:cNvSpPr/>
          <p:nvPr/>
        </p:nvSpPr>
        <p:spPr>
          <a:xfrm>
            <a:off x="868680" y="5029200"/>
            <a:ext cx="731520" cy="640080"/>
          </a:xfrm>
          <a:prstGeom prst="rect">
            <a:avLst/>
          </a:prstGeom>
          <a:noFill/>
          <a:ln/>
        </p:spPr>
        <p:txBody>
          <a:bodyPr wrap="square" lIns="0" tIns="0" rIns="0" bIns="0" rtlCol="0" anchor="t"/>
          <a:lstStyle/>
          <a:p>
            <a:pPr indent="0" marL="0">
              <a:buNone/>
            </a:pPr>
            <a:r>
              <a:rPr lang="en-US" sz="2400" b="1" dirty="0">
                <a:solidFill>
                  <a:srgbClr val="8B2635"/>
                </a:solidFill>
                <a:latin typeface="Georgia" pitchFamily="34" charset="0"/>
                <a:ea typeface="Georgia" pitchFamily="34" charset="-122"/>
                <a:cs typeface="Georgia" pitchFamily="34" charset="-120"/>
              </a:rPr>
              <a:t>05</a:t>
            </a:r>
            <a:endParaRPr lang="en-US" sz="2400" dirty="0"/>
          </a:p>
        </p:txBody>
      </p:sp>
      <p:sp>
        <p:nvSpPr>
          <p:cNvPr id="18" name="Text 16"/>
          <p:cNvSpPr/>
          <p:nvPr/>
        </p:nvSpPr>
        <p:spPr>
          <a:xfrm>
            <a:off x="1691640" y="5029200"/>
            <a:ext cx="100584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ECT remains the most reliable cure</a:t>
            </a:r>
            <a:endParaRPr lang="en-US" sz="1500" dirty="0"/>
          </a:p>
        </p:txBody>
      </p:sp>
      <p:sp>
        <p:nvSpPr>
          <p:cNvPr id="19" name="Text 17"/>
          <p:cNvSpPr/>
          <p:nvPr/>
        </p:nvSpPr>
        <p:spPr>
          <a:xfrm>
            <a:off x="1691640" y="5321808"/>
            <a:ext cx="10058400" cy="457200"/>
          </a:xfrm>
          <a:prstGeom prst="rect">
            <a:avLst/>
          </a:prstGeom>
          <a:noFill/>
          <a:ln/>
        </p:spPr>
        <p:txBody>
          <a:bodyPr wrap="square" lIns="0" tIns="0" rIns="0" bIns="0" rtlCol="0" anchor="t"/>
          <a:lstStyle/>
          <a:p>
            <a:pPr indent="0" marL="0">
              <a:buNone/>
            </a:pPr>
            <a:r>
              <a:rPr lang="en-US" sz="1100" dirty="0">
                <a:solidFill>
                  <a:srgbClr val="B0B6C0"/>
                </a:solidFill>
                <a:latin typeface="Calibri" pitchFamily="34" charset="0"/>
                <a:ea typeface="Calibri" pitchFamily="34" charset="-122"/>
                <a:cs typeface="Calibri" pitchFamily="34" charset="-120"/>
              </a:rPr>
              <a:t>Brain imaging confirms—perfusion deficits resolve after treatment.</a:t>
            </a:r>
            <a:endParaRPr lang="en-US" sz="1100" dirty="0"/>
          </a:p>
        </p:txBody>
      </p:sp>
      <p:sp>
        <p:nvSpPr>
          <p:cNvPr id="20" name="Text 18"/>
          <p:cNvSpPr/>
          <p:nvPr/>
        </p:nvSpPr>
        <p:spPr>
          <a:xfrm>
            <a:off x="868680" y="6080760"/>
            <a:ext cx="10515600" cy="365760"/>
          </a:xfrm>
          <a:prstGeom prst="rect">
            <a:avLst/>
          </a:prstGeom>
          <a:noFill/>
          <a:ln/>
        </p:spPr>
        <p:txBody>
          <a:bodyPr wrap="square" lIns="0" tIns="0" rIns="0" bIns="0" rtlCol="0" anchor="ctr"/>
          <a:lstStyle/>
          <a:p>
            <a:pPr indent="0" marL="0">
              <a:buNone/>
            </a:pPr>
            <a:r>
              <a:rPr lang="en-US" sz="1200" i="1" dirty="0">
                <a:solidFill>
                  <a:srgbClr val="E8DCD9"/>
                </a:solidFill>
                <a:latin typeface="Georgia" pitchFamily="34" charset="0"/>
                <a:ea typeface="Georgia" pitchFamily="34" charset="-122"/>
                <a:cs typeface="Georgia" pitchFamily="34" charset="-120"/>
              </a:rPr>
              <a:t>Cotard's Syndrome reminds us that even "being alive" is something the brain has to construct—and that construction can break.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0"/>
            <a:ext cx="36576" cy="5486400"/>
          </a:xfrm>
          <a:prstGeom prst="rect">
            <a:avLst/>
          </a:prstGeom>
          <a:solidFill>
            <a:srgbClr val="8B2635"/>
          </a:solidFill>
          <a:ln w="12700">
            <a:solidFill>
              <a:srgbClr val="8B2635"/>
            </a:solidFill>
            <a:prstDash val="solid"/>
          </a:ln>
        </p:spPr>
      </p:sp>
      <p:sp>
        <p:nvSpPr>
          <p:cNvPr id="3" name="Text 1"/>
          <p:cNvSpPr/>
          <p:nvPr/>
        </p:nvSpPr>
        <p:spPr>
          <a:xfrm>
            <a:off x="777240" y="502920"/>
            <a:ext cx="8229600" cy="640080"/>
          </a:xfrm>
          <a:prstGeom prst="rect">
            <a:avLst/>
          </a:prstGeom>
          <a:noFill/>
          <a:ln/>
        </p:spPr>
        <p:txBody>
          <a:bodyPr wrap="square" lIns="0" tIns="0" rIns="0" bIns="0" rtlCol="0" anchor="ctr"/>
          <a:lstStyle/>
          <a:p>
            <a:pPr indent="0" marL="0">
              <a:buNone/>
            </a:pPr>
            <a:r>
              <a:rPr lang="en-US" sz="3600" b="1" dirty="0">
                <a:solidFill>
                  <a:srgbClr val="1A2332"/>
                </a:solidFill>
                <a:latin typeface="Georgia" pitchFamily="34" charset="0"/>
                <a:ea typeface="Georgia" pitchFamily="34" charset="-122"/>
                <a:cs typeface="Georgia" pitchFamily="34" charset="-120"/>
              </a:rPr>
              <a:t>References</a:t>
            </a:r>
            <a:endParaRPr lang="en-US" sz="3600" dirty="0"/>
          </a:p>
        </p:txBody>
      </p:sp>
      <p:sp>
        <p:nvSpPr>
          <p:cNvPr id="4" name="Text 2"/>
          <p:cNvSpPr/>
          <p:nvPr/>
        </p:nvSpPr>
        <p:spPr>
          <a:xfrm>
            <a:off x="777240" y="1143000"/>
            <a:ext cx="10515600" cy="365760"/>
          </a:xfrm>
          <a:prstGeom prst="rect">
            <a:avLst/>
          </a:prstGeom>
          <a:noFill/>
          <a:ln/>
        </p:spPr>
        <p:txBody>
          <a:bodyPr wrap="square" lIns="0" tIns="0" rIns="0" bIns="0" rtlCol="0" anchor="ctr"/>
          <a:lstStyle/>
          <a:p>
            <a:pPr indent="0" marL="0">
              <a:buNone/>
            </a:pPr>
            <a:r>
              <a:rPr lang="en-US" sz="1400" i="1" dirty="0">
                <a:solidFill>
                  <a:srgbClr val="4A5563"/>
                </a:solidFill>
                <a:latin typeface="Calibri" pitchFamily="34" charset="0"/>
                <a:ea typeface="Calibri" pitchFamily="34" charset="-122"/>
                <a:cs typeface="Calibri" pitchFamily="34" charset="-120"/>
              </a:rPr>
              <a:t>APA 7th edition · primary peer-reviewed sources</a:t>
            </a:r>
            <a:endParaRPr lang="en-US" sz="1400" dirty="0"/>
          </a:p>
        </p:txBody>
      </p:sp>
      <p:sp>
        <p:nvSpPr>
          <p:cNvPr id="5" name="Text 3"/>
          <p:cNvSpPr/>
          <p:nvPr/>
        </p:nvSpPr>
        <p:spPr>
          <a:xfrm>
            <a:off x="777240" y="1691640"/>
            <a:ext cx="10607040" cy="4572000"/>
          </a:xfrm>
          <a:prstGeom prst="rect">
            <a:avLst/>
          </a:prstGeom>
          <a:noFill/>
          <a:ln/>
        </p:spPr>
        <p:txBody>
          <a:bodyPr wrap="square" rtlCol="0" anchor="t"/>
          <a:lstStyle/>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American Psychiatric Association. (2022). Diagnostic and statistical manual of mental disorders (5th ed., text rev.). American Psychiatric Association Publishing. https://doi.org/10.1176/appi.books.9780890425787</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Berrios, G. E., &amp; Luque, R. (1995). Cotard's syndrome: Analysis of 100 cases. Acta Psychiatrica Scandinavica, 91(3), 185–188. https://doi.org/10.1111/j.1600-0447.1995.tb09764.x</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Chiu, H. F. K. (1995). Cotard's syndrome in psychogeriatric patients in Hong Kong. General Hospital Psychiatry, 17(1), 54–55. https://doi.org/10.1016/0163-8343(94)00066-M</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Debruyne, H., Portzky, M., Van den Eynde, F., &amp; Audenaert, K. (2009). Cotard's syndrome: A review. Current Psychiatry Reports, 11(3), 197–202. https://doi.org/10.1007/s11920-009-0031-z</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De Risio, S., De Rossi, G., Sarchiapone, M., Camardese, G., Carli, V., Cuomo, C., Di Giannantonio, M., Janiri, L., &amp; Bria, P. (2004). A case of Cotard syndrome: 123I-IBZM SPECT imaging of striatal D2 receptor binding. Psychiatry Research: Neuroimaging, 130(1), 109–112. https://doi.org/10.1016/j.pscychresns.2003.10.003</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Dieguez, S. (2018). Cotard syndrome. Frontiers of Neurology and Neuroscience, 42, 23–34. https://doi.org/10.1159/000475679</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Eagleman, D. (2011). Incognito: The secret lives of the brain. Pantheon Books.</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Huarcaya-Victoria, J., Bojórquez-De la Torre, J., &amp; De la Cruz-Oré, J. (2020). Factor structure of Cotard's syndrome: Systematic review of case reports. Revista Colombiana de Psiquiatría, 49(3), 187–193. https://doi.org/10.1016/j.rcp.2018.10.008</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Joseph, A. B., &amp; O'Leary, D. H. (1986). Brain atrophy and interhemispheric fissure enlargement in Cotard's syndrome. Journal of Clinical Psychiatry, 47(10), 518–520.</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Moschopoulos, N. P., Kaprinis, S., &amp; Nimatoudis, J. (2016). Cotard's syndrome: Case report and a brief review of the literature. Psychiatriki, 27(4), 296–302. https://doi.org/10.22365/jpsych.2016.274.296</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Petracca, G., Migliorelli, R., Vázquez, S., &amp; Starkstein, S. E. (1995). SPECT findings before and after ECT in a patient with major depression and Cotard's syndrome. Journal of Neuropsychiatry and Clinical Neurosciences, 7(4), 505–507.</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Ramirez-Bermudez, J., Aguilar-Venegas, L. C., Crail-Melendez, D., Espinola-Nadurille, M., Nente, F., &amp; Mendez, M. F. (2010). Cotard syndrome in neurological and psychiatric patients. Journal of Neuropsychiatry and Clinical Neurosciences, 22(4), 409–416. https://doi.org/10.1176/jnp.2010.22.4.409</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Sacks, O. (1985). The man who mistook his wife for a hat and other clinical tales. Summit Books.</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Taib, N. I. A., Wahab, S., Khoo, C. S., Tan, H. J., Kamaruzaman, L., Woon, L. S.-C., &amp; Gan, L. L. Y. (2022). Case report: Cotard's syndrome in anti-NMDA receptor encephalitis. Frontiers in Psychiatry, 13, 779520. https://doi.org/10.3389/fpsyt.2022.779520</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Terao, T., Fujino, A., Egashira, K., &amp; Abe, K. (1994). Lithium-antidepressant combination in the treatment of depressive Cotard's syndrome. Clinical Neuropharmacology, 17(3), 270–272.</a:t>
            </a:r>
            <a:endParaRPr lang="en-US" sz="1000" dirty="0"/>
          </a:p>
          <a:p>
            <a:pPr indent="0" marL="0">
              <a:spcAft>
                <a:spcPts val="400"/>
              </a:spcAft>
              <a:buNone/>
            </a:pPr>
            <a:r>
              <a:rPr lang="en-US" sz="1000" dirty="0">
                <a:solidFill>
                  <a:srgbClr val="1A2332"/>
                </a:solidFill>
                <a:latin typeface="Calibri" pitchFamily="34" charset="0"/>
                <a:ea typeface="Calibri" pitchFamily="34" charset="-122"/>
                <a:cs typeface="Calibri" pitchFamily="34" charset="-120"/>
              </a:rPr>
              <a:t>Young, A. W., &amp; Leafhead, K. M. (1996). Betwixt life and death: Case studies of the Cotard delusion. In P. W. Halligan &amp; J. C. Marshall (Eds.), Method in madness: Case studies in cognitive neuropsychiatry (pp. 147–171). Psychology Press.</a:t>
            </a:r>
            <a:endParaRPr lang="en-US" sz="1000" dirty="0"/>
          </a:p>
        </p:txBody>
      </p:sp>
      <p:sp>
        <p:nvSpPr>
          <p:cNvPr id="6" name="Text 4"/>
          <p:cNvSpPr/>
          <p:nvPr/>
        </p:nvSpPr>
        <p:spPr>
          <a:xfrm>
            <a:off x="7772400" y="292608"/>
            <a:ext cx="3931920" cy="274320"/>
          </a:xfrm>
          <a:prstGeom prst="rect">
            <a:avLst/>
          </a:prstGeom>
          <a:noFill/>
          <a:ln/>
        </p:spPr>
        <p:txBody>
          <a:bodyPr wrap="square" lIns="0" tIns="0" rIns="0" bIns="0" rtlCol="0" anchor="ctr"/>
          <a:lstStyle/>
          <a:p>
            <a:pPr algn="r" indent="0" marL="0">
              <a:buNone/>
            </a:pPr>
            <a:r>
              <a:rPr lang="en-US" sz="900" b="1" spc="400" kern="0" dirty="0">
                <a:solidFill>
                  <a:srgbClr val="8A8F9A"/>
                </a:solidFill>
                <a:latin typeface="Calibri" pitchFamily="34" charset="0"/>
                <a:ea typeface="Calibri" pitchFamily="34" charset="-122"/>
                <a:cs typeface="Calibri" pitchFamily="34" charset="-120"/>
              </a:rPr>
              <a:t>F  ·  REFERENCES</a:t>
            </a:r>
            <a:endParaRPr lang="en-US" sz="900" dirty="0"/>
          </a:p>
        </p:txBody>
      </p:sp>
      <p:sp>
        <p:nvSpPr>
          <p:cNvPr id="7" name="Text 5"/>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900" dirty="0">
                <a:solidFill>
                  <a:srgbClr val="8A8F9A"/>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Cotard's Syndrome</dc:title>
  <dc:subject>PptxGenJS Presentation</dc:subject>
  <dc:creator>Larry Zhong</dc:creator>
  <cp:lastModifiedBy>Larry Zhong</cp:lastModifiedBy>
  <cp:revision>1</cp:revision>
  <dcterms:created xsi:type="dcterms:W3CDTF">2026-05-01T03:26:58Z</dcterms:created>
  <dcterms:modified xsi:type="dcterms:W3CDTF">2026-05-01T03:26:58Z</dcterms:modified>
</cp:coreProperties>
</file>