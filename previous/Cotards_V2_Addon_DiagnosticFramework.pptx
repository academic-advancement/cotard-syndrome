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54864" cy="6858000"/>
          </a:xfrm>
          <a:prstGeom prst="rect">
            <a:avLst/>
          </a:prstGeom>
          <a:solidFill>
            <a:srgbClr val="8B2635"/>
          </a:solidFill>
          <a:ln/>
        </p:spPr>
      </p:sp>
      <p:sp>
        <p:nvSpPr>
          <p:cNvPr id="3" name="Text 1"/>
          <p:cNvSpPr/>
          <p:nvPr/>
        </p:nvSpPr>
        <p:spPr>
          <a:xfrm>
            <a:off x="7772400" y="32004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b="1" spc="400" kern="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 ·  DIAGNOSTIC CRITERIA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10972800" y="6446520"/>
            <a:ext cx="1097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3b / 15</a:t>
            </a:r>
            <a:endParaRPr lang="en-US" sz="900" dirty="0"/>
          </a:p>
        </p:txBody>
      </p:sp>
      <p:sp>
        <p:nvSpPr>
          <p:cNvPr id="5" name="Text 3"/>
          <p:cNvSpPr/>
          <p:nvPr/>
        </p:nvSpPr>
        <p:spPr>
          <a:xfrm>
            <a:off x="457200" y="411480"/>
            <a:ext cx="8229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600" b="1" dirty="0">
                <a:solidFill>
                  <a:srgbClr val="1A2332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Diagnostic Framework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14300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DSM-5-TR criteria and differential diagnosis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57200" y="1691640"/>
            <a:ext cx="5486400" cy="4526280"/>
          </a:xfrm>
          <a:prstGeom prst="rect">
            <a:avLst/>
          </a:prstGeom>
          <a:solidFill>
            <a:srgbClr val="F8F5EF"/>
          </a:solidFill>
          <a:ln w="9525">
            <a:solidFill>
              <a:srgbClr val="D9D2C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8580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DSM-5-TR DELUSIONAL DISORDER CRITERIA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685800" y="228600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26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A.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1143000" y="2313432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≥1 delusion for ≥1 month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685800" y="299923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26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B.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1143000" y="3026664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Criterion A for schizophrenia never met (no prominent hallucinations, disorganized speech, etc.)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685800" y="3712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26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C.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1143000" y="3739896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Functioning not markedly impaired apart from delusion's impact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85800" y="4425696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26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D.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143000" y="4453128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mood episodes brief relative to delusional periods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685800" y="513892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8B2635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E.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1143000" y="5166360"/>
            <a:ext cx="47091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attributable to a substance or another medical condition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685800" y="5897880"/>
            <a:ext cx="5120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(American Psychiatric Association, 2022)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6263640" y="1691640"/>
            <a:ext cx="5486400" cy="4526280"/>
          </a:xfrm>
          <a:prstGeom prst="rect">
            <a:avLst/>
          </a:prstGeom>
          <a:solidFill>
            <a:srgbClr val="F8F5EF"/>
          </a:solidFill>
          <a:ln w="9525">
            <a:solidFill>
              <a:srgbClr val="D9D2C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492240" y="182880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8B263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DIFFERENTIAL DIAGNOSIS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6492240" y="2404872"/>
            <a:ext cx="91440" cy="91440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23" name="Text 21"/>
          <p:cNvSpPr/>
          <p:nvPr/>
        </p:nvSpPr>
        <p:spPr>
          <a:xfrm>
            <a:off x="6675120" y="228600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Capgras Delusion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6675120" y="260604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External—familiar people experienced as impostors. Same disconnection mechanism, opposite direction.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492240" y="3364992"/>
            <a:ext cx="91440" cy="91440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26" name="Text 24"/>
          <p:cNvSpPr/>
          <p:nvPr/>
        </p:nvSpPr>
        <p:spPr>
          <a:xfrm>
            <a:off x="6675120" y="324612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MDD with Psychotic Features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675120" y="356616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Mood-congruent delusions, less systematized. Cotard's features more elaborate nihilistic content.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492240" y="4325112"/>
            <a:ext cx="91440" cy="91440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29" name="Text 27"/>
          <p:cNvSpPr/>
          <p:nvPr/>
        </p:nvSpPr>
        <p:spPr>
          <a:xfrm>
            <a:off x="6675120" y="420624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Schizophrenia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6675120" y="452628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Includes hallucinations and formal thought disorder; Cotard's delusions are more isolated and fixed.</a:t>
            </a:r>
            <a:endParaRPr lang="en-US" sz="1100" dirty="0"/>
          </a:p>
        </p:txBody>
      </p:sp>
      <p:sp>
        <p:nvSpPr>
          <p:cNvPr id="31" name="Shape 29"/>
          <p:cNvSpPr/>
          <p:nvPr/>
        </p:nvSpPr>
        <p:spPr>
          <a:xfrm>
            <a:off x="6492240" y="5285232"/>
            <a:ext cx="91440" cy="91440"/>
          </a:xfrm>
          <a:prstGeom prst="ellipse">
            <a:avLst/>
          </a:prstGeom>
          <a:solidFill>
            <a:srgbClr val="8B2635"/>
          </a:solidFill>
          <a:ln/>
        </p:spPr>
      </p:sp>
      <p:sp>
        <p:nvSpPr>
          <p:cNvPr id="32" name="Text 30"/>
          <p:cNvSpPr/>
          <p:nvPr/>
        </p:nvSpPr>
        <p:spPr>
          <a:xfrm>
            <a:off x="6675120" y="5166360"/>
            <a:ext cx="4937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1A233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Depersonalization-Derealization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675120" y="5486400"/>
            <a:ext cx="49377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4A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Patient knows the feelings of unreality are not literally true—no fixed delusional belief.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6492240" y="5852160"/>
            <a:ext cx="5120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6B7B8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neural disconnection mechanism (fusiform–limbic), pointed inward in Cotard's, outward in Capgras.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2026-05-06T06:21:31Z</dcterms:created>
  <dcterms:modified xsi:type="dcterms:W3CDTF">2026-05-06T06:21:31Z</dcterms:modified>
</cp:coreProperties>
</file>